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9235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everyone. Today we step inside the story of the world's longest unbroken continuous civilization. For over five thousand years, Indian culture has not merely survived; it has continuously assimilated, renewed, and enriched human thought. Let us begin our exploration with its foundational scale.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we examine world history, most bronze age civilizations survive only as museum relics. In India, however, ancient mantras composed three thousand years ago are chanted at sunrise today. With over 1.4 billion people actively living these traditions, Indian culture is a living ecosystem of human memory. Let us trace how this epic chronology unfolded across key epochs.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timeline illustrates how Indian thought developed over five thousand years. It began with the egalitarian urban engineering of the Indus Valley, progressed into the profound psychological inquiries of the Upanishads, flowered into classical science during the Gupta golden age, and culminated in the passionate, egalitarian poetry of the Bhakti movement. Next, let us examine the timeless philosophical pillars that tie this vast chronology together.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 the heart of Indian civilization lies a triadic philosophy that governs ethical life. Dharma is the universal balance of moral duty; Karma is the law of cause and effect; and Satya and Ahimsa represent the twin virtues of truth and active compassion. Overarching them all is the Upanishadic declaration Vasudhaiva Kutumbakam—the truth that the entire planet is a single interconnected household. Now let us see how these metaphysical truths took physical form in stone.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Indian sacred architecture is not mere engineering; it is cosmic geometry frozen in stone. Consider the Kailasa temple at Ellora, where artisans started at the top of a mountain and carved downward through solid volcanic rock to create a multi-story cathedral of stone. Whether in the towering Dravidian gopurams of Tamil Nadu or the sandstone Nagara spires of the north, every temple acts as a microcosm of the universe. Let us now look at the astonishing demographic and linguistic diversity that fills these spaces.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four numbers capture the extraordinary scale of Indian pluralism. India does not have a single national language; instead, its Constitution recognizes twenty-two major languages. Over forty-two UNESCO World Heritage sites dot its landscape, while the Kumbh Mela brings together more than two hundred million pilgrims in an unparalleled display of collective faith. Behind this immense diversity lies a deep philosophical commitment to harmony, as captured so memorably on our next slide.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Swami Vivekananda addressed the World Parliament of Religions in Chicago in 1893, he didn't just represent Hinduism; he articulated the civilizational soul of India. His message that tolerance is not merely passive endurance, but active acceptance of all spiritual traditions, remains India's greatest intellectual gift to world peace. Next, let us turn to the sublime physical expression of this spiritual impulse through classical performing arts.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India's classical dance forms are among the world's most sophisticated theatrical systems, codified two millennia ago in Bharata Muni's Natya Shastra. As this comparative matrix shows, each regional form translates the same universal emotional archetypes—the nine Rasas—through distinct physical idioms: from the sharp geometric lines of Bharatanatyam to the sculpted tribhanga poses of Odissi and the explosive theatrical makeup of Kathakali. Beyond high classical art, Indian life is synchronized by the vibrant cycle of festivals.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India, time is marked not by bureaucratic calendars, but by the cosmic rhythms of nature and harvest. Festivals like Diwali, Holi, and Durga Puja are not private ceremonies; they transform entire cities into vibrant public art galleries. Whether it is lighting a clay lamp or celebrating the winter harvest across twenty different regional names, Indian festivals serve as a social glue uniting diverse communities in celebration. Let us now examine how these ancient traditions resonate across the modern globe.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 we look at the contemporary world, Indian culture is exerting unprecedented global influence. Yoga is practiced in over one hundred and ninety countries as a universal discipline of mind and body. Ayurveda is being validated through modern scientific research. And the thirty-two-million-strong diaspora carries these ethos of pluralism, enterprise, and hospitality into every corner of the world. India proves that a nation can lead the technological future while keeping its ancient spiritual roots firmly intact.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Indian culture is not an antique frozen in time. It is a flowing river—what the ancients called Sanatana, that which is eternal yet constantly renewed. It taught the world that unity does not require uniformity, that truth has infinite facets, and that all humanity belongs to one single family.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836"/>
        </a:solidFill>
        <a:effectLst/>
      </p:bgPr>
    </p:bg>
    <p:spTree>
      <p:nvGrpSpPr>
        <p:cNvPr id="1" name=""/>
        <p:cNvGrpSpPr/>
        <p:nvPr/>
      </p:nvGrpSpPr>
      <p:grpSpPr>
        <a:xfrm>
          <a:off x="0" y="0"/>
          <a:ext cx="0" cy="0"/>
          <a:chOff x="0" y="0"/>
          <a:chExt cx="0" cy="0"/>
        </a:xfrm>
      </p:grpSpPr>
      <p:pic>
        <p:nvPicPr>
          <p:cNvPr id="2" name="Picture 1" descr="title.jpg"/>
          <p:cNvPicPr>
            <a:picLocks noChangeAspect="1"/>
          </p:cNvPicPr>
          <p:nvPr/>
        </p:nvPicPr>
        <p:blipFill>
          <a:blip r:embed="rId3"/>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1A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14400" y="1005840"/>
            <a:ext cx="10362895" cy="4846320"/>
          </a:xfrm>
          <a:prstGeom prst="roundRect">
            <a:avLst>
              <a:gd name="adj" fmla="val 3000"/>
            </a:avLst>
          </a:prstGeom>
          <a:solidFill>
            <a:srgbClr val="2E1D16"/>
          </a:solidFill>
          <a:ln w="19050">
            <a:solidFill>
              <a:srgbClr val="D49B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14400" y="1005840"/>
            <a:ext cx="10362895" cy="109728"/>
          </a:xfrm>
          <a:prstGeom prst="rect">
            <a:avLst/>
          </a:prstGeom>
          <a:solidFill>
            <a:srgbClr val="D49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463040" y="1508760"/>
            <a:ext cx="2194560" cy="329184"/>
          </a:xfrm>
          <a:prstGeom prst="roundRect">
            <a:avLst>
              <a:gd name="adj" fmla="val 20000"/>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63040" y="1545336"/>
            <a:ext cx="2194560" cy="329184"/>
          </a:xfrm>
          <a:prstGeom prst="rect">
            <a:avLst/>
          </a:prstGeom>
          <a:noFill/>
        </p:spPr>
        <p:txBody>
          <a:bodyPr wrap="square" lIns="0" tIns="0" rIns="0" bIns="0" anchor="t">
            <a:noAutofit/>
          </a:bodyPr>
          <a:lstStyle/>
          <a:p>
            <a:pPr algn="ctr">
              <a:lnSpc>
                <a:spcPct val="105000"/>
              </a:lnSpc>
              <a:spcAft>
                <a:spcPts val="0"/>
              </a:spcAft>
            </a:pPr>
            <a:r>
              <a:rPr sz="1000" b="1" i="0">
                <a:solidFill>
                  <a:srgbClr val="FFFFFF"/>
                </a:solidFill>
                <a:latin typeface="Arial"/>
              </a:rPr>
              <a:t>CULTURAL MASTERCLASS</a:t>
            </a:r>
          </a:p>
        </p:txBody>
      </p:sp>
      <p:sp>
        <p:nvSpPr>
          <p:cNvPr id="8" name="TextBox 7"/>
          <p:cNvSpPr txBox="1"/>
          <p:nvPr/>
        </p:nvSpPr>
        <p:spPr>
          <a:xfrm>
            <a:off x="1463040" y="2057400"/>
            <a:ext cx="9265615" cy="1143000"/>
          </a:xfrm>
          <a:prstGeom prst="rect">
            <a:avLst/>
          </a:prstGeom>
          <a:noFill/>
        </p:spPr>
        <p:txBody>
          <a:bodyPr wrap="square" lIns="0" tIns="0" rIns="0" bIns="0" anchor="t">
            <a:noAutofit/>
          </a:bodyPr>
          <a:lstStyle/>
          <a:p>
            <a:pPr algn="l">
              <a:lnSpc>
                <a:spcPct val="105000"/>
              </a:lnSpc>
              <a:spcAft>
                <a:spcPts val="0"/>
              </a:spcAft>
            </a:pPr>
            <a:r>
              <a:rPr sz="5200" b="1" i="0">
                <a:solidFill>
                  <a:srgbClr val="FFFFFF"/>
                </a:solidFill>
                <a:latin typeface="Georgia"/>
              </a:rPr>
              <a:t>The Living Civilization</a:t>
            </a:r>
          </a:p>
        </p:txBody>
      </p:sp>
      <p:sp>
        <p:nvSpPr>
          <p:cNvPr id="9" name="TextBox 8"/>
          <p:cNvSpPr txBox="1"/>
          <p:nvPr/>
        </p:nvSpPr>
        <p:spPr>
          <a:xfrm>
            <a:off x="1463040" y="3291840"/>
            <a:ext cx="9265615" cy="822960"/>
          </a:xfrm>
          <a:prstGeom prst="rect">
            <a:avLst/>
          </a:prstGeom>
          <a:noFill/>
        </p:spPr>
        <p:txBody>
          <a:bodyPr wrap="square" lIns="0" tIns="0" rIns="0" bIns="0" anchor="t">
            <a:noAutofit/>
          </a:bodyPr>
          <a:lstStyle/>
          <a:p>
            <a:pPr algn="l">
              <a:lnSpc>
                <a:spcPct val="115000"/>
              </a:lnSpc>
              <a:spcAft>
                <a:spcPts val="0"/>
              </a:spcAft>
            </a:pPr>
            <a:r>
              <a:rPr sz="2000" b="0" i="0">
                <a:solidFill>
                  <a:srgbClr val="F7DC8B"/>
                </a:solidFill>
                <a:latin typeface="Arial"/>
              </a:rPr>
              <a:t>Five Millennia of Indian Culture, Philosophy, and Global Resonance</a:t>
            </a:r>
          </a:p>
        </p:txBody>
      </p:sp>
      <p:sp>
        <p:nvSpPr>
          <p:cNvPr id="10" name="Rectangle 9"/>
          <p:cNvSpPr/>
          <p:nvPr/>
        </p:nvSpPr>
        <p:spPr>
          <a:xfrm>
            <a:off x="1463040" y="4343400"/>
            <a:ext cx="9265615" cy="13716"/>
          </a:xfrm>
          <a:prstGeom prst="rect">
            <a:avLst/>
          </a:prstGeom>
          <a:solidFill>
            <a:srgbClr val="D49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63040" y="4572000"/>
            <a:ext cx="9265615" cy="365760"/>
          </a:xfrm>
          <a:prstGeom prst="rect">
            <a:avLst/>
          </a:prstGeom>
          <a:noFill/>
        </p:spPr>
        <p:txBody>
          <a:bodyPr wrap="square" lIns="0" tIns="0" rIns="0" bIns="0" anchor="t">
            <a:noAutofit/>
          </a:bodyPr>
          <a:lstStyle/>
          <a:p>
            <a:pPr algn="l">
              <a:lnSpc>
                <a:spcPct val="105000"/>
              </a:lnSpc>
              <a:spcAft>
                <a:spcPts val="0"/>
              </a:spcAft>
            </a:pPr>
            <a:r>
              <a:rPr sz="1000" b="1" i="0">
                <a:solidFill>
                  <a:srgbClr val="F7DC8B"/>
                </a:solidFill>
                <a:latin typeface="Arial"/>
              </a:rPr>
              <a:t>AUTHOR &amp; CURATION:  </a:t>
            </a:r>
            <a:r>
              <a:rPr sz="1000" b="0" i="0">
                <a:solidFill>
                  <a:srgbClr val="F2EBE0"/>
                </a:solidFill>
                <a:latin typeface="Arial"/>
              </a:rPr>
              <a:t>PPTmaker Cultural Series      </a:t>
            </a:r>
            <a:r>
              <a:rPr sz="1000" b="1" i="0">
                <a:solidFill>
                  <a:srgbClr val="F7DC8B"/>
                </a:solidFill>
                <a:latin typeface="Arial"/>
              </a:rPr>
              <a:t>ARCHETYPE:  </a:t>
            </a:r>
            <a:r>
              <a:rPr sz="1000" b="0" i="0">
                <a:solidFill>
                  <a:srgbClr val="F2EBE0"/>
                </a:solidFill>
                <a:latin typeface="Arial"/>
              </a:rPr>
              <a:t>Heroic Legacy Arc      </a:t>
            </a:r>
            <a:r>
              <a:rPr sz="1000" b="1" i="0">
                <a:solidFill>
                  <a:srgbClr val="F7DC8B"/>
                </a:solidFill>
                <a:latin typeface="Arial"/>
              </a:rPr>
              <a:t>TIMELINE:  </a:t>
            </a:r>
            <a:r>
              <a:rPr sz="1000" b="0" i="0">
                <a:solidFill>
                  <a:srgbClr val="F2EBE0"/>
                </a:solidFill>
                <a:latin typeface="Arial"/>
              </a:rPr>
              <a:t>5,000 BCE — Present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6EE"/>
        </a:solidFill>
        <a:effectLst/>
      </p:bgPr>
    </p:bg>
    <p:spTree>
      <p:nvGrpSpPr>
        <p:cNvPr id="1" name=""/>
        <p:cNvGrpSpPr/>
        <p:nvPr/>
      </p:nvGrpSpPr>
      <p:grpSpPr>
        <a:xfrm>
          <a:off x="0" y="0"/>
          <a:ext cx="0" cy="0"/>
          <a:chOff x="0" y="0"/>
          <a:chExt cx="0" cy="0"/>
        </a:xfrm>
      </p:grpSpPr>
      <p:sp>
        <p:nvSpPr>
          <p:cNvPr id="2" name="TextBox 1"/>
          <p:cNvSpPr txBox="1"/>
          <p:nvPr/>
        </p:nvSpPr>
        <p:spPr>
          <a:xfrm>
            <a:off x="731520" y="438912"/>
            <a:ext cx="10728655" cy="237744"/>
          </a:xfrm>
          <a:prstGeom prst="rect">
            <a:avLst/>
          </a:prstGeom>
          <a:noFill/>
        </p:spPr>
        <p:txBody>
          <a:bodyPr wrap="square" lIns="0" tIns="0" rIns="0" bIns="0" anchor="t">
            <a:noAutofit/>
          </a:bodyPr>
          <a:lstStyle/>
          <a:p>
            <a:pPr algn="l">
              <a:lnSpc>
                <a:spcPct val="105000"/>
              </a:lnSpc>
              <a:spcAft>
                <a:spcPts val="0"/>
              </a:spcAft>
            </a:pPr>
            <a:r>
              <a:rPr sz="1050" b="1" i="0">
                <a:solidFill>
                  <a:srgbClr val="D49B24"/>
                </a:solidFill>
                <a:latin typeface="Arial"/>
              </a:rPr>
              <a:t>SCALE &amp; ANTIQUITY</a:t>
            </a:r>
          </a:p>
        </p:txBody>
      </p:sp>
      <p:sp>
        <p:nvSpPr>
          <p:cNvPr id="3" name="TextBox 2"/>
          <p:cNvSpPr txBox="1"/>
          <p:nvPr/>
        </p:nvSpPr>
        <p:spPr>
          <a:xfrm>
            <a:off x="731520" y="676656"/>
            <a:ext cx="10728655" cy="566928"/>
          </a:xfrm>
          <a:prstGeom prst="rect">
            <a:avLst/>
          </a:prstGeom>
          <a:noFill/>
        </p:spPr>
        <p:txBody>
          <a:bodyPr wrap="square" lIns="0" tIns="0" rIns="0" bIns="0" anchor="t">
            <a:noAutofit/>
          </a:bodyPr>
          <a:lstStyle/>
          <a:p>
            <a:pPr algn="l">
              <a:lnSpc>
                <a:spcPct val="105000"/>
              </a:lnSpc>
              <a:spcAft>
                <a:spcPts val="0"/>
              </a:spcAft>
            </a:pPr>
            <a:r>
              <a:rPr sz="2600" b="1" i="0">
                <a:solidFill>
                  <a:srgbClr val="1A2836"/>
                </a:solidFill>
                <a:latin typeface="Georgia"/>
              </a:rPr>
              <a:t>A Civilization Measured in Millennia and Millions</a:t>
            </a:r>
          </a:p>
        </p:txBody>
      </p:sp>
      <p:sp>
        <p:nvSpPr>
          <p:cNvPr id="4" name="Rectangle 3"/>
          <p:cNvSpPr/>
          <p:nvPr/>
        </p:nvSpPr>
        <p:spPr>
          <a:xfrm>
            <a:off x="731520" y="1316736"/>
            <a:ext cx="10728655" cy="12801"/>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554480"/>
            <a:ext cx="4389120" cy="2240280"/>
          </a:xfrm>
          <a:prstGeom prst="roundRect">
            <a:avLst>
              <a:gd name="adj" fmla="val 4000"/>
            </a:avLst>
          </a:prstGeom>
          <a:solidFill>
            <a:srgbClr val="1A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554480"/>
            <a:ext cx="109728" cy="2240280"/>
          </a:xfrm>
          <a:prstGeom prst="rect">
            <a:avLst/>
          </a:prstGeom>
          <a:solidFill>
            <a:srgbClr val="D49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1719072"/>
            <a:ext cx="3840480" cy="822960"/>
          </a:xfrm>
          <a:prstGeom prst="rect">
            <a:avLst/>
          </a:prstGeom>
          <a:noFill/>
        </p:spPr>
        <p:txBody>
          <a:bodyPr wrap="square" lIns="0" tIns="0" rIns="0" bIns="0" anchor="t">
            <a:noAutofit/>
          </a:bodyPr>
          <a:lstStyle/>
          <a:p>
            <a:pPr algn="l">
              <a:lnSpc>
                <a:spcPct val="105000"/>
              </a:lnSpc>
              <a:spcAft>
                <a:spcPts val="0"/>
              </a:spcAft>
            </a:pPr>
            <a:r>
              <a:rPr sz="5400" b="1" i="0">
                <a:solidFill>
                  <a:srgbClr val="F7DC8B"/>
                </a:solidFill>
                <a:latin typeface="Georgia"/>
              </a:rPr>
              <a:t>5,000+</a:t>
            </a:r>
          </a:p>
        </p:txBody>
      </p:sp>
      <p:sp>
        <p:nvSpPr>
          <p:cNvPr id="8" name="TextBox 7"/>
          <p:cNvSpPr txBox="1"/>
          <p:nvPr/>
        </p:nvSpPr>
        <p:spPr>
          <a:xfrm>
            <a:off x="1051560" y="2560320"/>
            <a:ext cx="3840480" cy="384048"/>
          </a:xfrm>
          <a:prstGeom prst="rect">
            <a:avLst/>
          </a:prstGeom>
          <a:noFill/>
        </p:spPr>
        <p:txBody>
          <a:bodyPr wrap="square" lIns="0" tIns="0" rIns="0" bIns="0" anchor="t">
            <a:noAutofit/>
          </a:bodyPr>
          <a:lstStyle/>
          <a:p>
            <a:pPr algn="l">
              <a:lnSpc>
                <a:spcPct val="105000"/>
              </a:lnSpc>
              <a:spcAft>
                <a:spcPts val="0"/>
              </a:spcAft>
            </a:pPr>
            <a:r>
              <a:rPr sz="1450" b="1" i="0">
                <a:solidFill>
                  <a:srgbClr val="FFFFFF"/>
                </a:solidFill>
                <a:latin typeface="Arial"/>
              </a:rPr>
              <a:t>Years of Living Continuity</a:t>
            </a:r>
          </a:p>
        </p:txBody>
      </p:sp>
      <p:sp>
        <p:nvSpPr>
          <p:cNvPr id="9" name="TextBox 8"/>
          <p:cNvSpPr txBox="1"/>
          <p:nvPr/>
        </p:nvSpPr>
        <p:spPr>
          <a:xfrm>
            <a:off x="1051560" y="2971800"/>
            <a:ext cx="3840480" cy="685800"/>
          </a:xfrm>
          <a:prstGeom prst="rect">
            <a:avLst/>
          </a:prstGeom>
          <a:noFill/>
        </p:spPr>
        <p:txBody>
          <a:bodyPr wrap="square" lIns="0" tIns="0" rIns="0" bIns="0" anchor="t">
            <a:noAutofit/>
          </a:bodyPr>
          <a:lstStyle/>
          <a:p>
            <a:pPr algn="l">
              <a:lnSpc>
                <a:spcPct val="110000"/>
              </a:lnSpc>
              <a:spcAft>
                <a:spcPts val="0"/>
              </a:spcAft>
            </a:pPr>
            <a:r>
              <a:rPr sz="1050" b="0" i="0">
                <a:solidFill>
                  <a:srgbClr val="F2EBE0"/>
                </a:solidFill>
                <a:latin typeface="Arial"/>
              </a:rPr>
              <a:t>Originating in Harappan urbanism and continuing unbroken into the 21st century</a:t>
            </a:r>
          </a:p>
        </p:txBody>
      </p:sp>
      <p:sp>
        <p:nvSpPr>
          <p:cNvPr id="10" name="Rounded Rectangle 9"/>
          <p:cNvSpPr/>
          <p:nvPr/>
        </p:nvSpPr>
        <p:spPr>
          <a:xfrm>
            <a:off x="731520" y="3977639"/>
            <a:ext cx="4389120" cy="2240280"/>
          </a:xfrm>
          <a:prstGeom prst="roundRect">
            <a:avLst>
              <a:gd name="adj" fmla="val 4000"/>
            </a:avLst>
          </a:prstGeom>
          <a:solidFill>
            <a:srgbClr val="2E1D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3977639"/>
            <a:ext cx="109728" cy="2240280"/>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51560" y="4142231"/>
            <a:ext cx="3840480" cy="822960"/>
          </a:xfrm>
          <a:prstGeom prst="rect">
            <a:avLst/>
          </a:prstGeom>
          <a:noFill/>
        </p:spPr>
        <p:txBody>
          <a:bodyPr wrap="square" lIns="0" tIns="0" rIns="0" bIns="0" anchor="t">
            <a:noAutofit/>
          </a:bodyPr>
          <a:lstStyle/>
          <a:p>
            <a:pPr algn="l">
              <a:lnSpc>
                <a:spcPct val="105000"/>
              </a:lnSpc>
              <a:spcAft>
                <a:spcPts val="0"/>
              </a:spcAft>
            </a:pPr>
            <a:r>
              <a:rPr sz="5400" b="1" i="0">
                <a:solidFill>
                  <a:srgbClr val="F7DC8B"/>
                </a:solidFill>
                <a:latin typeface="Georgia"/>
              </a:rPr>
              <a:t>1.4B+</a:t>
            </a:r>
          </a:p>
        </p:txBody>
      </p:sp>
      <p:sp>
        <p:nvSpPr>
          <p:cNvPr id="13" name="TextBox 12"/>
          <p:cNvSpPr txBox="1"/>
          <p:nvPr/>
        </p:nvSpPr>
        <p:spPr>
          <a:xfrm>
            <a:off x="1051560" y="4983479"/>
            <a:ext cx="3840480" cy="384048"/>
          </a:xfrm>
          <a:prstGeom prst="rect">
            <a:avLst/>
          </a:prstGeom>
          <a:noFill/>
        </p:spPr>
        <p:txBody>
          <a:bodyPr wrap="square" lIns="0" tIns="0" rIns="0" bIns="0" anchor="t">
            <a:noAutofit/>
          </a:bodyPr>
          <a:lstStyle/>
          <a:p>
            <a:pPr algn="l">
              <a:lnSpc>
                <a:spcPct val="105000"/>
              </a:lnSpc>
              <a:spcAft>
                <a:spcPts val="0"/>
              </a:spcAft>
            </a:pPr>
            <a:r>
              <a:rPr sz="1450" b="1" i="0">
                <a:solidFill>
                  <a:srgbClr val="FFFFFF"/>
                </a:solidFill>
                <a:latin typeface="Arial"/>
              </a:rPr>
              <a:t>Living Heritage Custodians</a:t>
            </a:r>
          </a:p>
        </p:txBody>
      </p:sp>
      <p:sp>
        <p:nvSpPr>
          <p:cNvPr id="14" name="TextBox 13"/>
          <p:cNvSpPr txBox="1"/>
          <p:nvPr/>
        </p:nvSpPr>
        <p:spPr>
          <a:xfrm>
            <a:off x="1051560" y="5394959"/>
            <a:ext cx="3840480" cy="685800"/>
          </a:xfrm>
          <a:prstGeom prst="rect">
            <a:avLst/>
          </a:prstGeom>
          <a:noFill/>
        </p:spPr>
        <p:txBody>
          <a:bodyPr wrap="square" lIns="0" tIns="0" rIns="0" bIns="0" anchor="t">
            <a:noAutofit/>
          </a:bodyPr>
          <a:lstStyle/>
          <a:p>
            <a:pPr algn="l">
              <a:lnSpc>
                <a:spcPct val="110000"/>
              </a:lnSpc>
              <a:spcAft>
                <a:spcPts val="0"/>
              </a:spcAft>
            </a:pPr>
            <a:r>
              <a:rPr sz="1050" b="0" i="0">
                <a:solidFill>
                  <a:srgbClr val="F2EBE0"/>
                </a:solidFill>
                <a:latin typeface="Arial"/>
              </a:rPr>
              <a:t>The world's most populous cultural democracy carrying forward ancient lineages</a:t>
            </a:r>
          </a:p>
        </p:txBody>
      </p:sp>
      <p:sp>
        <p:nvSpPr>
          <p:cNvPr id="15" name="Rounded Rectangle 14"/>
          <p:cNvSpPr/>
          <p:nvPr/>
        </p:nvSpPr>
        <p:spPr>
          <a:xfrm>
            <a:off x="5425135" y="1554480"/>
            <a:ext cx="6035040" cy="4663440"/>
          </a:xfrm>
          <a:prstGeom prst="roundRect">
            <a:avLst>
              <a:gd name="adj" fmla="val 3000"/>
            </a:avLst>
          </a:prstGeom>
          <a:solidFill>
            <a:srgbClr val="F2EADC"/>
          </a:solidFill>
          <a:ln w="12700">
            <a:solidFill>
              <a:srgbClr val="E0D7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790895" y="1783080"/>
            <a:ext cx="5303520" cy="320040"/>
          </a:xfrm>
          <a:prstGeom prst="rect">
            <a:avLst/>
          </a:prstGeom>
          <a:noFill/>
        </p:spPr>
        <p:txBody>
          <a:bodyPr wrap="square" lIns="0" tIns="0" rIns="0" bIns="0" anchor="t">
            <a:noAutofit/>
          </a:bodyPr>
          <a:lstStyle/>
          <a:p>
            <a:pPr algn="l">
              <a:lnSpc>
                <a:spcPct val="105000"/>
              </a:lnSpc>
              <a:spcAft>
                <a:spcPts val="0"/>
              </a:spcAft>
            </a:pPr>
            <a:r>
              <a:rPr sz="1100" b="1" i="0">
                <a:solidFill>
                  <a:srgbClr val="E65100"/>
                </a:solidFill>
                <a:latin typeface="Arial"/>
              </a:rPr>
              <a:t>CIVILIZATIONAL CONTINUITY</a:t>
            </a:r>
          </a:p>
        </p:txBody>
      </p:sp>
      <p:sp>
        <p:nvSpPr>
          <p:cNvPr id="17" name="TextBox 16"/>
          <p:cNvSpPr txBox="1"/>
          <p:nvPr/>
        </p:nvSpPr>
        <p:spPr>
          <a:xfrm>
            <a:off x="5790895" y="2057400"/>
            <a:ext cx="5303520" cy="502920"/>
          </a:xfrm>
          <a:prstGeom prst="rect">
            <a:avLst/>
          </a:prstGeom>
          <a:noFill/>
        </p:spPr>
        <p:txBody>
          <a:bodyPr wrap="square" lIns="0" tIns="0" rIns="0" bIns="0" anchor="t">
            <a:noAutofit/>
          </a:bodyPr>
          <a:lstStyle/>
          <a:p>
            <a:pPr algn="l">
              <a:lnSpc>
                <a:spcPct val="105000"/>
              </a:lnSpc>
              <a:spcAft>
                <a:spcPts val="0"/>
              </a:spcAft>
            </a:pPr>
            <a:r>
              <a:rPr sz="1800" b="1" i="0">
                <a:solidFill>
                  <a:srgbClr val="1A2836"/>
                </a:solidFill>
                <a:latin typeface="Georgia"/>
              </a:rPr>
              <a:t>A Living Heritage Unmatched in Human History</a:t>
            </a:r>
          </a:p>
        </p:txBody>
      </p:sp>
      <p:sp>
        <p:nvSpPr>
          <p:cNvPr id="18" name="Rectangle 17"/>
          <p:cNvSpPr/>
          <p:nvPr/>
        </p:nvSpPr>
        <p:spPr>
          <a:xfrm>
            <a:off x="5790895" y="2606040"/>
            <a:ext cx="5303520" cy="10972"/>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790895" y="2788920"/>
            <a:ext cx="5303520" cy="3200400"/>
          </a:xfrm>
          <a:prstGeom prst="rect">
            <a:avLst/>
          </a:prstGeom>
          <a:noFill/>
        </p:spPr>
        <p:txBody>
          <a:bodyPr wrap="square" lIns="0" tIns="0" rIns="0" bIns="0" anchor="t">
            <a:noAutofit/>
          </a:bodyPr>
          <a:lstStyle/>
          <a:p>
            <a:pPr algn="l">
              <a:lnSpc>
                <a:spcPct val="112000"/>
              </a:lnSpc>
              <a:spcAft>
                <a:spcPts val="1200"/>
              </a:spcAft>
            </a:pPr>
            <a:r>
              <a:rPr sz="1450" b="1">
                <a:solidFill>
                  <a:srgbClr val="D49B24"/>
                </a:solidFill>
                <a:latin typeface="Arial"/>
              </a:rPr>
              <a:t>▪  </a:t>
            </a:r>
            <a:r>
              <a:rPr sz="1450" b="1">
                <a:solidFill>
                  <a:srgbClr val="1E1E1C"/>
                </a:solidFill>
                <a:latin typeface="Arial"/>
              </a:rPr>
              <a:t>Millennial Depth: </a:t>
            </a:r>
            <a:r>
              <a:rPr sz="1450" b="0">
                <a:solidFill>
                  <a:srgbClr val="1E1E1C"/>
                </a:solidFill>
                <a:latin typeface="Arial"/>
              </a:rPr>
              <a:t>Archaeological and literary records confirm continuous philosophical and ritual traditions from 2500 BCE to today.</a:t>
            </a:r>
          </a:p>
          <a:p>
            <a:pPr algn="l">
              <a:lnSpc>
                <a:spcPct val="112000"/>
              </a:lnSpc>
              <a:spcAft>
                <a:spcPts val="1200"/>
              </a:spcAft>
            </a:pPr>
            <a:r>
              <a:rPr sz="1450" b="1">
                <a:solidFill>
                  <a:srgbClr val="D49B24"/>
                </a:solidFill>
                <a:latin typeface="Arial"/>
              </a:rPr>
              <a:t>▪  </a:t>
            </a:r>
            <a:r>
              <a:rPr sz="1450" b="1">
                <a:solidFill>
                  <a:srgbClr val="1E1E1C"/>
                </a:solidFill>
                <a:latin typeface="Arial"/>
              </a:rPr>
              <a:t>Living Synthesis: </a:t>
            </a:r>
            <a:r>
              <a:rPr sz="1450" b="0">
                <a:solidFill>
                  <a:srgbClr val="1E1E1C"/>
                </a:solidFill>
                <a:latin typeface="Arial"/>
              </a:rPr>
              <a:t>Unlike ancient Greece or Egypt, India's classical scripts, sacred geometries, and mantras remain daily lived realities.</a:t>
            </a:r>
          </a:p>
          <a:p>
            <a:pPr algn="l">
              <a:lnSpc>
                <a:spcPct val="112000"/>
              </a:lnSpc>
              <a:spcAft>
                <a:spcPts val="1200"/>
              </a:spcAft>
            </a:pPr>
            <a:r>
              <a:rPr sz="1450" b="1">
                <a:solidFill>
                  <a:srgbClr val="D49B24"/>
                </a:solidFill>
                <a:latin typeface="Arial"/>
              </a:rPr>
              <a:t>▪  </a:t>
            </a:r>
            <a:r>
              <a:rPr sz="1450" b="1">
                <a:solidFill>
                  <a:srgbClr val="1E1E1C"/>
                </a:solidFill>
                <a:latin typeface="Arial"/>
              </a:rPr>
              <a:t>Composite Identity: </a:t>
            </a:r>
            <a:r>
              <a:rPr sz="1450" b="0">
                <a:solidFill>
                  <a:srgbClr val="1E1E1C"/>
                </a:solidFill>
                <a:latin typeface="Arial"/>
              </a:rPr>
              <a:t>A civilization forged through centuries of reciprocal assimilation across hundreds of distinct regional communities.</a:t>
            </a:r>
          </a:p>
        </p:txBody>
      </p:sp>
      <p:sp>
        <p:nvSpPr>
          <p:cNvPr id="20" name="Rectangle 19"/>
          <p:cNvSpPr/>
          <p:nvPr/>
        </p:nvSpPr>
        <p:spPr>
          <a:xfrm>
            <a:off x="731520" y="6400800"/>
            <a:ext cx="10728655" cy="10972"/>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6473952"/>
            <a:ext cx="7772400" cy="256032"/>
          </a:xfrm>
          <a:prstGeom prst="rect">
            <a:avLst/>
          </a:prstGeom>
          <a:noFill/>
        </p:spPr>
        <p:txBody>
          <a:bodyPr wrap="square" lIns="0" tIns="0" rIns="0" bIns="0" anchor="t">
            <a:noAutofit/>
          </a:bodyPr>
          <a:lstStyle/>
          <a:p>
            <a:pPr algn="l">
              <a:lnSpc>
                <a:spcPct val="105000"/>
              </a:lnSpc>
              <a:spcAft>
                <a:spcPts val="0"/>
              </a:spcAft>
            </a:pPr>
            <a:r>
              <a:rPr sz="850" b="0" i="0">
                <a:solidFill>
                  <a:srgbClr val="67645E"/>
                </a:solidFill>
                <a:latin typeface="Arial"/>
              </a:rPr>
              <a:t>The Living Civilization: Five Millennia of Indian Culture, Philosophy, and Heritage</a:t>
            </a:r>
          </a:p>
        </p:txBody>
      </p:sp>
      <p:sp>
        <p:nvSpPr>
          <p:cNvPr id="22" name="TextBox 21"/>
          <p:cNvSpPr txBox="1"/>
          <p:nvPr/>
        </p:nvSpPr>
        <p:spPr>
          <a:xfrm>
            <a:off x="9631375" y="6473952"/>
            <a:ext cx="1828800" cy="256032"/>
          </a:xfrm>
          <a:prstGeom prst="rect">
            <a:avLst/>
          </a:prstGeom>
          <a:noFill/>
        </p:spPr>
        <p:txBody>
          <a:bodyPr wrap="square" lIns="0" tIns="0" rIns="0" bIns="0" anchor="t">
            <a:noAutofit/>
          </a:bodyPr>
          <a:lstStyle/>
          <a:p>
            <a:pPr algn="r">
              <a:lnSpc>
                <a:spcPct val="105000"/>
              </a:lnSpc>
              <a:spcAft>
                <a:spcPts val="0"/>
              </a:spcAft>
            </a:pPr>
            <a:r>
              <a:rPr sz="850" b="1" i="0">
                <a:solidFill>
                  <a:srgbClr val="67645E"/>
                </a:solidFill>
                <a:latin typeface="Arial"/>
              </a:rPr>
              <a:t>02 / 11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6EE"/>
        </a:solidFill>
        <a:effectLst/>
      </p:bgPr>
    </p:bg>
    <p:spTree>
      <p:nvGrpSpPr>
        <p:cNvPr id="1" name=""/>
        <p:cNvGrpSpPr/>
        <p:nvPr/>
      </p:nvGrpSpPr>
      <p:grpSpPr>
        <a:xfrm>
          <a:off x="0" y="0"/>
          <a:ext cx="0" cy="0"/>
          <a:chOff x="0" y="0"/>
          <a:chExt cx="0" cy="0"/>
        </a:xfrm>
      </p:grpSpPr>
      <p:sp>
        <p:nvSpPr>
          <p:cNvPr id="2" name="TextBox 1"/>
          <p:cNvSpPr txBox="1"/>
          <p:nvPr/>
        </p:nvSpPr>
        <p:spPr>
          <a:xfrm>
            <a:off x="731520" y="438912"/>
            <a:ext cx="10728655" cy="237744"/>
          </a:xfrm>
          <a:prstGeom prst="rect">
            <a:avLst/>
          </a:prstGeom>
          <a:noFill/>
        </p:spPr>
        <p:txBody>
          <a:bodyPr wrap="square" lIns="0" tIns="0" rIns="0" bIns="0" anchor="t">
            <a:noAutofit/>
          </a:bodyPr>
          <a:lstStyle/>
          <a:p>
            <a:pPr algn="l">
              <a:lnSpc>
                <a:spcPct val="105000"/>
              </a:lnSpc>
              <a:spcAft>
                <a:spcPts val="0"/>
              </a:spcAft>
            </a:pPr>
            <a:r>
              <a:rPr sz="1050" b="1" i="0">
                <a:solidFill>
                  <a:srgbClr val="D49B24"/>
                </a:solidFill>
                <a:latin typeface="Arial"/>
              </a:rPr>
              <a:t>CIVILIZATIONAL EPOCHS</a:t>
            </a:r>
          </a:p>
        </p:txBody>
      </p:sp>
      <p:sp>
        <p:nvSpPr>
          <p:cNvPr id="3" name="TextBox 2"/>
          <p:cNvSpPr txBox="1"/>
          <p:nvPr/>
        </p:nvSpPr>
        <p:spPr>
          <a:xfrm>
            <a:off x="731520" y="676656"/>
            <a:ext cx="10728655" cy="566928"/>
          </a:xfrm>
          <a:prstGeom prst="rect">
            <a:avLst/>
          </a:prstGeom>
          <a:noFill/>
        </p:spPr>
        <p:txBody>
          <a:bodyPr wrap="square" lIns="0" tIns="0" rIns="0" bIns="0" anchor="t">
            <a:noAutofit/>
          </a:bodyPr>
          <a:lstStyle/>
          <a:p>
            <a:pPr algn="l">
              <a:lnSpc>
                <a:spcPct val="105000"/>
              </a:lnSpc>
              <a:spcAft>
                <a:spcPts val="0"/>
              </a:spcAft>
            </a:pPr>
            <a:r>
              <a:rPr sz="2600" b="1" i="0">
                <a:solidFill>
                  <a:srgbClr val="1A2836"/>
                </a:solidFill>
                <a:latin typeface="Georgia"/>
              </a:rPr>
              <a:t>From Harappan Urbanism to Devotional Renaissance</a:t>
            </a:r>
          </a:p>
        </p:txBody>
      </p:sp>
      <p:sp>
        <p:nvSpPr>
          <p:cNvPr id="4" name="Rectangle 3"/>
          <p:cNvSpPr/>
          <p:nvPr/>
        </p:nvSpPr>
        <p:spPr>
          <a:xfrm>
            <a:off x="731520" y="1316736"/>
            <a:ext cx="10728655" cy="12801"/>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2011680"/>
            <a:ext cx="10728655" cy="73152"/>
          </a:xfrm>
          <a:prstGeom prst="rect">
            <a:avLst/>
          </a:prstGeom>
          <a:solidFill>
            <a:srgbClr val="D49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554480"/>
            <a:ext cx="2514600" cy="3337560"/>
          </a:xfrm>
          <a:prstGeom prst="roundRect">
            <a:avLst>
              <a:gd name="adj" fmla="val 4000"/>
            </a:avLst>
          </a:prstGeom>
          <a:solidFill>
            <a:srgbClr val="FFFFFF"/>
          </a:solidFill>
          <a:ln w="12700">
            <a:solidFill>
              <a:srgbClr val="E0D7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1554480"/>
            <a:ext cx="2514600" cy="438912"/>
          </a:xfrm>
          <a:prstGeom prst="roundRect">
            <a:avLst>
              <a:gd name="adj" fmla="val 10000"/>
            </a:avLst>
          </a:prstGeom>
          <a:solidFill>
            <a:srgbClr val="1A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645920"/>
            <a:ext cx="2331720" cy="274320"/>
          </a:xfrm>
          <a:prstGeom prst="rect">
            <a:avLst/>
          </a:prstGeom>
          <a:noFill/>
        </p:spPr>
        <p:txBody>
          <a:bodyPr wrap="square" lIns="0" tIns="0" rIns="0" bIns="0" anchor="t">
            <a:noAutofit/>
          </a:bodyPr>
          <a:lstStyle/>
          <a:p>
            <a:pPr algn="ctr">
              <a:lnSpc>
                <a:spcPct val="105000"/>
              </a:lnSpc>
              <a:spcAft>
                <a:spcPts val="0"/>
              </a:spcAft>
            </a:pPr>
            <a:r>
              <a:rPr sz="1100" b="1" i="0">
                <a:solidFill>
                  <a:srgbClr val="F7DC8B"/>
                </a:solidFill>
                <a:latin typeface="Arial"/>
              </a:rPr>
              <a:t>2500–1700 BCE</a:t>
            </a:r>
          </a:p>
        </p:txBody>
      </p:sp>
      <p:sp>
        <p:nvSpPr>
          <p:cNvPr id="9" name="Oval 8"/>
          <p:cNvSpPr/>
          <p:nvPr/>
        </p:nvSpPr>
        <p:spPr>
          <a:xfrm>
            <a:off x="1824228" y="2121408"/>
            <a:ext cx="329184" cy="329184"/>
          </a:xfrm>
          <a:prstGeom prst="ellipse">
            <a:avLst/>
          </a:prstGeom>
          <a:solidFill>
            <a:srgbClr val="D49B2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824228" y="2157984"/>
            <a:ext cx="329184" cy="329184"/>
          </a:xfrm>
          <a:prstGeom prst="rect">
            <a:avLst/>
          </a:prstGeom>
          <a:noFill/>
        </p:spPr>
        <p:txBody>
          <a:bodyPr wrap="square" lIns="0" tIns="0" rIns="0" bIns="0" anchor="t">
            <a:noAutofit/>
          </a:bodyPr>
          <a:lstStyle/>
          <a:p>
            <a:pPr algn="ctr">
              <a:lnSpc>
                <a:spcPct val="105000"/>
              </a:lnSpc>
              <a:spcAft>
                <a:spcPts val="0"/>
              </a:spcAft>
            </a:pPr>
            <a:r>
              <a:rPr sz="1100" b="1" i="0">
                <a:solidFill>
                  <a:srgbClr val="1A2836"/>
                </a:solidFill>
                <a:latin typeface="Arial"/>
              </a:rPr>
              <a:t>1</a:t>
            </a:r>
          </a:p>
        </p:txBody>
      </p:sp>
      <p:sp>
        <p:nvSpPr>
          <p:cNvPr id="11" name="TextBox 10"/>
          <p:cNvSpPr txBox="1"/>
          <p:nvPr/>
        </p:nvSpPr>
        <p:spPr>
          <a:xfrm>
            <a:off x="877824" y="2578608"/>
            <a:ext cx="2221992" cy="502920"/>
          </a:xfrm>
          <a:prstGeom prst="rect">
            <a:avLst/>
          </a:prstGeom>
          <a:noFill/>
        </p:spPr>
        <p:txBody>
          <a:bodyPr wrap="square" lIns="0" tIns="0" rIns="0" bIns="0" anchor="t">
            <a:noAutofit/>
          </a:bodyPr>
          <a:lstStyle/>
          <a:p>
            <a:pPr algn="ctr">
              <a:lnSpc>
                <a:spcPct val="105000"/>
              </a:lnSpc>
              <a:spcAft>
                <a:spcPts val="0"/>
              </a:spcAft>
            </a:pPr>
            <a:r>
              <a:rPr sz="1400" b="1" i="0">
                <a:solidFill>
                  <a:srgbClr val="1A2836"/>
                </a:solidFill>
                <a:latin typeface="Georgia"/>
              </a:rPr>
              <a:t>Harappan Urbanism</a:t>
            </a:r>
          </a:p>
        </p:txBody>
      </p:sp>
      <p:sp>
        <p:nvSpPr>
          <p:cNvPr id="12" name="Rectangle 11"/>
          <p:cNvSpPr/>
          <p:nvPr/>
        </p:nvSpPr>
        <p:spPr>
          <a:xfrm>
            <a:off x="1005840" y="3154680"/>
            <a:ext cx="1965960" cy="10972"/>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77824" y="3273552"/>
            <a:ext cx="2221992" cy="1508760"/>
          </a:xfrm>
          <a:prstGeom prst="rect">
            <a:avLst/>
          </a:prstGeom>
          <a:noFill/>
        </p:spPr>
        <p:txBody>
          <a:bodyPr wrap="square" lIns="0" tIns="0" rIns="0" bIns="0" anchor="t">
            <a:noAutofit/>
          </a:bodyPr>
          <a:lstStyle/>
          <a:p>
            <a:pPr algn="ctr">
              <a:lnSpc>
                <a:spcPct val="112000"/>
              </a:lnSpc>
              <a:spcAft>
                <a:spcPts val="0"/>
              </a:spcAft>
            </a:pPr>
            <a:r>
              <a:rPr sz="1100" b="0" i="0">
                <a:solidFill>
                  <a:srgbClr val="1E1E1C"/>
                </a:solidFill>
                <a:latin typeface="Arial"/>
              </a:rPr>
              <a:t>Planned brick grid cities, dockyards, drainage systems, and seals across the Indus basin.</a:t>
            </a:r>
          </a:p>
        </p:txBody>
      </p:sp>
      <p:sp>
        <p:nvSpPr>
          <p:cNvPr id="14" name="Rounded Rectangle 13"/>
          <p:cNvSpPr/>
          <p:nvPr/>
        </p:nvSpPr>
        <p:spPr>
          <a:xfrm>
            <a:off x="3469233" y="1554480"/>
            <a:ext cx="2514600" cy="3337560"/>
          </a:xfrm>
          <a:prstGeom prst="roundRect">
            <a:avLst>
              <a:gd name="adj" fmla="val 4000"/>
            </a:avLst>
          </a:prstGeom>
          <a:solidFill>
            <a:srgbClr val="FFFFFF"/>
          </a:solidFill>
          <a:ln w="12700">
            <a:solidFill>
              <a:srgbClr val="E0D7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469233" y="1554480"/>
            <a:ext cx="2514600" cy="438912"/>
          </a:xfrm>
          <a:prstGeom prst="roundRect">
            <a:avLst>
              <a:gd name="adj" fmla="val 10000"/>
            </a:avLst>
          </a:prstGeom>
          <a:solidFill>
            <a:srgbClr val="1A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60673" y="1645920"/>
            <a:ext cx="2331720" cy="274320"/>
          </a:xfrm>
          <a:prstGeom prst="rect">
            <a:avLst/>
          </a:prstGeom>
          <a:noFill/>
        </p:spPr>
        <p:txBody>
          <a:bodyPr wrap="square" lIns="0" tIns="0" rIns="0" bIns="0" anchor="t">
            <a:noAutofit/>
          </a:bodyPr>
          <a:lstStyle/>
          <a:p>
            <a:pPr algn="ctr">
              <a:lnSpc>
                <a:spcPct val="105000"/>
              </a:lnSpc>
              <a:spcAft>
                <a:spcPts val="0"/>
              </a:spcAft>
            </a:pPr>
            <a:r>
              <a:rPr sz="1100" b="1" i="0">
                <a:solidFill>
                  <a:srgbClr val="F7DC8B"/>
                </a:solidFill>
                <a:latin typeface="Arial"/>
              </a:rPr>
              <a:t>1500–500 BCE</a:t>
            </a:r>
          </a:p>
        </p:txBody>
      </p:sp>
      <p:sp>
        <p:nvSpPr>
          <p:cNvPr id="17" name="Oval 16"/>
          <p:cNvSpPr/>
          <p:nvPr/>
        </p:nvSpPr>
        <p:spPr>
          <a:xfrm>
            <a:off x="4561941" y="2121408"/>
            <a:ext cx="329184" cy="329184"/>
          </a:xfrm>
          <a:prstGeom prst="ellipse">
            <a:avLst/>
          </a:prstGeom>
          <a:solidFill>
            <a:srgbClr val="D49B2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61941" y="2157984"/>
            <a:ext cx="329184" cy="329184"/>
          </a:xfrm>
          <a:prstGeom prst="rect">
            <a:avLst/>
          </a:prstGeom>
          <a:noFill/>
        </p:spPr>
        <p:txBody>
          <a:bodyPr wrap="square" lIns="0" tIns="0" rIns="0" bIns="0" anchor="t">
            <a:noAutofit/>
          </a:bodyPr>
          <a:lstStyle/>
          <a:p>
            <a:pPr algn="ctr">
              <a:lnSpc>
                <a:spcPct val="105000"/>
              </a:lnSpc>
              <a:spcAft>
                <a:spcPts val="0"/>
              </a:spcAft>
            </a:pPr>
            <a:r>
              <a:rPr sz="1100" b="1" i="0">
                <a:solidFill>
                  <a:srgbClr val="1A2836"/>
                </a:solidFill>
                <a:latin typeface="Arial"/>
              </a:rPr>
              <a:t>2</a:t>
            </a:r>
          </a:p>
        </p:txBody>
      </p:sp>
      <p:sp>
        <p:nvSpPr>
          <p:cNvPr id="19" name="TextBox 18"/>
          <p:cNvSpPr txBox="1"/>
          <p:nvPr/>
        </p:nvSpPr>
        <p:spPr>
          <a:xfrm>
            <a:off x="3615537" y="2578608"/>
            <a:ext cx="2221992" cy="502920"/>
          </a:xfrm>
          <a:prstGeom prst="rect">
            <a:avLst/>
          </a:prstGeom>
          <a:noFill/>
        </p:spPr>
        <p:txBody>
          <a:bodyPr wrap="square" lIns="0" tIns="0" rIns="0" bIns="0" anchor="t">
            <a:noAutofit/>
          </a:bodyPr>
          <a:lstStyle/>
          <a:p>
            <a:pPr algn="ctr">
              <a:lnSpc>
                <a:spcPct val="105000"/>
              </a:lnSpc>
              <a:spcAft>
                <a:spcPts val="0"/>
              </a:spcAft>
            </a:pPr>
            <a:r>
              <a:rPr sz="1400" b="1" i="0">
                <a:solidFill>
                  <a:srgbClr val="1A2836"/>
                </a:solidFill>
                <a:latin typeface="Georgia"/>
              </a:rPr>
              <a:t>Vedic &amp; Upanishadic Era</a:t>
            </a:r>
          </a:p>
        </p:txBody>
      </p:sp>
      <p:sp>
        <p:nvSpPr>
          <p:cNvPr id="20" name="Rectangle 19"/>
          <p:cNvSpPr/>
          <p:nvPr/>
        </p:nvSpPr>
        <p:spPr>
          <a:xfrm>
            <a:off x="3743553" y="3154680"/>
            <a:ext cx="1965960" cy="10972"/>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15537" y="3273552"/>
            <a:ext cx="2221992" cy="1508760"/>
          </a:xfrm>
          <a:prstGeom prst="rect">
            <a:avLst/>
          </a:prstGeom>
          <a:noFill/>
        </p:spPr>
        <p:txBody>
          <a:bodyPr wrap="square" lIns="0" tIns="0" rIns="0" bIns="0" anchor="t">
            <a:noAutofit/>
          </a:bodyPr>
          <a:lstStyle/>
          <a:p>
            <a:pPr algn="ctr">
              <a:lnSpc>
                <a:spcPct val="112000"/>
              </a:lnSpc>
              <a:spcAft>
                <a:spcPts val="0"/>
              </a:spcAft>
            </a:pPr>
            <a:r>
              <a:rPr sz="1100" b="0" i="0">
                <a:solidFill>
                  <a:srgbClr val="1E1E1C"/>
                </a:solidFill>
                <a:latin typeface="Arial"/>
              </a:rPr>
              <a:t>Composition of the Vedas and foundational metaphysical dialogues on Atman, Brahman, and Dharma.</a:t>
            </a:r>
          </a:p>
        </p:txBody>
      </p:sp>
      <p:sp>
        <p:nvSpPr>
          <p:cNvPr id="22" name="Rounded Rectangle 21"/>
          <p:cNvSpPr/>
          <p:nvPr/>
        </p:nvSpPr>
        <p:spPr>
          <a:xfrm>
            <a:off x="6206947" y="1554480"/>
            <a:ext cx="2514600" cy="3337560"/>
          </a:xfrm>
          <a:prstGeom prst="roundRect">
            <a:avLst>
              <a:gd name="adj" fmla="val 4000"/>
            </a:avLst>
          </a:prstGeom>
          <a:solidFill>
            <a:srgbClr val="FFFFFF"/>
          </a:solidFill>
          <a:ln w="12700">
            <a:solidFill>
              <a:srgbClr val="E0D7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206947" y="1554480"/>
            <a:ext cx="2514600" cy="438912"/>
          </a:xfrm>
          <a:prstGeom prst="roundRect">
            <a:avLst>
              <a:gd name="adj" fmla="val 10000"/>
            </a:avLst>
          </a:prstGeom>
          <a:solidFill>
            <a:srgbClr val="1A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98387" y="1645920"/>
            <a:ext cx="2331720" cy="274320"/>
          </a:xfrm>
          <a:prstGeom prst="rect">
            <a:avLst/>
          </a:prstGeom>
          <a:noFill/>
        </p:spPr>
        <p:txBody>
          <a:bodyPr wrap="square" lIns="0" tIns="0" rIns="0" bIns="0" anchor="t">
            <a:noAutofit/>
          </a:bodyPr>
          <a:lstStyle/>
          <a:p>
            <a:pPr algn="ctr">
              <a:lnSpc>
                <a:spcPct val="105000"/>
              </a:lnSpc>
              <a:spcAft>
                <a:spcPts val="0"/>
              </a:spcAft>
            </a:pPr>
            <a:r>
              <a:rPr sz="1100" b="1" i="0">
                <a:solidFill>
                  <a:srgbClr val="F7DC8B"/>
                </a:solidFill>
                <a:latin typeface="Arial"/>
              </a:rPr>
              <a:t>300 BCE–500 CE</a:t>
            </a:r>
          </a:p>
        </p:txBody>
      </p:sp>
      <p:sp>
        <p:nvSpPr>
          <p:cNvPr id="25" name="Oval 24"/>
          <p:cNvSpPr/>
          <p:nvPr/>
        </p:nvSpPr>
        <p:spPr>
          <a:xfrm>
            <a:off x="7299655" y="2121408"/>
            <a:ext cx="329184" cy="329184"/>
          </a:xfrm>
          <a:prstGeom prst="ellipse">
            <a:avLst/>
          </a:prstGeom>
          <a:solidFill>
            <a:srgbClr val="D49B2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99655" y="2157984"/>
            <a:ext cx="329184" cy="329184"/>
          </a:xfrm>
          <a:prstGeom prst="rect">
            <a:avLst/>
          </a:prstGeom>
          <a:noFill/>
        </p:spPr>
        <p:txBody>
          <a:bodyPr wrap="square" lIns="0" tIns="0" rIns="0" bIns="0" anchor="t">
            <a:noAutofit/>
          </a:bodyPr>
          <a:lstStyle/>
          <a:p>
            <a:pPr algn="ctr">
              <a:lnSpc>
                <a:spcPct val="105000"/>
              </a:lnSpc>
              <a:spcAft>
                <a:spcPts val="0"/>
              </a:spcAft>
            </a:pPr>
            <a:r>
              <a:rPr sz="1100" b="1" i="0">
                <a:solidFill>
                  <a:srgbClr val="1A2836"/>
                </a:solidFill>
                <a:latin typeface="Arial"/>
              </a:rPr>
              <a:t>3</a:t>
            </a:r>
          </a:p>
        </p:txBody>
      </p:sp>
      <p:sp>
        <p:nvSpPr>
          <p:cNvPr id="27" name="TextBox 26"/>
          <p:cNvSpPr txBox="1"/>
          <p:nvPr/>
        </p:nvSpPr>
        <p:spPr>
          <a:xfrm>
            <a:off x="6353251" y="2578608"/>
            <a:ext cx="2221992" cy="502920"/>
          </a:xfrm>
          <a:prstGeom prst="rect">
            <a:avLst/>
          </a:prstGeom>
          <a:noFill/>
        </p:spPr>
        <p:txBody>
          <a:bodyPr wrap="square" lIns="0" tIns="0" rIns="0" bIns="0" anchor="t">
            <a:noAutofit/>
          </a:bodyPr>
          <a:lstStyle/>
          <a:p>
            <a:pPr algn="ctr">
              <a:lnSpc>
                <a:spcPct val="105000"/>
              </a:lnSpc>
              <a:spcAft>
                <a:spcPts val="0"/>
              </a:spcAft>
            </a:pPr>
            <a:r>
              <a:rPr sz="1400" b="1" i="0">
                <a:solidFill>
                  <a:srgbClr val="1A2836"/>
                </a:solidFill>
                <a:latin typeface="Georgia"/>
              </a:rPr>
              <a:t>Classical Golden Age</a:t>
            </a:r>
          </a:p>
        </p:txBody>
      </p:sp>
      <p:sp>
        <p:nvSpPr>
          <p:cNvPr id="28" name="Rectangle 27"/>
          <p:cNvSpPr/>
          <p:nvPr/>
        </p:nvSpPr>
        <p:spPr>
          <a:xfrm>
            <a:off x="6481267" y="3154680"/>
            <a:ext cx="1965960" cy="10972"/>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353251" y="3273552"/>
            <a:ext cx="2221992" cy="1508760"/>
          </a:xfrm>
          <a:prstGeom prst="rect">
            <a:avLst/>
          </a:prstGeom>
          <a:noFill/>
        </p:spPr>
        <p:txBody>
          <a:bodyPr wrap="square" lIns="0" tIns="0" rIns="0" bIns="0" anchor="t">
            <a:noAutofit/>
          </a:bodyPr>
          <a:lstStyle/>
          <a:p>
            <a:pPr algn="ctr">
              <a:lnSpc>
                <a:spcPct val="112000"/>
              </a:lnSpc>
              <a:spcAft>
                <a:spcPts val="0"/>
              </a:spcAft>
            </a:pPr>
            <a:r>
              <a:rPr sz="1100" b="0" i="0">
                <a:solidFill>
                  <a:srgbClr val="1E1E1C"/>
                </a:solidFill>
                <a:latin typeface="Arial"/>
              </a:rPr>
              <a:t>Ashokan edicts of non-violence, Natya Shastra treatises, and the zenith of Gupta mathematics.</a:t>
            </a:r>
          </a:p>
        </p:txBody>
      </p:sp>
      <p:sp>
        <p:nvSpPr>
          <p:cNvPr id="30" name="Rounded Rectangle 29"/>
          <p:cNvSpPr/>
          <p:nvPr/>
        </p:nvSpPr>
        <p:spPr>
          <a:xfrm>
            <a:off x="8944660" y="1554480"/>
            <a:ext cx="2514600" cy="3337560"/>
          </a:xfrm>
          <a:prstGeom prst="roundRect">
            <a:avLst>
              <a:gd name="adj" fmla="val 4000"/>
            </a:avLst>
          </a:prstGeom>
          <a:solidFill>
            <a:srgbClr val="FFFFFF"/>
          </a:solidFill>
          <a:ln w="12700">
            <a:solidFill>
              <a:srgbClr val="E0D7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8944660" y="1554480"/>
            <a:ext cx="2514600" cy="438912"/>
          </a:xfrm>
          <a:prstGeom prst="roundRect">
            <a:avLst>
              <a:gd name="adj" fmla="val 10000"/>
            </a:avLst>
          </a:prstGeom>
          <a:solidFill>
            <a:srgbClr val="1A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036100" y="1645920"/>
            <a:ext cx="2331720" cy="274320"/>
          </a:xfrm>
          <a:prstGeom prst="rect">
            <a:avLst/>
          </a:prstGeom>
          <a:noFill/>
        </p:spPr>
        <p:txBody>
          <a:bodyPr wrap="square" lIns="0" tIns="0" rIns="0" bIns="0" anchor="t">
            <a:noAutofit/>
          </a:bodyPr>
          <a:lstStyle/>
          <a:p>
            <a:pPr algn="ctr">
              <a:lnSpc>
                <a:spcPct val="105000"/>
              </a:lnSpc>
              <a:spcAft>
                <a:spcPts val="0"/>
              </a:spcAft>
            </a:pPr>
            <a:r>
              <a:rPr sz="1100" b="1" i="0">
                <a:solidFill>
                  <a:srgbClr val="F7DC8B"/>
                </a:solidFill>
                <a:latin typeface="Arial"/>
              </a:rPr>
              <a:t>800–1700 CE</a:t>
            </a:r>
          </a:p>
        </p:txBody>
      </p:sp>
      <p:sp>
        <p:nvSpPr>
          <p:cNvPr id="33" name="Oval 32"/>
          <p:cNvSpPr/>
          <p:nvPr/>
        </p:nvSpPr>
        <p:spPr>
          <a:xfrm>
            <a:off x="10037368" y="2121408"/>
            <a:ext cx="329184" cy="329184"/>
          </a:xfrm>
          <a:prstGeom prst="ellipse">
            <a:avLst/>
          </a:prstGeom>
          <a:solidFill>
            <a:srgbClr val="D49B24"/>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037368" y="2157984"/>
            <a:ext cx="329184" cy="329184"/>
          </a:xfrm>
          <a:prstGeom prst="rect">
            <a:avLst/>
          </a:prstGeom>
          <a:noFill/>
        </p:spPr>
        <p:txBody>
          <a:bodyPr wrap="square" lIns="0" tIns="0" rIns="0" bIns="0" anchor="t">
            <a:noAutofit/>
          </a:bodyPr>
          <a:lstStyle/>
          <a:p>
            <a:pPr algn="ctr">
              <a:lnSpc>
                <a:spcPct val="105000"/>
              </a:lnSpc>
              <a:spcAft>
                <a:spcPts val="0"/>
              </a:spcAft>
            </a:pPr>
            <a:r>
              <a:rPr sz="1100" b="1" i="0">
                <a:solidFill>
                  <a:srgbClr val="1A2836"/>
                </a:solidFill>
                <a:latin typeface="Arial"/>
              </a:rPr>
              <a:t>4</a:t>
            </a:r>
          </a:p>
        </p:txBody>
      </p:sp>
      <p:sp>
        <p:nvSpPr>
          <p:cNvPr id="35" name="TextBox 34"/>
          <p:cNvSpPr txBox="1"/>
          <p:nvPr/>
        </p:nvSpPr>
        <p:spPr>
          <a:xfrm>
            <a:off x="9090964" y="2578608"/>
            <a:ext cx="2221992" cy="502920"/>
          </a:xfrm>
          <a:prstGeom prst="rect">
            <a:avLst/>
          </a:prstGeom>
          <a:noFill/>
        </p:spPr>
        <p:txBody>
          <a:bodyPr wrap="square" lIns="0" tIns="0" rIns="0" bIns="0" anchor="t">
            <a:noAutofit/>
          </a:bodyPr>
          <a:lstStyle/>
          <a:p>
            <a:pPr algn="ctr">
              <a:lnSpc>
                <a:spcPct val="105000"/>
              </a:lnSpc>
              <a:spcAft>
                <a:spcPts val="0"/>
              </a:spcAft>
            </a:pPr>
            <a:r>
              <a:rPr sz="1400" b="1" i="0">
                <a:solidFill>
                  <a:srgbClr val="1A2836"/>
                </a:solidFill>
                <a:latin typeface="Georgia"/>
              </a:rPr>
              <a:t>Bhakti Renaissance</a:t>
            </a:r>
          </a:p>
        </p:txBody>
      </p:sp>
      <p:sp>
        <p:nvSpPr>
          <p:cNvPr id="36" name="Rectangle 35"/>
          <p:cNvSpPr/>
          <p:nvPr/>
        </p:nvSpPr>
        <p:spPr>
          <a:xfrm>
            <a:off x="9218980" y="3154680"/>
            <a:ext cx="1965960" cy="10972"/>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090964" y="3273552"/>
            <a:ext cx="2221992" cy="1508760"/>
          </a:xfrm>
          <a:prstGeom prst="rect">
            <a:avLst/>
          </a:prstGeom>
          <a:noFill/>
        </p:spPr>
        <p:txBody>
          <a:bodyPr wrap="square" lIns="0" tIns="0" rIns="0" bIns="0" anchor="t">
            <a:noAutofit/>
          </a:bodyPr>
          <a:lstStyle/>
          <a:p>
            <a:pPr algn="ctr">
              <a:lnSpc>
                <a:spcPct val="112000"/>
              </a:lnSpc>
              <a:spcAft>
                <a:spcPts val="0"/>
              </a:spcAft>
            </a:pPr>
            <a:r>
              <a:rPr sz="1100" b="0" i="0">
                <a:solidFill>
                  <a:srgbClr val="1E1E1C"/>
                </a:solidFill>
                <a:latin typeface="Arial"/>
              </a:rPr>
              <a:t>Monumental stone temple construction, egalitarian Bhakti-Sufi poetry, and syncretic arts.</a:t>
            </a:r>
          </a:p>
        </p:txBody>
      </p:sp>
      <p:sp>
        <p:nvSpPr>
          <p:cNvPr id="38" name="Rounded Rectangle 37"/>
          <p:cNvSpPr/>
          <p:nvPr/>
        </p:nvSpPr>
        <p:spPr>
          <a:xfrm>
            <a:off x="731520" y="5074920"/>
            <a:ext cx="10728655" cy="1143000"/>
          </a:xfrm>
          <a:prstGeom prst="roundRect">
            <a:avLst>
              <a:gd name="adj" fmla="val 4000"/>
            </a:avLst>
          </a:prstGeom>
          <a:solidFill>
            <a:srgbClr val="1A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731520" y="5074920"/>
            <a:ext cx="91440" cy="1143000"/>
          </a:xfrm>
          <a:prstGeom prst="rect">
            <a:avLst/>
          </a:prstGeom>
          <a:solidFill>
            <a:srgbClr val="D49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87552" y="5202936"/>
            <a:ext cx="10271455" cy="594360"/>
          </a:xfrm>
          <a:prstGeom prst="rect">
            <a:avLst/>
          </a:prstGeom>
          <a:noFill/>
        </p:spPr>
        <p:txBody>
          <a:bodyPr wrap="square" lIns="0" tIns="0" rIns="0" bIns="0" anchor="t">
            <a:noAutofit/>
          </a:bodyPr>
          <a:lstStyle/>
          <a:p>
            <a:pPr algn="l">
              <a:lnSpc>
                <a:spcPct val="105000"/>
              </a:lnSpc>
              <a:spcAft>
                <a:spcPts val="0"/>
              </a:spcAft>
            </a:pPr>
            <a:r>
              <a:rPr sz="1400" b="1" i="0">
                <a:solidFill>
                  <a:srgbClr val="F7DC8B"/>
                </a:solidFill>
                <a:latin typeface="Georgia"/>
              </a:rPr>
              <a:t>5,000-Year Arc</a:t>
            </a:r>
          </a:p>
        </p:txBody>
      </p:sp>
      <p:sp>
        <p:nvSpPr>
          <p:cNvPr id="41" name="Rectangle 40"/>
          <p:cNvSpPr/>
          <p:nvPr/>
        </p:nvSpPr>
        <p:spPr>
          <a:xfrm>
            <a:off x="987552" y="5824728"/>
            <a:ext cx="10216591" cy="10972"/>
          </a:xfrm>
          <a:prstGeom prst="rect">
            <a:avLst/>
          </a:prstGeom>
          <a:solidFill>
            <a:srgbClr val="D49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87552" y="5879592"/>
            <a:ext cx="10216591" cy="411480"/>
          </a:xfrm>
          <a:prstGeom prst="rect">
            <a:avLst/>
          </a:prstGeom>
          <a:noFill/>
        </p:spPr>
        <p:txBody>
          <a:bodyPr wrap="square" lIns="0" tIns="0" rIns="0" bIns="0" anchor="t">
            <a:noAutofit/>
          </a:bodyPr>
          <a:lstStyle/>
          <a:p>
            <a:pPr algn="l">
              <a:lnSpc>
                <a:spcPct val="104000"/>
              </a:lnSpc>
              <a:spcAft>
                <a:spcPts val="0"/>
              </a:spcAft>
            </a:pPr>
            <a:r>
              <a:rPr sz="950" b="0" i="0">
                <a:solidFill>
                  <a:srgbClr val="F2EBE0"/>
                </a:solidFill>
                <a:latin typeface="Arial"/>
              </a:rPr>
              <a:t>An unbroken lineage of architectural, philosophical, and literary innovation</a:t>
            </a:r>
          </a:p>
        </p:txBody>
      </p:sp>
      <p:sp>
        <p:nvSpPr>
          <p:cNvPr id="43" name="Rectangle 42"/>
          <p:cNvSpPr/>
          <p:nvPr/>
        </p:nvSpPr>
        <p:spPr>
          <a:xfrm>
            <a:off x="731520" y="6400800"/>
            <a:ext cx="10728655" cy="10972"/>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31520" y="6473952"/>
            <a:ext cx="7772400" cy="256032"/>
          </a:xfrm>
          <a:prstGeom prst="rect">
            <a:avLst/>
          </a:prstGeom>
          <a:noFill/>
        </p:spPr>
        <p:txBody>
          <a:bodyPr wrap="square" lIns="0" tIns="0" rIns="0" bIns="0" anchor="t">
            <a:noAutofit/>
          </a:bodyPr>
          <a:lstStyle/>
          <a:p>
            <a:pPr algn="l">
              <a:lnSpc>
                <a:spcPct val="105000"/>
              </a:lnSpc>
              <a:spcAft>
                <a:spcPts val="0"/>
              </a:spcAft>
            </a:pPr>
            <a:r>
              <a:rPr sz="850" b="0" i="0">
                <a:solidFill>
                  <a:srgbClr val="67645E"/>
                </a:solidFill>
                <a:latin typeface="Arial"/>
              </a:rPr>
              <a:t>The Living Civilization: Five Millennia of Indian Culture, Philosophy, and Heritage</a:t>
            </a:r>
          </a:p>
        </p:txBody>
      </p:sp>
      <p:sp>
        <p:nvSpPr>
          <p:cNvPr id="45" name="TextBox 44"/>
          <p:cNvSpPr txBox="1"/>
          <p:nvPr/>
        </p:nvSpPr>
        <p:spPr>
          <a:xfrm>
            <a:off x="9631375" y="6473952"/>
            <a:ext cx="1828800" cy="256032"/>
          </a:xfrm>
          <a:prstGeom prst="rect">
            <a:avLst/>
          </a:prstGeom>
          <a:noFill/>
        </p:spPr>
        <p:txBody>
          <a:bodyPr wrap="square" lIns="0" tIns="0" rIns="0" bIns="0" anchor="t">
            <a:noAutofit/>
          </a:bodyPr>
          <a:lstStyle/>
          <a:p>
            <a:pPr algn="r">
              <a:lnSpc>
                <a:spcPct val="105000"/>
              </a:lnSpc>
              <a:spcAft>
                <a:spcPts val="0"/>
              </a:spcAft>
            </a:pPr>
            <a:r>
              <a:rPr sz="850" b="1" i="0">
                <a:solidFill>
                  <a:srgbClr val="67645E"/>
                </a:solidFill>
                <a:latin typeface="Arial"/>
              </a:rPr>
              <a:t>03 / 11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6EE"/>
        </a:solidFill>
        <a:effectLst/>
      </p:bgPr>
    </p:bg>
    <p:spTree>
      <p:nvGrpSpPr>
        <p:cNvPr id="1" name=""/>
        <p:cNvGrpSpPr/>
        <p:nvPr/>
      </p:nvGrpSpPr>
      <p:grpSpPr>
        <a:xfrm>
          <a:off x="0" y="0"/>
          <a:ext cx="0" cy="0"/>
          <a:chOff x="0" y="0"/>
          <a:chExt cx="0" cy="0"/>
        </a:xfrm>
      </p:grpSpPr>
      <p:sp>
        <p:nvSpPr>
          <p:cNvPr id="2" name="TextBox 1"/>
          <p:cNvSpPr txBox="1"/>
          <p:nvPr/>
        </p:nvSpPr>
        <p:spPr>
          <a:xfrm>
            <a:off x="731520" y="438912"/>
            <a:ext cx="10728655" cy="237744"/>
          </a:xfrm>
          <a:prstGeom prst="rect">
            <a:avLst/>
          </a:prstGeom>
          <a:noFill/>
        </p:spPr>
        <p:txBody>
          <a:bodyPr wrap="square" lIns="0" tIns="0" rIns="0" bIns="0" anchor="t">
            <a:noAutofit/>
          </a:bodyPr>
          <a:lstStyle/>
          <a:p>
            <a:pPr algn="l">
              <a:lnSpc>
                <a:spcPct val="105000"/>
              </a:lnSpc>
              <a:spcAft>
                <a:spcPts val="0"/>
              </a:spcAft>
            </a:pPr>
            <a:r>
              <a:rPr sz="1050" b="1" i="0">
                <a:solidFill>
                  <a:srgbClr val="D49B24"/>
                </a:solidFill>
                <a:latin typeface="Arial"/>
              </a:rPr>
              <a:t>PHILOSOPHICAL BEDROCK</a:t>
            </a:r>
          </a:p>
        </p:txBody>
      </p:sp>
      <p:sp>
        <p:nvSpPr>
          <p:cNvPr id="3" name="TextBox 2"/>
          <p:cNvSpPr txBox="1"/>
          <p:nvPr/>
        </p:nvSpPr>
        <p:spPr>
          <a:xfrm>
            <a:off x="731520" y="676656"/>
            <a:ext cx="10728655" cy="566928"/>
          </a:xfrm>
          <a:prstGeom prst="rect">
            <a:avLst/>
          </a:prstGeom>
          <a:noFill/>
        </p:spPr>
        <p:txBody>
          <a:bodyPr wrap="square" lIns="0" tIns="0" rIns="0" bIns="0" anchor="t">
            <a:noAutofit/>
          </a:bodyPr>
          <a:lstStyle/>
          <a:p>
            <a:pPr algn="l">
              <a:lnSpc>
                <a:spcPct val="105000"/>
              </a:lnSpc>
              <a:spcAft>
                <a:spcPts val="0"/>
              </a:spcAft>
            </a:pPr>
            <a:r>
              <a:rPr sz="2600" b="1" i="0">
                <a:solidFill>
                  <a:srgbClr val="1A2836"/>
                </a:solidFill>
                <a:latin typeface="Georgia"/>
              </a:rPr>
              <a:t>Three Universal Pillars That Anchor Indian Thought</a:t>
            </a:r>
          </a:p>
        </p:txBody>
      </p:sp>
      <p:sp>
        <p:nvSpPr>
          <p:cNvPr id="4" name="Rectangle 3"/>
          <p:cNvSpPr/>
          <p:nvPr/>
        </p:nvSpPr>
        <p:spPr>
          <a:xfrm>
            <a:off x="731520" y="1316736"/>
            <a:ext cx="10728655" cy="12801"/>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00200"/>
            <a:ext cx="3364992" cy="4617720"/>
          </a:xfrm>
          <a:prstGeom prst="roundRect">
            <a:avLst>
              <a:gd name="adj" fmla="val 3000"/>
            </a:avLst>
          </a:prstGeom>
          <a:solidFill>
            <a:srgbClr val="FFFFFF"/>
          </a:solidFill>
          <a:ln w="12700">
            <a:solidFill>
              <a:srgbClr val="E0D7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600200"/>
            <a:ext cx="3364992" cy="109728"/>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005840" y="1920240"/>
            <a:ext cx="1463040" cy="292608"/>
          </a:xfrm>
          <a:prstGeom prst="roundRect">
            <a:avLst>
              <a:gd name="adj" fmla="val 20000"/>
            </a:avLst>
          </a:prstGeom>
          <a:solidFill>
            <a:srgbClr val="F2EADC"/>
          </a:solidFill>
          <a:ln w="9525">
            <a:solidFill>
              <a:srgbClr val="E6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965960"/>
            <a:ext cx="1463040" cy="256032"/>
          </a:xfrm>
          <a:prstGeom prst="rect">
            <a:avLst/>
          </a:prstGeom>
          <a:noFill/>
        </p:spPr>
        <p:txBody>
          <a:bodyPr wrap="square" lIns="0" tIns="0" rIns="0" bIns="0" anchor="t">
            <a:noAutofit/>
          </a:bodyPr>
          <a:lstStyle/>
          <a:p>
            <a:pPr algn="ctr">
              <a:lnSpc>
                <a:spcPct val="105000"/>
              </a:lnSpc>
              <a:spcAft>
                <a:spcPts val="0"/>
              </a:spcAft>
            </a:pPr>
            <a:r>
              <a:rPr sz="900" b="1" i="0">
                <a:solidFill>
                  <a:srgbClr val="E65100"/>
                </a:solidFill>
                <a:latin typeface="Arial"/>
              </a:rPr>
              <a:t>COSMIC LAW</a:t>
            </a:r>
          </a:p>
        </p:txBody>
      </p:sp>
      <p:sp>
        <p:nvSpPr>
          <p:cNvPr id="9" name="TextBox 8"/>
          <p:cNvSpPr txBox="1"/>
          <p:nvPr/>
        </p:nvSpPr>
        <p:spPr>
          <a:xfrm>
            <a:off x="1005840" y="2350008"/>
            <a:ext cx="2816352" cy="594360"/>
          </a:xfrm>
          <a:prstGeom prst="rect">
            <a:avLst/>
          </a:prstGeom>
          <a:noFill/>
        </p:spPr>
        <p:txBody>
          <a:bodyPr wrap="square" lIns="0" tIns="0" rIns="0" bIns="0" anchor="t">
            <a:noAutofit/>
          </a:bodyPr>
          <a:lstStyle/>
          <a:p>
            <a:pPr algn="l">
              <a:lnSpc>
                <a:spcPct val="105000"/>
              </a:lnSpc>
              <a:spcAft>
                <a:spcPts val="0"/>
              </a:spcAft>
            </a:pPr>
            <a:r>
              <a:rPr sz="1700" b="1" i="0">
                <a:solidFill>
                  <a:srgbClr val="1A2836"/>
                </a:solidFill>
                <a:latin typeface="Georgia"/>
              </a:rPr>
              <a:t>Dharma &amp; Karma</a:t>
            </a:r>
          </a:p>
        </p:txBody>
      </p:sp>
      <p:sp>
        <p:nvSpPr>
          <p:cNvPr id="10" name="TextBox 9"/>
          <p:cNvSpPr txBox="1"/>
          <p:nvPr/>
        </p:nvSpPr>
        <p:spPr>
          <a:xfrm>
            <a:off x="1005840" y="2971800"/>
            <a:ext cx="2816352" cy="347472"/>
          </a:xfrm>
          <a:prstGeom prst="rect">
            <a:avLst/>
          </a:prstGeom>
          <a:noFill/>
        </p:spPr>
        <p:txBody>
          <a:bodyPr wrap="square" lIns="0" tIns="0" rIns="0" bIns="0" anchor="t">
            <a:noAutofit/>
          </a:bodyPr>
          <a:lstStyle/>
          <a:p>
            <a:pPr algn="l">
              <a:lnSpc>
                <a:spcPct val="105000"/>
              </a:lnSpc>
              <a:spcAft>
                <a:spcPts val="0"/>
              </a:spcAft>
            </a:pPr>
            <a:r>
              <a:rPr sz="1200" b="1" i="0">
                <a:solidFill>
                  <a:srgbClr val="E65100"/>
                </a:solidFill>
                <a:latin typeface="Arial"/>
              </a:rPr>
              <a:t>Cosmic Order &amp; Moral Cause</a:t>
            </a:r>
          </a:p>
        </p:txBody>
      </p:sp>
      <p:sp>
        <p:nvSpPr>
          <p:cNvPr id="11" name="Rectangle 10"/>
          <p:cNvSpPr/>
          <p:nvPr/>
        </p:nvSpPr>
        <p:spPr>
          <a:xfrm>
            <a:off x="1005840" y="3410712"/>
            <a:ext cx="2816352" cy="10972"/>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3566160"/>
            <a:ext cx="2816352" cy="2468880"/>
          </a:xfrm>
          <a:prstGeom prst="rect">
            <a:avLst/>
          </a:prstGeom>
          <a:noFill/>
        </p:spPr>
        <p:txBody>
          <a:bodyPr wrap="square" lIns="0" tIns="0" rIns="0" bIns="0" anchor="t">
            <a:noAutofit/>
          </a:bodyPr>
          <a:lstStyle/>
          <a:p>
            <a:pPr algn="l">
              <a:lnSpc>
                <a:spcPct val="118000"/>
              </a:lnSpc>
              <a:spcAft>
                <a:spcPts val="0"/>
              </a:spcAft>
            </a:pPr>
            <a:r>
              <a:rPr sz="1250" b="0" i="0">
                <a:solidFill>
                  <a:srgbClr val="1E1E1C"/>
                </a:solidFill>
                <a:latin typeface="Arial"/>
              </a:rPr>
              <a:t>Dharma defines the ethical duty that sustains the cosmos, while Karma establishes that every action leaves an indelible moral imprint shaping destiny.</a:t>
            </a:r>
          </a:p>
        </p:txBody>
      </p:sp>
      <p:sp>
        <p:nvSpPr>
          <p:cNvPr id="13" name="Rounded Rectangle 12"/>
          <p:cNvSpPr/>
          <p:nvPr/>
        </p:nvSpPr>
        <p:spPr>
          <a:xfrm>
            <a:off x="4412894" y="1600200"/>
            <a:ext cx="3364992" cy="4617720"/>
          </a:xfrm>
          <a:prstGeom prst="roundRect">
            <a:avLst>
              <a:gd name="adj" fmla="val 3000"/>
            </a:avLst>
          </a:prstGeom>
          <a:solidFill>
            <a:srgbClr val="FFFFFF"/>
          </a:solidFill>
          <a:ln w="12700">
            <a:solidFill>
              <a:srgbClr val="E0D7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412894" y="1600200"/>
            <a:ext cx="3364992" cy="109728"/>
          </a:xfrm>
          <a:prstGeom prst="rect">
            <a:avLst/>
          </a:prstGeom>
          <a:solidFill>
            <a:srgbClr val="D49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687214" y="1920240"/>
            <a:ext cx="1463040" cy="292608"/>
          </a:xfrm>
          <a:prstGeom prst="roundRect">
            <a:avLst>
              <a:gd name="adj" fmla="val 20000"/>
            </a:avLst>
          </a:prstGeom>
          <a:solidFill>
            <a:srgbClr val="F2EADC"/>
          </a:solidFill>
          <a:ln w="9525">
            <a:solidFill>
              <a:srgbClr val="D49B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87214" y="1965960"/>
            <a:ext cx="1463040" cy="256032"/>
          </a:xfrm>
          <a:prstGeom prst="rect">
            <a:avLst/>
          </a:prstGeom>
          <a:noFill/>
        </p:spPr>
        <p:txBody>
          <a:bodyPr wrap="square" lIns="0" tIns="0" rIns="0" bIns="0" anchor="t">
            <a:noAutofit/>
          </a:bodyPr>
          <a:lstStyle/>
          <a:p>
            <a:pPr algn="ctr">
              <a:lnSpc>
                <a:spcPct val="105000"/>
              </a:lnSpc>
              <a:spcAft>
                <a:spcPts val="0"/>
              </a:spcAft>
            </a:pPr>
            <a:r>
              <a:rPr sz="900" b="1" i="0">
                <a:solidFill>
                  <a:srgbClr val="D49B24"/>
                </a:solidFill>
                <a:latin typeface="Arial"/>
              </a:rPr>
              <a:t>MORAL CORE</a:t>
            </a:r>
          </a:p>
        </p:txBody>
      </p:sp>
      <p:sp>
        <p:nvSpPr>
          <p:cNvPr id="17" name="TextBox 16"/>
          <p:cNvSpPr txBox="1"/>
          <p:nvPr/>
        </p:nvSpPr>
        <p:spPr>
          <a:xfrm>
            <a:off x="4687214" y="2350008"/>
            <a:ext cx="2816352" cy="594360"/>
          </a:xfrm>
          <a:prstGeom prst="rect">
            <a:avLst/>
          </a:prstGeom>
          <a:noFill/>
        </p:spPr>
        <p:txBody>
          <a:bodyPr wrap="square" lIns="0" tIns="0" rIns="0" bIns="0" anchor="t">
            <a:noAutofit/>
          </a:bodyPr>
          <a:lstStyle/>
          <a:p>
            <a:pPr algn="l">
              <a:lnSpc>
                <a:spcPct val="105000"/>
              </a:lnSpc>
              <a:spcAft>
                <a:spcPts val="0"/>
              </a:spcAft>
            </a:pPr>
            <a:r>
              <a:rPr sz="1700" b="1" i="0">
                <a:solidFill>
                  <a:srgbClr val="1A2836"/>
                </a:solidFill>
                <a:latin typeface="Georgia"/>
              </a:rPr>
              <a:t>Satya &amp; Ahimsa</a:t>
            </a:r>
          </a:p>
        </p:txBody>
      </p:sp>
      <p:sp>
        <p:nvSpPr>
          <p:cNvPr id="18" name="TextBox 17"/>
          <p:cNvSpPr txBox="1"/>
          <p:nvPr/>
        </p:nvSpPr>
        <p:spPr>
          <a:xfrm>
            <a:off x="4687214" y="2971800"/>
            <a:ext cx="2816352" cy="347472"/>
          </a:xfrm>
          <a:prstGeom prst="rect">
            <a:avLst/>
          </a:prstGeom>
          <a:noFill/>
        </p:spPr>
        <p:txBody>
          <a:bodyPr wrap="square" lIns="0" tIns="0" rIns="0" bIns="0" anchor="t">
            <a:noAutofit/>
          </a:bodyPr>
          <a:lstStyle/>
          <a:p>
            <a:pPr algn="l">
              <a:lnSpc>
                <a:spcPct val="105000"/>
              </a:lnSpc>
              <a:spcAft>
                <a:spcPts val="0"/>
              </a:spcAft>
            </a:pPr>
            <a:r>
              <a:rPr sz="1200" b="1" i="0">
                <a:solidFill>
                  <a:srgbClr val="D49B24"/>
                </a:solidFill>
                <a:latin typeface="Arial"/>
              </a:rPr>
              <a:t>Truth &amp; Active Non-Injury</a:t>
            </a:r>
          </a:p>
        </p:txBody>
      </p:sp>
      <p:sp>
        <p:nvSpPr>
          <p:cNvPr id="19" name="Rectangle 18"/>
          <p:cNvSpPr/>
          <p:nvPr/>
        </p:nvSpPr>
        <p:spPr>
          <a:xfrm>
            <a:off x="4687214" y="3410712"/>
            <a:ext cx="2816352" cy="10972"/>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87214" y="3566160"/>
            <a:ext cx="2816352" cy="2468880"/>
          </a:xfrm>
          <a:prstGeom prst="rect">
            <a:avLst/>
          </a:prstGeom>
          <a:noFill/>
        </p:spPr>
        <p:txBody>
          <a:bodyPr wrap="square" lIns="0" tIns="0" rIns="0" bIns="0" anchor="t">
            <a:noAutofit/>
          </a:bodyPr>
          <a:lstStyle/>
          <a:p>
            <a:pPr algn="l">
              <a:lnSpc>
                <a:spcPct val="118000"/>
              </a:lnSpc>
              <a:spcAft>
                <a:spcPts val="0"/>
              </a:spcAft>
            </a:pPr>
            <a:r>
              <a:rPr sz="1250" b="0" i="0">
                <a:solidFill>
                  <a:srgbClr val="1E1E1C"/>
                </a:solidFill>
                <a:latin typeface="Arial"/>
              </a:rPr>
              <a:t>Foundational to Vedic, Jain, and Buddhist traditions, non-violence is affirmed as the highest spiritual discipline and ultimate moral strength.</a:t>
            </a:r>
          </a:p>
        </p:txBody>
      </p:sp>
      <p:sp>
        <p:nvSpPr>
          <p:cNvPr id="21" name="Rounded Rectangle 20"/>
          <p:cNvSpPr/>
          <p:nvPr/>
        </p:nvSpPr>
        <p:spPr>
          <a:xfrm>
            <a:off x="8094268" y="1600200"/>
            <a:ext cx="3364992" cy="4617720"/>
          </a:xfrm>
          <a:prstGeom prst="roundRect">
            <a:avLst>
              <a:gd name="adj" fmla="val 3000"/>
            </a:avLst>
          </a:prstGeom>
          <a:solidFill>
            <a:srgbClr val="FFFFFF"/>
          </a:solidFill>
          <a:ln w="12700">
            <a:solidFill>
              <a:srgbClr val="E0D7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94268" y="1600200"/>
            <a:ext cx="3364992" cy="109728"/>
          </a:xfrm>
          <a:prstGeom prst="rect">
            <a:avLst/>
          </a:prstGeom>
          <a:solidFill>
            <a:srgbClr val="0C6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368588" y="1920240"/>
            <a:ext cx="1463040" cy="292608"/>
          </a:xfrm>
          <a:prstGeom prst="roundRect">
            <a:avLst>
              <a:gd name="adj" fmla="val 20000"/>
            </a:avLst>
          </a:prstGeom>
          <a:solidFill>
            <a:srgbClr val="F2EADC"/>
          </a:solidFill>
          <a:ln w="9525">
            <a:solidFill>
              <a:srgbClr val="0C6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368588" y="1965960"/>
            <a:ext cx="1463040" cy="256032"/>
          </a:xfrm>
          <a:prstGeom prst="rect">
            <a:avLst/>
          </a:prstGeom>
          <a:noFill/>
        </p:spPr>
        <p:txBody>
          <a:bodyPr wrap="square" lIns="0" tIns="0" rIns="0" bIns="0" anchor="t">
            <a:noAutofit/>
          </a:bodyPr>
          <a:lstStyle/>
          <a:p>
            <a:pPr algn="ctr">
              <a:lnSpc>
                <a:spcPct val="105000"/>
              </a:lnSpc>
              <a:spcAft>
                <a:spcPts val="0"/>
              </a:spcAft>
            </a:pPr>
            <a:r>
              <a:rPr sz="900" b="1" i="0">
                <a:solidFill>
                  <a:srgbClr val="0C627A"/>
                </a:solidFill>
                <a:latin typeface="Arial"/>
              </a:rPr>
              <a:t>UNIVERSAL VISION</a:t>
            </a:r>
          </a:p>
        </p:txBody>
      </p:sp>
      <p:sp>
        <p:nvSpPr>
          <p:cNvPr id="25" name="TextBox 24"/>
          <p:cNvSpPr txBox="1"/>
          <p:nvPr/>
        </p:nvSpPr>
        <p:spPr>
          <a:xfrm>
            <a:off x="8368588" y="2350008"/>
            <a:ext cx="2816352" cy="594360"/>
          </a:xfrm>
          <a:prstGeom prst="rect">
            <a:avLst/>
          </a:prstGeom>
          <a:noFill/>
        </p:spPr>
        <p:txBody>
          <a:bodyPr wrap="square" lIns="0" tIns="0" rIns="0" bIns="0" anchor="t">
            <a:noAutofit/>
          </a:bodyPr>
          <a:lstStyle/>
          <a:p>
            <a:pPr algn="l">
              <a:lnSpc>
                <a:spcPct val="105000"/>
              </a:lnSpc>
              <a:spcAft>
                <a:spcPts val="0"/>
              </a:spcAft>
            </a:pPr>
            <a:r>
              <a:rPr sz="1700" b="1" i="0">
                <a:solidFill>
                  <a:srgbClr val="1A2836"/>
                </a:solidFill>
                <a:latin typeface="Georgia"/>
              </a:rPr>
              <a:t>Vasudhaiva Kutumbakam</a:t>
            </a:r>
          </a:p>
        </p:txBody>
      </p:sp>
      <p:sp>
        <p:nvSpPr>
          <p:cNvPr id="26" name="TextBox 25"/>
          <p:cNvSpPr txBox="1"/>
          <p:nvPr/>
        </p:nvSpPr>
        <p:spPr>
          <a:xfrm>
            <a:off x="8368588" y="2971800"/>
            <a:ext cx="2816352" cy="347472"/>
          </a:xfrm>
          <a:prstGeom prst="rect">
            <a:avLst/>
          </a:prstGeom>
          <a:noFill/>
        </p:spPr>
        <p:txBody>
          <a:bodyPr wrap="square" lIns="0" tIns="0" rIns="0" bIns="0" anchor="t">
            <a:noAutofit/>
          </a:bodyPr>
          <a:lstStyle/>
          <a:p>
            <a:pPr algn="l">
              <a:lnSpc>
                <a:spcPct val="105000"/>
              </a:lnSpc>
              <a:spcAft>
                <a:spcPts val="0"/>
              </a:spcAft>
            </a:pPr>
            <a:r>
              <a:rPr sz="1200" b="1" i="0">
                <a:solidFill>
                  <a:srgbClr val="0C627A"/>
                </a:solidFill>
                <a:latin typeface="Arial"/>
              </a:rPr>
              <a:t>The World is One Family</a:t>
            </a:r>
          </a:p>
        </p:txBody>
      </p:sp>
      <p:sp>
        <p:nvSpPr>
          <p:cNvPr id="27" name="Rectangle 26"/>
          <p:cNvSpPr/>
          <p:nvPr/>
        </p:nvSpPr>
        <p:spPr>
          <a:xfrm>
            <a:off x="8368588" y="3410712"/>
            <a:ext cx="2816352" cy="10972"/>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68588" y="3566160"/>
            <a:ext cx="2816352" cy="2468880"/>
          </a:xfrm>
          <a:prstGeom prst="rect">
            <a:avLst/>
          </a:prstGeom>
          <a:noFill/>
        </p:spPr>
        <p:txBody>
          <a:bodyPr wrap="square" lIns="0" tIns="0" rIns="0" bIns="0" anchor="t">
            <a:noAutofit/>
          </a:bodyPr>
          <a:lstStyle/>
          <a:p>
            <a:pPr algn="l">
              <a:lnSpc>
                <a:spcPct val="118000"/>
              </a:lnSpc>
              <a:spcAft>
                <a:spcPts val="0"/>
              </a:spcAft>
            </a:pPr>
            <a:r>
              <a:rPr sz="1250" b="0" i="0">
                <a:solidFill>
                  <a:srgbClr val="1E1E1C"/>
                </a:solidFill>
                <a:latin typeface="Arial"/>
              </a:rPr>
              <a:t>Originating in the Maha Upanishad, this dictum transcends parochial borders to declare all humanity and living creation as a single household.</a:t>
            </a:r>
          </a:p>
        </p:txBody>
      </p:sp>
      <p:sp>
        <p:nvSpPr>
          <p:cNvPr id="29" name="Rectangle 28"/>
          <p:cNvSpPr/>
          <p:nvPr/>
        </p:nvSpPr>
        <p:spPr>
          <a:xfrm>
            <a:off x="731520" y="6400800"/>
            <a:ext cx="10728655" cy="10972"/>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6473952"/>
            <a:ext cx="7772400" cy="256032"/>
          </a:xfrm>
          <a:prstGeom prst="rect">
            <a:avLst/>
          </a:prstGeom>
          <a:noFill/>
        </p:spPr>
        <p:txBody>
          <a:bodyPr wrap="square" lIns="0" tIns="0" rIns="0" bIns="0" anchor="t">
            <a:noAutofit/>
          </a:bodyPr>
          <a:lstStyle/>
          <a:p>
            <a:pPr algn="l">
              <a:lnSpc>
                <a:spcPct val="105000"/>
              </a:lnSpc>
              <a:spcAft>
                <a:spcPts val="0"/>
              </a:spcAft>
            </a:pPr>
            <a:r>
              <a:rPr sz="850" b="0" i="0">
                <a:solidFill>
                  <a:srgbClr val="67645E"/>
                </a:solidFill>
                <a:latin typeface="Arial"/>
              </a:rPr>
              <a:t>The Living Civilization: Five Millennia of Indian Culture, Philosophy, and Heritage</a:t>
            </a:r>
          </a:p>
        </p:txBody>
      </p:sp>
      <p:sp>
        <p:nvSpPr>
          <p:cNvPr id="31" name="TextBox 30"/>
          <p:cNvSpPr txBox="1"/>
          <p:nvPr/>
        </p:nvSpPr>
        <p:spPr>
          <a:xfrm>
            <a:off x="9631375" y="6473952"/>
            <a:ext cx="1828800" cy="256032"/>
          </a:xfrm>
          <a:prstGeom prst="rect">
            <a:avLst/>
          </a:prstGeom>
          <a:noFill/>
        </p:spPr>
        <p:txBody>
          <a:bodyPr wrap="square" lIns="0" tIns="0" rIns="0" bIns="0" anchor="t">
            <a:noAutofit/>
          </a:bodyPr>
          <a:lstStyle/>
          <a:p>
            <a:pPr algn="r">
              <a:lnSpc>
                <a:spcPct val="105000"/>
              </a:lnSpc>
              <a:spcAft>
                <a:spcPts val="0"/>
              </a:spcAft>
            </a:pPr>
            <a:r>
              <a:rPr sz="850" b="1" i="0">
                <a:solidFill>
                  <a:srgbClr val="67645E"/>
                </a:solidFill>
                <a:latin typeface="Arial"/>
              </a:rPr>
              <a:t>04 / 11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6EE"/>
        </a:solidFill>
        <a:effectLst/>
      </p:bgPr>
    </p:bg>
    <p:spTree>
      <p:nvGrpSpPr>
        <p:cNvPr id="1" name=""/>
        <p:cNvGrpSpPr/>
        <p:nvPr/>
      </p:nvGrpSpPr>
      <p:grpSpPr>
        <a:xfrm>
          <a:off x="0" y="0"/>
          <a:ext cx="0" cy="0"/>
          <a:chOff x="0" y="0"/>
          <a:chExt cx="0" cy="0"/>
        </a:xfrm>
      </p:grpSpPr>
      <p:sp>
        <p:nvSpPr>
          <p:cNvPr id="2" name="TextBox 1"/>
          <p:cNvSpPr txBox="1"/>
          <p:nvPr/>
        </p:nvSpPr>
        <p:spPr>
          <a:xfrm>
            <a:off x="731520" y="438912"/>
            <a:ext cx="10728655" cy="237744"/>
          </a:xfrm>
          <a:prstGeom prst="rect">
            <a:avLst/>
          </a:prstGeom>
          <a:noFill/>
        </p:spPr>
        <p:txBody>
          <a:bodyPr wrap="square" lIns="0" tIns="0" rIns="0" bIns="0" anchor="t">
            <a:noAutofit/>
          </a:bodyPr>
          <a:lstStyle/>
          <a:p>
            <a:pPr algn="l">
              <a:lnSpc>
                <a:spcPct val="105000"/>
              </a:lnSpc>
              <a:spcAft>
                <a:spcPts val="0"/>
              </a:spcAft>
            </a:pPr>
            <a:r>
              <a:rPr sz="1050" b="1" i="0">
                <a:solidFill>
                  <a:srgbClr val="D49B24"/>
                </a:solidFill>
                <a:latin typeface="Arial"/>
              </a:rPr>
              <a:t>SACRED ARCHITECTURE</a:t>
            </a:r>
          </a:p>
        </p:txBody>
      </p:sp>
      <p:sp>
        <p:nvSpPr>
          <p:cNvPr id="3" name="TextBox 2"/>
          <p:cNvSpPr txBox="1"/>
          <p:nvPr/>
        </p:nvSpPr>
        <p:spPr>
          <a:xfrm>
            <a:off x="731520" y="676656"/>
            <a:ext cx="10728655" cy="566928"/>
          </a:xfrm>
          <a:prstGeom prst="rect">
            <a:avLst/>
          </a:prstGeom>
          <a:noFill/>
        </p:spPr>
        <p:txBody>
          <a:bodyPr wrap="square" lIns="0" tIns="0" rIns="0" bIns="0" anchor="t">
            <a:noAutofit/>
          </a:bodyPr>
          <a:lstStyle/>
          <a:p>
            <a:pPr algn="l">
              <a:lnSpc>
                <a:spcPct val="105000"/>
              </a:lnSpc>
              <a:spcAft>
                <a:spcPts val="0"/>
              </a:spcAft>
            </a:pPr>
            <a:r>
              <a:rPr sz="2600" b="1" i="0">
                <a:solidFill>
                  <a:srgbClr val="1A2836"/>
                </a:solidFill>
                <a:latin typeface="Georgia"/>
              </a:rPr>
              <a:t>Stone Carved into Cosmic Geometry and Devotion</a:t>
            </a:r>
          </a:p>
        </p:txBody>
      </p:sp>
      <p:sp>
        <p:nvSpPr>
          <p:cNvPr id="4" name="Rectangle 3"/>
          <p:cNvSpPr/>
          <p:nvPr/>
        </p:nvSpPr>
        <p:spPr>
          <a:xfrm>
            <a:off x="731520" y="1316736"/>
            <a:ext cx="10728655" cy="12801"/>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554480"/>
            <a:ext cx="6217920" cy="3383280"/>
          </a:xfrm>
          <a:prstGeom prst="rect">
            <a:avLst/>
          </a:prstGeom>
          <a:noFill/>
        </p:spPr>
        <p:txBody>
          <a:bodyPr wrap="square" lIns="0" tIns="0" rIns="0" bIns="0" anchor="t">
            <a:noAutofit/>
          </a:bodyPr>
          <a:lstStyle/>
          <a:p>
            <a:pPr algn="l">
              <a:lnSpc>
                <a:spcPct val="110000"/>
              </a:lnSpc>
              <a:spcAft>
                <a:spcPts val="1200"/>
              </a:spcAft>
            </a:pPr>
            <a:r>
              <a:rPr sz="1450" b="1">
                <a:solidFill>
                  <a:srgbClr val="D49B24"/>
                </a:solidFill>
                <a:latin typeface="Arial"/>
              </a:rPr>
              <a:t>▪  </a:t>
            </a:r>
            <a:r>
              <a:rPr sz="1450" b="1">
                <a:solidFill>
                  <a:srgbClr val="1E1E1C"/>
                </a:solidFill>
                <a:latin typeface="Arial"/>
              </a:rPr>
              <a:t>Monolithic Marvels: </a:t>
            </a:r>
            <a:r>
              <a:rPr sz="1450" b="0">
                <a:solidFill>
                  <a:srgbClr val="1E1E1C"/>
                </a:solidFill>
                <a:latin typeface="Arial"/>
              </a:rPr>
              <a:t>The 8th-century Kailasa Temple at Ellora was carved vertically downward from a single cliff, quarrying 200,000 tonnes of basalt.</a:t>
            </a:r>
          </a:p>
          <a:p>
            <a:pPr algn="l">
              <a:lnSpc>
                <a:spcPct val="110000"/>
              </a:lnSpc>
              <a:spcAft>
                <a:spcPts val="1200"/>
              </a:spcAft>
            </a:pPr>
            <a:r>
              <a:rPr sz="1450" b="1">
                <a:solidFill>
                  <a:srgbClr val="D49B24"/>
                </a:solidFill>
                <a:latin typeface="Arial"/>
              </a:rPr>
              <a:t>▪  </a:t>
            </a:r>
            <a:r>
              <a:rPr sz="1450" b="1">
                <a:solidFill>
                  <a:srgbClr val="1E1E1C"/>
                </a:solidFill>
                <a:latin typeface="Arial"/>
              </a:rPr>
              <a:t>Three Sacred Styles: </a:t>
            </a:r>
            <a:r>
              <a:rPr sz="1450" b="0">
                <a:solidFill>
                  <a:srgbClr val="1E1E1C"/>
                </a:solidFill>
                <a:latin typeface="Arial"/>
              </a:rPr>
              <a:t>Temple architecture codified into Nagara (northern curvilinear spires), Dravida (pyramidal towers), and Vesara hybrid forms.</a:t>
            </a:r>
          </a:p>
          <a:p>
            <a:pPr algn="l">
              <a:lnSpc>
                <a:spcPct val="110000"/>
              </a:lnSpc>
              <a:spcAft>
                <a:spcPts val="1200"/>
              </a:spcAft>
            </a:pPr>
            <a:r>
              <a:rPr sz="1450" b="1">
                <a:solidFill>
                  <a:srgbClr val="D49B24"/>
                </a:solidFill>
                <a:latin typeface="Arial"/>
              </a:rPr>
              <a:t>▪  </a:t>
            </a:r>
            <a:r>
              <a:rPr sz="1450" b="1">
                <a:solidFill>
                  <a:srgbClr val="1E1E1C"/>
                </a:solidFill>
                <a:latin typeface="Arial"/>
              </a:rPr>
              <a:t>Vastu Mandala Precision: </a:t>
            </a:r>
            <a:r>
              <a:rPr sz="1450" b="0">
                <a:solidFill>
                  <a:srgbClr val="1E1E1C"/>
                </a:solidFill>
                <a:latin typeface="Arial"/>
              </a:rPr>
              <a:t>Sanctums are geometrically aligned to cardinal directions as sacred cosmic models, balancing astronomy and sacred geometry.</a:t>
            </a:r>
          </a:p>
          <a:p>
            <a:pPr algn="l">
              <a:lnSpc>
                <a:spcPct val="110000"/>
              </a:lnSpc>
              <a:spcAft>
                <a:spcPts val="1200"/>
              </a:spcAft>
            </a:pPr>
            <a:r>
              <a:rPr sz="1450" b="1">
                <a:solidFill>
                  <a:srgbClr val="D49B24"/>
                </a:solidFill>
                <a:latin typeface="Arial"/>
              </a:rPr>
              <a:t>▪  </a:t>
            </a:r>
            <a:r>
              <a:rPr sz="1450" b="1">
                <a:solidFill>
                  <a:srgbClr val="1E1E1C"/>
                </a:solidFill>
                <a:latin typeface="Arial"/>
              </a:rPr>
              <a:t>Living Sacred Masterpieces: </a:t>
            </a:r>
            <a:r>
              <a:rPr sz="1450" b="0">
                <a:solidFill>
                  <a:srgbClr val="1E1E1C"/>
                </a:solidFill>
                <a:latin typeface="Arial"/>
              </a:rPr>
              <a:t>From the rock-cut frescoes of Ajanta to the granite majesty of Thanjavur, stone monuments act as open-air scriptures.</a:t>
            </a:r>
          </a:p>
        </p:txBody>
      </p:sp>
      <p:sp>
        <p:nvSpPr>
          <p:cNvPr id="6" name="Rounded Rectangle 5"/>
          <p:cNvSpPr/>
          <p:nvPr/>
        </p:nvSpPr>
        <p:spPr>
          <a:xfrm>
            <a:off x="731520" y="5074920"/>
            <a:ext cx="6217920" cy="1143000"/>
          </a:xfrm>
          <a:prstGeom prst="roundRect">
            <a:avLst>
              <a:gd name="adj" fmla="val 4000"/>
            </a:avLst>
          </a:prstGeom>
          <a:solidFill>
            <a:srgbClr val="1A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5074920"/>
            <a:ext cx="91440" cy="1143000"/>
          </a:xfrm>
          <a:prstGeom prst="rect">
            <a:avLst/>
          </a:prstGeom>
          <a:solidFill>
            <a:srgbClr val="D49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5202936"/>
            <a:ext cx="5760720" cy="594360"/>
          </a:xfrm>
          <a:prstGeom prst="rect">
            <a:avLst/>
          </a:prstGeom>
          <a:noFill/>
        </p:spPr>
        <p:txBody>
          <a:bodyPr wrap="square" lIns="0" tIns="0" rIns="0" bIns="0" anchor="t">
            <a:noAutofit/>
          </a:bodyPr>
          <a:lstStyle/>
          <a:p>
            <a:pPr algn="l">
              <a:lnSpc>
                <a:spcPct val="105000"/>
              </a:lnSpc>
              <a:spcAft>
                <a:spcPts val="0"/>
              </a:spcAft>
            </a:pPr>
            <a:r>
              <a:rPr sz="1400" b="1" i="0">
                <a:solidFill>
                  <a:srgbClr val="F7DC8B"/>
                </a:solidFill>
                <a:latin typeface="Georgia"/>
              </a:rPr>
              <a:t>42 UNESCO Sites</a:t>
            </a:r>
          </a:p>
        </p:txBody>
      </p:sp>
      <p:sp>
        <p:nvSpPr>
          <p:cNvPr id="9" name="Rectangle 8"/>
          <p:cNvSpPr/>
          <p:nvPr/>
        </p:nvSpPr>
        <p:spPr>
          <a:xfrm>
            <a:off x="987552" y="5824728"/>
            <a:ext cx="5705856" cy="10972"/>
          </a:xfrm>
          <a:prstGeom prst="rect">
            <a:avLst/>
          </a:prstGeom>
          <a:solidFill>
            <a:srgbClr val="D49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87552" y="5879592"/>
            <a:ext cx="5705856" cy="411480"/>
          </a:xfrm>
          <a:prstGeom prst="rect">
            <a:avLst/>
          </a:prstGeom>
          <a:noFill/>
        </p:spPr>
        <p:txBody>
          <a:bodyPr wrap="square" lIns="0" tIns="0" rIns="0" bIns="0" anchor="t">
            <a:noAutofit/>
          </a:bodyPr>
          <a:lstStyle/>
          <a:p>
            <a:pPr algn="l">
              <a:lnSpc>
                <a:spcPct val="104000"/>
              </a:lnSpc>
              <a:spcAft>
                <a:spcPts val="0"/>
              </a:spcAft>
            </a:pPr>
            <a:r>
              <a:rPr sz="950" b="0" i="0">
                <a:solidFill>
                  <a:srgbClr val="F2EBE0"/>
                </a:solidFill>
                <a:latin typeface="Arial"/>
              </a:rPr>
              <a:t>34 cultural world heritage monuments protected across the Indian subcontinent</a:t>
            </a:r>
          </a:p>
        </p:txBody>
      </p:sp>
      <p:sp>
        <p:nvSpPr>
          <p:cNvPr id="11" name="Rounded Rectangle 10"/>
          <p:cNvSpPr/>
          <p:nvPr/>
        </p:nvSpPr>
        <p:spPr>
          <a:xfrm>
            <a:off x="7208215" y="1508760"/>
            <a:ext cx="4297679" cy="4754879"/>
          </a:xfrm>
          <a:prstGeom prst="roundRect">
            <a:avLst>
              <a:gd name="adj" fmla="val 3000"/>
            </a:avLst>
          </a:prstGeom>
          <a:solidFill>
            <a:srgbClr val="1A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rchitecture.jpg"/>
          <p:cNvPicPr>
            <a:picLocks noChangeAspect="1"/>
          </p:cNvPicPr>
          <p:nvPr/>
        </p:nvPicPr>
        <p:blipFill>
          <a:blip r:embed="rId3"/>
          <a:stretch>
            <a:fillRect/>
          </a:stretch>
        </p:blipFill>
        <p:spPr>
          <a:xfrm>
            <a:off x="7253935" y="1554480"/>
            <a:ext cx="4206240" cy="4663440"/>
          </a:xfrm>
          <a:prstGeom prst="rect">
            <a:avLst/>
          </a:prstGeom>
        </p:spPr>
      </p:pic>
      <p:sp>
        <p:nvSpPr>
          <p:cNvPr id="13" name="Rectangle 12"/>
          <p:cNvSpPr/>
          <p:nvPr/>
        </p:nvSpPr>
        <p:spPr>
          <a:xfrm>
            <a:off x="7253935" y="5486400"/>
            <a:ext cx="4206240" cy="731520"/>
          </a:xfrm>
          <a:prstGeom prst="rect">
            <a:avLst/>
          </a:prstGeom>
          <a:solidFill>
            <a:srgbClr val="1A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253935" y="5486400"/>
            <a:ext cx="4206240" cy="36576"/>
          </a:xfrm>
          <a:prstGeom prst="rect">
            <a:avLst/>
          </a:prstGeom>
          <a:solidFill>
            <a:srgbClr val="D49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82535" y="5596128"/>
            <a:ext cx="3749039" cy="256032"/>
          </a:xfrm>
          <a:prstGeom prst="rect">
            <a:avLst/>
          </a:prstGeom>
          <a:noFill/>
        </p:spPr>
        <p:txBody>
          <a:bodyPr wrap="square" lIns="0" tIns="0" rIns="0" bIns="0" anchor="t">
            <a:noAutofit/>
          </a:bodyPr>
          <a:lstStyle/>
          <a:p>
            <a:pPr algn="l">
              <a:lnSpc>
                <a:spcPct val="105000"/>
              </a:lnSpc>
              <a:spcAft>
                <a:spcPts val="0"/>
              </a:spcAft>
            </a:pPr>
            <a:r>
              <a:rPr sz="950" b="1" i="0">
                <a:solidFill>
                  <a:srgbClr val="F7DC8B"/>
                </a:solidFill>
                <a:latin typeface="Arial"/>
              </a:rPr>
              <a:t>SACRED GEOMETRY IN STONE</a:t>
            </a:r>
          </a:p>
        </p:txBody>
      </p:sp>
      <p:sp>
        <p:nvSpPr>
          <p:cNvPr id="16" name="TextBox 15"/>
          <p:cNvSpPr txBox="1"/>
          <p:nvPr/>
        </p:nvSpPr>
        <p:spPr>
          <a:xfrm>
            <a:off x="7482535" y="5833872"/>
            <a:ext cx="3749039" cy="320040"/>
          </a:xfrm>
          <a:prstGeom prst="rect">
            <a:avLst/>
          </a:prstGeom>
          <a:noFill/>
        </p:spPr>
        <p:txBody>
          <a:bodyPr wrap="square" lIns="0" tIns="0" rIns="0" bIns="0" anchor="t">
            <a:noAutofit/>
          </a:bodyPr>
          <a:lstStyle/>
          <a:p>
            <a:pPr algn="l">
              <a:lnSpc>
                <a:spcPct val="105000"/>
              </a:lnSpc>
              <a:spcAft>
                <a:spcPts val="0"/>
              </a:spcAft>
            </a:pPr>
            <a:r>
              <a:rPr sz="1100" b="0" i="0">
                <a:solidFill>
                  <a:srgbClr val="FFFFFF"/>
                </a:solidFill>
                <a:latin typeface="Georgia"/>
              </a:rPr>
              <a:t>Sun Temple Konark &amp; Kailasa Monolith</a:t>
            </a:r>
          </a:p>
        </p:txBody>
      </p:sp>
      <p:sp>
        <p:nvSpPr>
          <p:cNvPr id="17" name="Rectangle 16"/>
          <p:cNvSpPr/>
          <p:nvPr/>
        </p:nvSpPr>
        <p:spPr>
          <a:xfrm>
            <a:off x="731520" y="6400800"/>
            <a:ext cx="10728655" cy="10972"/>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6473952"/>
            <a:ext cx="7772400" cy="256032"/>
          </a:xfrm>
          <a:prstGeom prst="rect">
            <a:avLst/>
          </a:prstGeom>
          <a:noFill/>
        </p:spPr>
        <p:txBody>
          <a:bodyPr wrap="square" lIns="0" tIns="0" rIns="0" bIns="0" anchor="t">
            <a:noAutofit/>
          </a:bodyPr>
          <a:lstStyle/>
          <a:p>
            <a:pPr algn="l">
              <a:lnSpc>
                <a:spcPct val="105000"/>
              </a:lnSpc>
              <a:spcAft>
                <a:spcPts val="0"/>
              </a:spcAft>
            </a:pPr>
            <a:r>
              <a:rPr sz="850" b="0" i="0">
                <a:solidFill>
                  <a:srgbClr val="67645E"/>
                </a:solidFill>
                <a:latin typeface="Arial"/>
              </a:rPr>
              <a:t>The Living Civilization: Five Millennia of Indian Culture, Philosophy, and Heritage</a:t>
            </a:r>
          </a:p>
        </p:txBody>
      </p:sp>
      <p:sp>
        <p:nvSpPr>
          <p:cNvPr id="19" name="TextBox 18"/>
          <p:cNvSpPr txBox="1"/>
          <p:nvPr/>
        </p:nvSpPr>
        <p:spPr>
          <a:xfrm>
            <a:off x="9631375" y="6473952"/>
            <a:ext cx="1828800" cy="256032"/>
          </a:xfrm>
          <a:prstGeom prst="rect">
            <a:avLst/>
          </a:prstGeom>
          <a:noFill/>
        </p:spPr>
        <p:txBody>
          <a:bodyPr wrap="square" lIns="0" tIns="0" rIns="0" bIns="0" anchor="t">
            <a:noAutofit/>
          </a:bodyPr>
          <a:lstStyle/>
          <a:p>
            <a:pPr algn="r">
              <a:lnSpc>
                <a:spcPct val="105000"/>
              </a:lnSpc>
              <a:spcAft>
                <a:spcPts val="0"/>
              </a:spcAft>
            </a:pPr>
            <a:r>
              <a:rPr sz="850" b="1" i="0">
                <a:solidFill>
                  <a:srgbClr val="67645E"/>
                </a:solidFill>
                <a:latin typeface="Arial"/>
              </a:rPr>
              <a:t>05 / 11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6EE"/>
        </a:solidFill>
        <a:effectLst/>
      </p:bgPr>
    </p:bg>
    <p:spTree>
      <p:nvGrpSpPr>
        <p:cNvPr id="1" name=""/>
        <p:cNvGrpSpPr/>
        <p:nvPr/>
      </p:nvGrpSpPr>
      <p:grpSpPr>
        <a:xfrm>
          <a:off x="0" y="0"/>
          <a:ext cx="0" cy="0"/>
          <a:chOff x="0" y="0"/>
          <a:chExt cx="0" cy="0"/>
        </a:xfrm>
      </p:grpSpPr>
      <p:sp>
        <p:nvSpPr>
          <p:cNvPr id="2" name="TextBox 1"/>
          <p:cNvSpPr txBox="1"/>
          <p:nvPr/>
        </p:nvSpPr>
        <p:spPr>
          <a:xfrm>
            <a:off x="731520" y="438912"/>
            <a:ext cx="10728655" cy="237744"/>
          </a:xfrm>
          <a:prstGeom prst="rect">
            <a:avLst/>
          </a:prstGeom>
          <a:noFill/>
        </p:spPr>
        <p:txBody>
          <a:bodyPr wrap="square" lIns="0" tIns="0" rIns="0" bIns="0" anchor="t">
            <a:noAutofit/>
          </a:bodyPr>
          <a:lstStyle/>
          <a:p>
            <a:pPr algn="l">
              <a:lnSpc>
                <a:spcPct val="105000"/>
              </a:lnSpc>
              <a:spcAft>
                <a:spcPts val="0"/>
              </a:spcAft>
            </a:pPr>
            <a:r>
              <a:rPr sz="1050" b="1" i="0">
                <a:solidFill>
                  <a:srgbClr val="D49B24"/>
                </a:solidFill>
                <a:latin typeface="Arial"/>
              </a:rPr>
              <a:t>DEMOGRAPHIC MOSAIC</a:t>
            </a:r>
          </a:p>
        </p:txBody>
      </p:sp>
      <p:sp>
        <p:nvSpPr>
          <p:cNvPr id="3" name="TextBox 2"/>
          <p:cNvSpPr txBox="1"/>
          <p:nvPr/>
        </p:nvSpPr>
        <p:spPr>
          <a:xfrm>
            <a:off x="731520" y="676656"/>
            <a:ext cx="10728655" cy="566928"/>
          </a:xfrm>
          <a:prstGeom prst="rect">
            <a:avLst/>
          </a:prstGeom>
          <a:noFill/>
        </p:spPr>
        <p:txBody>
          <a:bodyPr wrap="square" lIns="0" tIns="0" rIns="0" bIns="0" anchor="t">
            <a:noAutofit/>
          </a:bodyPr>
          <a:lstStyle/>
          <a:p>
            <a:pPr algn="l">
              <a:lnSpc>
                <a:spcPct val="105000"/>
              </a:lnSpc>
              <a:spcAft>
                <a:spcPts val="0"/>
              </a:spcAft>
            </a:pPr>
            <a:r>
              <a:rPr sz="2600" b="1" i="0">
                <a:solidFill>
                  <a:srgbClr val="1A2836"/>
                </a:solidFill>
                <a:latin typeface="Georgia"/>
              </a:rPr>
              <a:t>The World's Most Pluralistic Society by the Numbers</a:t>
            </a:r>
          </a:p>
        </p:txBody>
      </p:sp>
      <p:sp>
        <p:nvSpPr>
          <p:cNvPr id="4" name="Rectangle 3"/>
          <p:cNvSpPr/>
          <p:nvPr/>
        </p:nvSpPr>
        <p:spPr>
          <a:xfrm>
            <a:off x="731520" y="1316736"/>
            <a:ext cx="10728655" cy="12801"/>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600200"/>
            <a:ext cx="5193792" cy="2194560"/>
          </a:xfrm>
          <a:prstGeom prst="roundRect">
            <a:avLst>
              <a:gd name="adj" fmla="val 4000"/>
            </a:avLst>
          </a:prstGeom>
          <a:solidFill>
            <a:srgbClr val="1A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600200"/>
            <a:ext cx="109728" cy="2194560"/>
          </a:xfrm>
          <a:prstGeom prst="rect">
            <a:avLst/>
          </a:prstGeom>
          <a:solidFill>
            <a:srgbClr val="D49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1783080"/>
            <a:ext cx="4645152" cy="777240"/>
          </a:xfrm>
          <a:prstGeom prst="rect">
            <a:avLst/>
          </a:prstGeom>
          <a:noFill/>
        </p:spPr>
        <p:txBody>
          <a:bodyPr wrap="square" lIns="0" tIns="0" rIns="0" bIns="0" anchor="t">
            <a:noAutofit/>
          </a:bodyPr>
          <a:lstStyle/>
          <a:p>
            <a:pPr algn="l">
              <a:lnSpc>
                <a:spcPct val="105000"/>
              </a:lnSpc>
              <a:spcAft>
                <a:spcPts val="0"/>
              </a:spcAft>
            </a:pPr>
            <a:r>
              <a:rPr sz="5000" b="1" i="0">
                <a:solidFill>
                  <a:srgbClr val="F7DC8B"/>
                </a:solidFill>
                <a:latin typeface="Georgia"/>
              </a:rPr>
              <a:t>22</a:t>
            </a:r>
          </a:p>
        </p:txBody>
      </p:sp>
      <p:sp>
        <p:nvSpPr>
          <p:cNvPr id="8" name="TextBox 7"/>
          <p:cNvSpPr txBox="1"/>
          <p:nvPr/>
        </p:nvSpPr>
        <p:spPr>
          <a:xfrm>
            <a:off x="1097280" y="2560320"/>
            <a:ext cx="4645152" cy="347472"/>
          </a:xfrm>
          <a:prstGeom prst="rect">
            <a:avLst/>
          </a:prstGeom>
          <a:noFill/>
        </p:spPr>
        <p:txBody>
          <a:bodyPr wrap="square" lIns="0" tIns="0" rIns="0" bIns="0" anchor="t">
            <a:noAutofit/>
          </a:bodyPr>
          <a:lstStyle/>
          <a:p>
            <a:pPr algn="l">
              <a:lnSpc>
                <a:spcPct val="105000"/>
              </a:lnSpc>
              <a:spcAft>
                <a:spcPts val="0"/>
              </a:spcAft>
            </a:pPr>
            <a:r>
              <a:rPr sz="1500" b="1" i="0">
                <a:solidFill>
                  <a:srgbClr val="FFFFFF"/>
                </a:solidFill>
                <a:latin typeface="Arial"/>
              </a:rPr>
              <a:t>Constitutional Languages</a:t>
            </a:r>
          </a:p>
        </p:txBody>
      </p:sp>
      <p:sp>
        <p:nvSpPr>
          <p:cNvPr id="9" name="Rectangle 8"/>
          <p:cNvSpPr/>
          <p:nvPr/>
        </p:nvSpPr>
        <p:spPr>
          <a:xfrm>
            <a:off x="1097280" y="2953512"/>
            <a:ext cx="4462272" cy="10972"/>
          </a:xfrm>
          <a:prstGeom prst="rect">
            <a:avLst/>
          </a:prstGeom>
          <a:solidFill>
            <a:srgbClr val="D49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280" y="3044952"/>
            <a:ext cx="4645152" cy="594360"/>
          </a:xfrm>
          <a:prstGeom prst="rect">
            <a:avLst/>
          </a:prstGeom>
          <a:noFill/>
        </p:spPr>
        <p:txBody>
          <a:bodyPr wrap="square" lIns="0" tIns="0" rIns="0" bIns="0" anchor="t">
            <a:noAutofit/>
          </a:bodyPr>
          <a:lstStyle/>
          <a:p>
            <a:pPr algn="l">
              <a:lnSpc>
                <a:spcPct val="110000"/>
              </a:lnSpc>
              <a:spcAft>
                <a:spcPts val="0"/>
              </a:spcAft>
            </a:pPr>
            <a:r>
              <a:rPr sz="1100" b="0" i="0">
                <a:solidFill>
                  <a:srgbClr val="F2EBE0"/>
                </a:solidFill>
                <a:latin typeface="Arial"/>
              </a:rPr>
              <a:t>Recognized under the Eighth Schedule across four major linguistic families</a:t>
            </a:r>
          </a:p>
        </p:txBody>
      </p:sp>
      <p:sp>
        <p:nvSpPr>
          <p:cNvPr id="11" name="Rounded Rectangle 10"/>
          <p:cNvSpPr/>
          <p:nvPr/>
        </p:nvSpPr>
        <p:spPr>
          <a:xfrm>
            <a:off x="6266383" y="1600200"/>
            <a:ext cx="5193792" cy="2194560"/>
          </a:xfrm>
          <a:prstGeom prst="roundRect">
            <a:avLst>
              <a:gd name="adj" fmla="val 4000"/>
            </a:avLst>
          </a:prstGeom>
          <a:solidFill>
            <a:srgbClr val="2E1D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66383" y="1600200"/>
            <a:ext cx="109728" cy="2194560"/>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32143" y="1783080"/>
            <a:ext cx="4645152" cy="777240"/>
          </a:xfrm>
          <a:prstGeom prst="rect">
            <a:avLst/>
          </a:prstGeom>
          <a:noFill/>
        </p:spPr>
        <p:txBody>
          <a:bodyPr wrap="square" lIns="0" tIns="0" rIns="0" bIns="0" anchor="t">
            <a:noAutofit/>
          </a:bodyPr>
          <a:lstStyle/>
          <a:p>
            <a:pPr algn="l">
              <a:lnSpc>
                <a:spcPct val="105000"/>
              </a:lnSpc>
              <a:spcAft>
                <a:spcPts val="0"/>
              </a:spcAft>
            </a:pPr>
            <a:r>
              <a:rPr sz="5000" b="1" i="0">
                <a:solidFill>
                  <a:srgbClr val="F7DC8B"/>
                </a:solidFill>
                <a:latin typeface="Georgia"/>
              </a:rPr>
              <a:t>42</a:t>
            </a:r>
          </a:p>
        </p:txBody>
      </p:sp>
      <p:sp>
        <p:nvSpPr>
          <p:cNvPr id="14" name="TextBox 13"/>
          <p:cNvSpPr txBox="1"/>
          <p:nvPr/>
        </p:nvSpPr>
        <p:spPr>
          <a:xfrm>
            <a:off x="6632143" y="2560320"/>
            <a:ext cx="4645152" cy="347472"/>
          </a:xfrm>
          <a:prstGeom prst="rect">
            <a:avLst/>
          </a:prstGeom>
          <a:noFill/>
        </p:spPr>
        <p:txBody>
          <a:bodyPr wrap="square" lIns="0" tIns="0" rIns="0" bIns="0" anchor="t">
            <a:noAutofit/>
          </a:bodyPr>
          <a:lstStyle/>
          <a:p>
            <a:pPr algn="l">
              <a:lnSpc>
                <a:spcPct val="105000"/>
              </a:lnSpc>
              <a:spcAft>
                <a:spcPts val="0"/>
              </a:spcAft>
            </a:pPr>
            <a:r>
              <a:rPr sz="1500" b="1" i="0">
                <a:solidFill>
                  <a:srgbClr val="FFFFFF"/>
                </a:solidFill>
                <a:latin typeface="Arial"/>
              </a:rPr>
              <a:t>UNESCO World Heritage Sites</a:t>
            </a:r>
          </a:p>
        </p:txBody>
      </p:sp>
      <p:sp>
        <p:nvSpPr>
          <p:cNvPr id="15" name="Rectangle 14"/>
          <p:cNvSpPr/>
          <p:nvPr/>
        </p:nvSpPr>
        <p:spPr>
          <a:xfrm>
            <a:off x="6632143" y="2953512"/>
            <a:ext cx="4462272" cy="10972"/>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32143" y="3044952"/>
            <a:ext cx="4645152" cy="594360"/>
          </a:xfrm>
          <a:prstGeom prst="rect">
            <a:avLst/>
          </a:prstGeom>
          <a:noFill/>
        </p:spPr>
        <p:txBody>
          <a:bodyPr wrap="square" lIns="0" tIns="0" rIns="0" bIns="0" anchor="t">
            <a:noAutofit/>
          </a:bodyPr>
          <a:lstStyle/>
          <a:p>
            <a:pPr algn="l">
              <a:lnSpc>
                <a:spcPct val="110000"/>
              </a:lnSpc>
              <a:spcAft>
                <a:spcPts val="0"/>
              </a:spcAft>
            </a:pPr>
            <a:r>
              <a:rPr sz="1100" b="0" i="0">
                <a:solidFill>
                  <a:srgbClr val="F2EBE0"/>
                </a:solidFill>
                <a:latin typeface="Arial"/>
              </a:rPr>
              <a:t>34 cultural monuments celebrating millennia of artistic and engineering mastery</a:t>
            </a:r>
          </a:p>
        </p:txBody>
      </p:sp>
      <p:sp>
        <p:nvSpPr>
          <p:cNvPr id="17" name="Rounded Rectangle 16"/>
          <p:cNvSpPr/>
          <p:nvPr/>
        </p:nvSpPr>
        <p:spPr>
          <a:xfrm>
            <a:off x="731520" y="4050791"/>
            <a:ext cx="5193792" cy="2194560"/>
          </a:xfrm>
          <a:prstGeom prst="roundRect">
            <a:avLst>
              <a:gd name="adj" fmla="val 4000"/>
            </a:avLst>
          </a:prstGeom>
          <a:solidFill>
            <a:srgbClr val="2E1D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31520" y="4050791"/>
            <a:ext cx="109728" cy="2194560"/>
          </a:xfrm>
          <a:prstGeom prst="rect">
            <a:avLst/>
          </a:prstGeom>
          <a:solidFill>
            <a:srgbClr val="0C6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97280" y="4233672"/>
            <a:ext cx="4645152" cy="777240"/>
          </a:xfrm>
          <a:prstGeom prst="rect">
            <a:avLst/>
          </a:prstGeom>
          <a:noFill/>
        </p:spPr>
        <p:txBody>
          <a:bodyPr wrap="square" lIns="0" tIns="0" rIns="0" bIns="0" anchor="t">
            <a:noAutofit/>
          </a:bodyPr>
          <a:lstStyle/>
          <a:p>
            <a:pPr algn="l">
              <a:lnSpc>
                <a:spcPct val="105000"/>
              </a:lnSpc>
              <a:spcAft>
                <a:spcPts val="0"/>
              </a:spcAft>
            </a:pPr>
            <a:r>
              <a:rPr sz="5000" b="1" i="0">
                <a:solidFill>
                  <a:srgbClr val="F7DC8B"/>
                </a:solidFill>
                <a:latin typeface="Georgia"/>
              </a:rPr>
              <a:t>240M+</a:t>
            </a:r>
          </a:p>
        </p:txBody>
      </p:sp>
      <p:sp>
        <p:nvSpPr>
          <p:cNvPr id="20" name="TextBox 19"/>
          <p:cNvSpPr txBox="1"/>
          <p:nvPr/>
        </p:nvSpPr>
        <p:spPr>
          <a:xfrm>
            <a:off x="1097280" y="5010912"/>
            <a:ext cx="4645152" cy="347472"/>
          </a:xfrm>
          <a:prstGeom prst="rect">
            <a:avLst/>
          </a:prstGeom>
          <a:noFill/>
        </p:spPr>
        <p:txBody>
          <a:bodyPr wrap="square" lIns="0" tIns="0" rIns="0" bIns="0" anchor="t">
            <a:noAutofit/>
          </a:bodyPr>
          <a:lstStyle/>
          <a:p>
            <a:pPr algn="l">
              <a:lnSpc>
                <a:spcPct val="105000"/>
              </a:lnSpc>
              <a:spcAft>
                <a:spcPts val="0"/>
              </a:spcAft>
            </a:pPr>
            <a:r>
              <a:rPr sz="1500" b="1" i="0">
                <a:solidFill>
                  <a:srgbClr val="FFFFFF"/>
                </a:solidFill>
                <a:latin typeface="Arial"/>
              </a:rPr>
              <a:t>Pilgrims at Kumbh Mela</a:t>
            </a:r>
          </a:p>
        </p:txBody>
      </p:sp>
      <p:sp>
        <p:nvSpPr>
          <p:cNvPr id="21" name="Rectangle 20"/>
          <p:cNvSpPr/>
          <p:nvPr/>
        </p:nvSpPr>
        <p:spPr>
          <a:xfrm>
            <a:off x="1097280" y="5404104"/>
            <a:ext cx="4462272" cy="10972"/>
          </a:xfrm>
          <a:prstGeom prst="rect">
            <a:avLst/>
          </a:prstGeom>
          <a:solidFill>
            <a:srgbClr val="0C6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97280" y="5495544"/>
            <a:ext cx="4645152" cy="594360"/>
          </a:xfrm>
          <a:prstGeom prst="rect">
            <a:avLst/>
          </a:prstGeom>
          <a:noFill/>
        </p:spPr>
        <p:txBody>
          <a:bodyPr wrap="square" lIns="0" tIns="0" rIns="0" bIns="0" anchor="t">
            <a:noAutofit/>
          </a:bodyPr>
          <a:lstStyle/>
          <a:p>
            <a:pPr algn="l">
              <a:lnSpc>
                <a:spcPct val="110000"/>
              </a:lnSpc>
              <a:spcAft>
                <a:spcPts val="0"/>
              </a:spcAft>
            </a:pPr>
            <a:r>
              <a:rPr sz="1100" b="0" i="0">
                <a:solidFill>
                  <a:srgbClr val="F2EBE0"/>
                </a:solidFill>
                <a:latin typeface="Arial"/>
              </a:rPr>
              <a:t>The largest peaceful gathering in human history, honored by UNESCO as intangible heritage</a:t>
            </a:r>
          </a:p>
        </p:txBody>
      </p:sp>
      <p:sp>
        <p:nvSpPr>
          <p:cNvPr id="23" name="Rounded Rectangle 22"/>
          <p:cNvSpPr/>
          <p:nvPr/>
        </p:nvSpPr>
        <p:spPr>
          <a:xfrm>
            <a:off x="6266383" y="4050791"/>
            <a:ext cx="5193792" cy="2194560"/>
          </a:xfrm>
          <a:prstGeom prst="roundRect">
            <a:avLst>
              <a:gd name="adj" fmla="val 4000"/>
            </a:avLst>
          </a:prstGeom>
          <a:solidFill>
            <a:srgbClr val="1A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266383" y="4050791"/>
            <a:ext cx="109728" cy="21945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32143" y="4233672"/>
            <a:ext cx="4645152" cy="777240"/>
          </a:xfrm>
          <a:prstGeom prst="rect">
            <a:avLst/>
          </a:prstGeom>
          <a:noFill/>
        </p:spPr>
        <p:txBody>
          <a:bodyPr wrap="square" lIns="0" tIns="0" rIns="0" bIns="0" anchor="t">
            <a:noAutofit/>
          </a:bodyPr>
          <a:lstStyle/>
          <a:p>
            <a:pPr algn="l">
              <a:lnSpc>
                <a:spcPct val="105000"/>
              </a:lnSpc>
              <a:spcAft>
                <a:spcPts val="0"/>
              </a:spcAft>
            </a:pPr>
            <a:r>
              <a:rPr sz="5000" b="1" i="0">
                <a:solidFill>
                  <a:srgbClr val="F7DC8B"/>
                </a:solidFill>
                <a:latin typeface="Georgia"/>
              </a:rPr>
              <a:t>121</a:t>
            </a:r>
          </a:p>
        </p:txBody>
      </p:sp>
      <p:sp>
        <p:nvSpPr>
          <p:cNvPr id="26" name="TextBox 25"/>
          <p:cNvSpPr txBox="1"/>
          <p:nvPr/>
        </p:nvSpPr>
        <p:spPr>
          <a:xfrm>
            <a:off x="6632143" y="5010912"/>
            <a:ext cx="4645152" cy="347472"/>
          </a:xfrm>
          <a:prstGeom prst="rect">
            <a:avLst/>
          </a:prstGeom>
          <a:noFill/>
        </p:spPr>
        <p:txBody>
          <a:bodyPr wrap="square" lIns="0" tIns="0" rIns="0" bIns="0" anchor="t">
            <a:noAutofit/>
          </a:bodyPr>
          <a:lstStyle/>
          <a:p>
            <a:pPr algn="l">
              <a:lnSpc>
                <a:spcPct val="105000"/>
              </a:lnSpc>
              <a:spcAft>
                <a:spcPts val="0"/>
              </a:spcAft>
            </a:pPr>
            <a:r>
              <a:rPr sz="1500" b="1" i="0">
                <a:solidFill>
                  <a:srgbClr val="FFFFFF"/>
                </a:solidFill>
                <a:latin typeface="Arial"/>
              </a:rPr>
              <a:t>Languages with 10k+ Speakers</a:t>
            </a:r>
          </a:p>
        </p:txBody>
      </p:sp>
      <p:sp>
        <p:nvSpPr>
          <p:cNvPr id="27" name="Rectangle 26"/>
          <p:cNvSpPr/>
          <p:nvPr/>
        </p:nvSpPr>
        <p:spPr>
          <a:xfrm>
            <a:off x="6632143" y="5404104"/>
            <a:ext cx="4462272" cy="109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632143" y="5495544"/>
            <a:ext cx="4645152" cy="594360"/>
          </a:xfrm>
          <a:prstGeom prst="rect">
            <a:avLst/>
          </a:prstGeom>
          <a:noFill/>
        </p:spPr>
        <p:txBody>
          <a:bodyPr wrap="square" lIns="0" tIns="0" rIns="0" bIns="0" anchor="t">
            <a:noAutofit/>
          </a:bodyPr>
          <a:lstStyle/>
          <a:p>
            <a:pPr algn="l">
              <a:lnSpc>
                <a:spcPct val="110000"/>
              </a:lnSpc>
              <a:spcAft>
                <a:spcPts val="0"/>
              </a:spcAft>
            </a:pPr>
            <a:r>
              <a:rPr sz="1100" b="0" i="0">
                <a:solidFill>
                  <a:srgbClr val="F2EBE0"/>
                </a:solidFill>
                <a:latin typeface="Arial"/>
              </a:rPr>
              <a:t>Part of a living mosaic containing over 19,500 distinct regional mother tongues</a:t>
            </a:r>
          </a:p>
        </p:txBody>
      </p:sp>
      <p:sp>
        <p:nvSpPr>
          <p:cNvPr id="29" name="Rectangle 28"/>
          <p:cNvSpPr/>
          <p:nvPr/>
        </p:nvSpPr>
        <p:spPr>
          <a:xfrm>
            <a:off x="731520" y="6400800"/>
            <a:ext cx="10728655" cy="10972"/>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6473952"/>
            <a:ext cx="7772400" cy="256032"/>
          </a:xfrm>
          <a:prstGeom prst="rect">
            <a:avLst/>
          </a:prstGeom>
          <a:noFill/>
        </p:spPr>
        <p:txBody>
          <a:bodyPr wrap="square" lIns="0" tIns="0" rIns="0" bIns="0" anchor="t">
            <a:noAutofit/>
          </a:bodyPr>
          <a:lstStyle/>
          <a:p>
            <a:pPr algn="l">
              <a:lnSpc>
                <a:spcPct val="105000"/>
              </a:lnSpc>
              <a:spcAft>
                <a:spcPts val="0"/>
              </a:spcAft>
            </a:pPr>
            <a:r>
              <a:rPr sz="850" b="0" i="0">
                <a:solidFill>
                  <a:srgbClr val="67645E"/>
                </a:solidFill>
                <a:latin typeface="Arial"/>
              </a:rPr>
              <a:t>The Living Civilization: Five Millennia of Indian Culture, Philosophy, and Heritage</a:t>
            </a:r>
          </a:p>
        </p:txBody>
      </p:sp>
      <p:sp>
        <p:nvSpPr>
          <p:cNvPr id="31" name="TextBox 30"/>
          <p:cNvSpPr txBox="1"/>
          <p:nvPr/>
        </p:nvSpPr>
        <p:spPr>
          <a:xfrm>
            <a:off x="9631375" y="6473952"/>
            <a:ext cx="1828800" cy="256032"/>
          </a:xfrm>
          <a:prstGeom prst="rect">
            <a:avLst/>
          </a:prstGeom>
          <a:noFill/>
        </p:spPr>
        <p:txBody>
          <a:bodyPr wrap="square" lIns="0" tIns="0" rIns="0" bIns="0" anchor="t">
            <a:noAutofit/>
          </a:bodyPr>
          <a:lstStyle/>
          <a:p>
            <a:pPr algn="r">
              <a:lnSpc>
                <a:spcPct val="105000"/>
              </a:lnSpc>
              <a:spcAft>
                <a:spcPts val="0"/>
              </a:spcAft>
            </a:pPr>
            <a:r>
              <a:rPr sz="850" b="1" i="0">
                <a:solidFill>
                  <a:srgbClr val="67645E"/>
                </a:solidFill>
                <a:latin typeface="Arial"/>
              </a:rPr>
              <a:t>06 / 11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6EE"/>
        </a:solidFill>
        <a:effectLst/>
      </p:bgPr>
    </p:bg>
    <p:spTree>
      <p:nvGrpSpPr>
        <p:cNvPr id="1" name=""/>
        <p:cNvGrpSpPr/>
        <p:nvPr/>
      </p:nvGrpSpPr>
      <p:grpSpPr>
        <a:xfrm>
          <a:off x="0" y="0"/>
          <a:ext cx="0" cy="0"/>
          <a:chOff x="0" y="0"/>
          <a:chExt cx="0" cy="0"/>
        </a:xfrm>
      </p:grpSpPr>
      <p:sp>
        <p:nvSpPr>
          <p:cNvPr id="2" name="TextBox 1"/>
          <p:cNvSpPr txBox="1"/>
          <p:nvPr/>
        </p:nvSpPr>
        <p:spPr>
          <a:xfrm>
            <a:off x="731520" y="438912"/>
            <a:ext cx="10728655" cy="237744"/>
          </a:xfrm>
          <a:prstGeom prst="rect">
            <a:avLst/>
          </a:prstGeom>
          <a:noFill/>
        </p:spPr>
        <p:txBody>
          <a:bodyPr wrap="square" lIns="0" tIns="0" rIns="0" bIns="0" anchor="t">
            <a:noAutofit/>
          </a:bodyPr>
          <a:lstStyle/>
          <a:p>
            <a:pPr algn="l">
              <a:lnSpc>
                <a:spcPct val="105000"/>
              </a:lnSpc>
              <a:spcAft>
                <a:spcPts val="0"/>
              </a:spcAft>
            </a:pPr>
            <a:r>
              <a:rPr sz="1050" b="1" i="0">
                <a:solidFill>
                  <a:srgbClr val="D49B24"/>
                </a:solidFill>
                <a:latin typeface="Arial"/>
              </a:rPr>
              <a:t>CIVILIZATIONAL HARMONY</a:t>
            </a:r>
          </a:p>
        </p:txBody>
      </p:sp>
      <p:sp>
        <p:nvSpPr>
          <p:cNvPr id="3" name="TextBox 2"/>
          <p:cNvSpPr txBox="1"/>
          <p:nvPr/>
        </p:nvSpPr>
        <p:spPr>
          <a:xfrm>
            <a:off x="731520" y="676656"/>
            <a:ext cx="10728655" cy="566928"/>
          </a:xfrm>
          <a:prstGeom prst="rect">
            <a:avLst/>
          </a:prstGeom>
          <a:noFill/>
        </p:spPr>
        <p:txBody>
          <a:bodyPr wrap="square" lIns="0" tIns="0" rIns="0" bIns="0" anchor="t">
            <a:noAutofit/>
          </a:bodyPr>
          <a:lstStyle/>
          <a:p>
            <a:pPr algn="l">
              <a:lnSpc>
                <a:spcPct val="105000"/>
              </a:lnSpc>
              <a:spcAft>
                <a:spcPts val="0"/>
              </a:spcAft>
            </a:pPr>
            <a:r>
              <a:rPr sz="2600" b="1" i="0">
                <a:solidFill>
                  <a:srgbClr val="1A2836"/>
                </a:solidFill>
                <a:latin typeface="Georgia"/>
              </a:rPr>
              <a:t>A Universal Message of Tolerance and Acceptance</a:t>
            </a:r>
          </a:p>
        </p:txBody>
      </p:sp>
      <p:sp>
        <p:nvSpPr>
          <p:cNvPr id="4" name="Rectangle 3"/>
          <p:cNvSpPr/>
          <p:nvPr/>
        </p:nvSpPr>
        <p:spPr>
          <a:xfrm>
            <a:off x="731520" y="1316736"/>
            <a:ext cx="10728655" cy="12801"/>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94944" y="1517904"/>
            <a:ext cx="3364992" cy="4736592"/>
          </a:xfrm>
          <a:prstGeom prst="roundRect">
            <a:avLst>
              <a:gd name="adj" fmla="val 3000"/>
            </a:avLst>
          </a:prstGeom>
          <a:solidFill>
            <a:srgbClr val="1A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quote_portrait.jpg"/>
          <p:cNvPicPr>
            <a:picLocks noChangeAspect="1"/>
          </p:cNvPicPr>
          <p:nvPr/>
        </p:nvPicPr>
        <p:blipFill>
          <a:blip r:embed="rId3"/>
          <a:stretch>
            <a:fillRect/>
          </a:stretch>
        </p:blipFill>
        <p:spPr>
          <a:xfrm>
            <a:off x="731520" y="1554480"/>
            <a:ext cx="3291840" cy="4663440"/>
          </a:xfrm>
          <a:prstGeom prst="rect">
            <a:avLst/>
          </a:prstGeom>
        </p:spPr>
      </p:pic>
      <p:sp>
        <p:nvSpPr>
          <p:cNvPr id="7" name="Rectangle 6"/>
          <p:cNvSpPr/>
          <p:nvPr/>
        </p:nvSpPr>
        <p:spPr>
          <a:xfrm>
            <a:off x="731520" y="5532120"/>
            <a:ext cx="3291840" cy="685800"/>
          </a:xfrm>
          <a:prstGeom prst="rect">
            <a:avLst/>
          </a:prstGeom>
          <a:solidFill>
            <a:srgbClr val="1A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5532120"/>
            <a:ext cx="3291840" cy="27432"/>
          </a:xfrm>
          <a:prstGeom prst="rect">
            <a:avLst/>
          </a:prstGeom>
          <a:solidFill>
            <a:srgbClr val="D49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5623559"/>
            <a:ext cx="2926080" cy="228600"/>
          </a:xfrm>
          <a:prstGeom prst="rect">
            <a:avLst/>
          </a:prstGeom>
          <a:noFill/>
        </p:spPr>
        <p:txBody>
          <a:bodyPr wrap="square" lIns="0" tIns="0" rIns="0" bIns="0" anchor="t">
            <a:noAutofit/>
          </a:bodyPr>
          <a:lstStyle/>
          <a:p>
            <a:pPr algn="ctr">
              <a:lnSpc>
                <a:spcPct val="105000"/>
              </a:lnSpc>
              <a:spcAft>
                <a:spcPts val="0"/>
              </a:spcAft>
            </a:pPr>
            <a:r>
              <a:rPr sz="1000" b="1" i="0">
                <a:solidFill>
                  <a:srgbClr val="F7DC8B"/>
                </a:solidFill>
                <a:latin typeface="Arial"/>
              </a:rPr>
              <a:t>SWAMI VIVEKANANDA</a:t>
            </a:r>
          </a:p>
        </p:txBody>
      </p:sp>
      <p:sp>
        <p:nvSpPr>
          <p:cNvPr id="10" name="TextBox 9"/>
          <p:cNvSpPr txBox="1"/>
          <p:nvPr/>
        </p:nvSpPr>
        <p:spPr>
          <a:xfrm>
            <a:off x="914400" y="5852159"/>
            <a:ext cx="2926080" cy="274320"/>
          </a:xfrm>
          <a:prstGeom prst="rect">
            <a:avLst/>
          </a:prstGeom>
          <a:noFill/>
        </p:spPr>
        <p:txBody>
          <a:bodyPr wrap="square" lIns="0" tIns="0" rIns="0" bIns="0" anchor="t">
            <a:noAutofit/>
          </a:bodyPr>
          <a:lstStyle/>
          <a:p>
            <a:pPr algn="ctr">
              <a:lnSpc>
                <a:spcPct val="105000"/>
              </a:lnSpc>
              <a:spcAft>
                <a:spcPts val="0"/>
              </a:spcAft>
            </a:pPr>
            <a:r>
              <a:rPr sz="950" b="0" i="0">
                <a:solidFill>
                  <a:srgbClr val="F2EBE0"/>
                </a:solidFill>
                <a:latin typeface="Arial"/>
              </a:rPr>
              <a:t>Chicago, 1893</a:t>
            </a:r>
          </a:p>
        </p:txBody>
      </p:sp>
      <p:sp>
        <p:nvSpPr>
          <p:cNvPr id="11" name="Rounded Rectangle 10"/>
          <p:cNvSpPr/>
          <p:nvPr/>
        </p:nvSpPr>
        <p:spPr>
          <a:xfrm>
            <a:off x="4327855" y="1554480"/>
            <a:ext cx="7132320" cy="4663440"/>
          </a:xfrm>
          <a:prstGeom prst="roundRect">
            <a:avLst>
              <a:gd name="adj" fmla="val 3000"/>
            </a:avLst>
          </a:prstGeom>
          <a:solidFill>
            <a:srgbClr val="FFFFFF"/>
          </a:solidFill>
          <a:ln w="12700">
            <a:solidFill>
              <a:srgbClr val="E0D7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27855" y="1554480"/>
            <a:ext cx="7132320" cy="109728"/>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85055" y="1783080"/>
            <a:ext cx="1097280" cy="731520"/>
          </a:xfrm>
          <a:prstGeom prst="rect">
            <a:avLst/>
          </a:prstGeom>
          <a:noFill/>
        </p:spPr>
        <p:txBody>
          <a:bodyPr wrap="square" lIns="0" tIns="0" rIns="0" bIns="0" anchor="t">
            <a:noAutofit/>
          </a:bodyPr>
          <a:lstStyle/>
          <a:p>
            <a:pPr algn="l">
              <a:lnSpc>
                <a:spcPct val="105000"/>
              </a:lnSpc>
              <a:spcAft>
                <a:spcPts val="0"/>
              </a:spcAft>
            </a:pPr>
            <a:r>
              <a:rPr sz="6000" b="1" i="0">
                <a:solidFill>
                  <a:srgbClr val="D49B24"/>
                </a:solidFill>
                <a:latin typeface="Georgia"/>
              </a:rPr>
              <a:t>“</a:t>
            </a:r>
          </a:p>
        </p:txBody>
      </p:sp>
      <p:sp>
        <p:nvSpPr>
          <p:cNvPr id="14" name="TextBox 13"/>
          <p:cNvSpPr txBox="1"/>
          <p:nvPr/>
        </p:nvSpPr>
        <p:spPr>
          <a:xfrm>
            <a:off x="4785055" y="2331720"/>
            <a:ext cx="6217920" cy="1508760"/>
          </a:xfrm>
          <a:prstGeom prst="rect">
            <a:avLst/>
          </a:prstGeom>
          <a:noFill/>
        </p:spPr>
        <p:txBody>
          <a:bodyPr wrap="square" lIns="0" tIns="0" rIns="0" bIns="0" anchor="t">
            <a:noAutofit/>
          </a:bodyPr>
          <a:lstStyle/>
          <a:p>
            <a:pPr algn="l">
              <a:lnSpc>
                <a:spcPct val="118000"/>
              </a:lnSpc>
              <a:spcAft>
                <a:spcPts val="0"/>
              </a:spcAft>
            </a:pPr>
            <a:r>
              <a:rPr sz="1750" b="0" i="1">
                <a:solidFill>
                  <a:srgbClr val="1A2836"/>
                </a:solidFill>
                <a:latin typeface="Georgia"/>
              </a:rPr>
              <a:t>"I am proud to belong to a religion which has taught the world both tolerance and universal acceptance. We believe not only in universal toleration, but we accept all religions as true."</a:t>
            </a:r>
          </a:p>
        </p:txBody>
      </p:sp>
      <p:sp>
        <p:nvSpPr>
          <p:cNvPr id="15" name="Rectangle 14"/>
          <p:cNvSpPr/>
          <p:nvPr/>
        </p:nvSpPr>
        <p:spPr>
          <a:xfrm>
            <a:off x="4785055" y="3931920"/>
            <a:ext cx="6217920" cy="10972"/>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785055" y="4069080"/>
            <a:ext cx="6217920" cy="320040"/>
          </a:xfrm>
          <a:prstGeom prst="rect">
            <a:avLst/>
          </a:prstGeom>
          <a:noFill/>
        </p:spPr>
        <p:txBody>
          <a:bodyPr wrap="square" lIns="0" tIns="0" rIns="0" bIns="0" anchor="t">
            <a:noAutofit/>
          </a:bodyPr>
          <a:lstStyle/>
          <a:p>
            <a:pPr algn="l">
              <a:lnSpc>
                <a:spcPct val="105000"/>
              </a:lnSpc>
              <a:spcAft>
                <a:spcPts val="0"/>
              </a:spcAft>
            </a:pPr>
            <a:r>
              <a:rPr sz="1400" b="1" i="0">
                <a:solidFill>
                  <a:srgbClr val="E65100"/>
                </a:solidFill>
                <a:latin typeface="Arial"/>
              </a:rPr>
              <a:t>Swami Vivekananda</a:t>
            </a:r>
          </a:p>
        </p:txBody>
      </p:sp>
      <p:sp>
        <p:nvSpPr>
          <p:cNvPr id="17" name="TextBox 16"/>
          <p:cNvSpPr txBox="1"/>
          <p:nvPr/>
        </p:nvSpPr>
        <p:spPr>
          <a:xfrm>
            <a:off x="4785055" y="4343400"/>
            <a:ext cx="6217920" cy="274320"/>
          </a:xfrm>
          <a:prstGeom prst="rect">
            <a:avLst/>
          </a:prstGeom>
          <a:noFill/>
        </p:spPr>
        <p:txBody>
          <a:bodyPr wrap="square" lIns="0" tIns="0" rIns="0" bIns="0" anchor="t">
            <a:noAutofit/>
          </a:bodyPr>
          <a:lstStyle/>
          <a:p>
            <a:pPr algn="l">
              <a:lnSpc>
                <a:spcPct val="105000"/>
              </a:lnSpc>
              <a:spcAft>
                <a:spcPts val="0"/>
              </a:spcAft>
            </a:pPr>
            <a:r>
              <a:rPr sz="1050" b="0" i="0">
                <a:solidFill>
                  <a:srgbClr val="67645E"/>
                </a:solidFill>
                <a:latin typeface="Arial"/>
              </a:rPr>
              <a:t>World Parliament of Religions, Chicago — September 11, 1893</a:t>
            </a:r>
          </a:p>
        </p:txBody>
      </p:sp>
      <p:sp>
        <p:nvSpPr>
          <p:cNvPr id="18" name="TextBox 17"/>
          <p:cNvSpPr txBox="1"/>
          <p:nvPr/>
        </p:nvSpPr>
        <p:spPr>
          <a:xfrm>
            <a:off x="4785055" y="4709160"/>
            <a:ext cx="6217920" cy="1280160"/>
          </a:xfrm>
          <a:prstGeom prst="rect">
            <a:avLst/>
          </a:prstGeom>
          <a:noFill/>
        </p:spPr>
        <p:txBody>
          <a:bodyPr wrap="square" lIns="0" tIns="0" rIns="0" bIns="0" anchor="t">
            <a:noAutofit/>
          </a:bodyPr>
          <a:lstStyle/>
          <a:p>
            <a:pPr algn="l">
              <a:lnSpc>
                <a:spcPct val="112000"/>
              </a:lnSpc>
              <a:spcAft>
                <a:spcPts val="0"/>
              </a:spcAft>
            </a:pPr>
            <a:r>
              <a:rPr sz="1100" b="0" i="0">
                <a:solidFill>
                  <a:srgbClr val="1E1E1C"/>
                </a:solidFill>
                <a:latin typeface="Arial"/>
              </a:rPr>
              <a:t>Vivekananda's historic address articulated the core ethos of Indian thought: the conviction that diverse spiritual paths converge upon a single reality, establishing universal tolerance not as passive concession, but as active reverence for all human seekers.</a:t>
            </a:r>
          </a:p>
        </p:txBody>
      </p:sp>
      <p:sp>
        <p:nvSpPr>
          <p:cNvPr id="19" name="Rectangle 18"/>
          <p:cNvSpPr/>
          <p:nvPr/>
        </p:nvSpPr>
        <p:spPr>
          <a:xfrm>
            <a:off x="731520" y="6400800"/>
            <a:ext cx="10728655" cy="10972"/>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1520" y="6473952"/>
            <a:ext cx="7772400" cy="256032"/>
          </a:xfrm>
          <a:prstGeom prst="rect">
            <a:avLst/>
          </a:prstGeom>
          <a:noFill/>
        </p:spPr>
        <p:txBody>
          <a:bodyPr wrap="square" lIns="0" tIns="0" rIns="0" bIns="0" anchor="t">
            <a:noAutofit/>
          </a:bodyPr>
          <a:lstStyle/>
          <a:p>
            <a:pPr algn="l">
              <a:lnSpc>
                <a:spcPct val="105000"/>
              </a:lnSpc>
              <a:spcAft>
                <a:spcPts val="0"/>
              </a:spcAft>
            </a:pPr>
            <a:r>
              <a:rPr sz="850" b="0" i="0">
                <a:solidFill>
                  <a:srgbClr val="67645E"/>
                </a:solidFill>
                <a:latin typeface="Arial"/>
              </a:rPr>
              <a:t>The Living Civilization: Five Millennia of Indian Culture, Philosophy, and Heritage</a:t>
            </a:r>
          </a:p>
        </p:txBody>
      </p:sp>
      <p:sp>
        <p:nvSpPr>
          <p:cNvPr id="21" name="TextBox 20"/>
          <p:cNvSpPr txBox="1"/>
          <p:nvPr/>
        </p:nvSpPr>
        <p:spPr>
          <a:xfrm>
            <a:off x="9631375" y="6473952"/>
            <a:ext cx="1828800" cy="256032"/>
          </a:xfrm>
          <a:prstGeom prst="rect">
            <a:avLst/>
          </a:prstGeom>
          <a:noFill/>
        </p:spPr>
        <p:txBody>
          <a:bodyPr wrap="square" lIns="0" tIns="0" rIns="0" bIns="0" anchor="t">
            <a:noAutofit/>
          </a:bodyPr>
          <a:lstStyle/>
          <a:p>
            <a:pPr algn="r">
              <a:lnSpc>
                <a:spcPct val="105000"/>
              </a:lnSpc>
              <a:spcAft>
                <a:spcPts val="0"/>
              </a:spcAft>
            </a:pPr>
            <a:r>
              <a:rPr sz="850" b="1" i="0">
                <a:solidFill>
                  <a:srgbClr val="67645E"/>
                </a:solidFill>
                <a:latin typeface="Arial"/>
              </a:rPr>
              <a:t>07 / 11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6EE"/>
        </a:solidFill>
        <a:effectLst/>
      </p:bgPr>
    </p:bg>
    <p:spTree>
      <p:nvGrpSpPr>
        <p:cNvPr id="1" name=""/>
        <p:cNvGrpSpPr/>
        <p:nvPr/>
      </p:nvGrpSpPr>
      <p:grpSpPr>
        <a:xfrm>
          <a:off x="0" y="0"/>
          <a:ext cx="0" cy="0"/>
          <a:chOff x="0" y="0"/>
          <a:chExt cx="0" cy="0"/>
        </a:xfrm>
      </p:grpSpPr>
      <p:sp>
        <p:nvSpPr>
          <p:cNvPr id="2" name="TextBox 1"/>
          <p:cNvSpPr txBox="1"/>
          <p:nvPr/>
        </p:nvSpPr>
        <p:spPr>
          <a:xfrm>
            <a:off x="731520" y="438912"/>
            <a:ext cx="10728655" cy="237744"/>
          </a:xfrm>
          <a:prstGeom prst="rect">
            <a:avLst/>
          </a:prstGeom>
          <a:noFill/>
        </p:spPr>
        <p:txBody>
          <a:bodyPr wrap="square" lIns="0" tIns="0" rIns="0" bIns="0" anchor="t">
            <a:noAutofit/>
          </a:bodyPr>
          <a:lstStyle/>
          <a:p>
            <a:pPr algn="l">
              <a:lnSpc>
                <a:spcPct val="105000"/>
              </a:lnSpc>
              <a:spcAft>
                <a:spcPts val="0"/>
              </a:spcAft>
            </a:pPr>
            <a:r>
              <a:rPr sz="1050" b="1" i="0">
                <a:solidFill>
                  <a:srgbClr val="D49B24"/>
                </a:solidFill>
                <a:latin typeface="Arial"/>
              </a:rPr>
              <a:t>PERFORMING ARTS</a:t>
            </a:r>
          </a:p>
        </p:txBody>
      </p:sp>
      <p:sp>
        <p:nvSpPr>
          <p:cNvPr id="3" name="TextBox 2"/>
          <p:cNvSpPr txBox="1"/>
          <p:nvPr/>
        </p:nvSpPr>
        <p:spPr>
          <a:xfrm>
            <a:off x="731520" y="676656"/>
            <a:ext cx="10728655" cy="566928"/>
          </a:xfrm>
          <a:prstGeom prst="rect">
            <a:avLst/>
          </a:prstGeom>
          <a:noFill/>
        </p:spPr>
        <p:txBody>
          <a:bodyPr wrap="square" lIns="0" tIns="0" rIns="0" bIns="0" anchor="t">
            <a:noAutofit/>
          </a:bodyPr>
          <a:lstStyle/>
          <a:p>
            <a:pPr algn="l">
              <a:lnSpc>
                <a:spcPct val="105000"/>
              </a:lnSpc>
              <a:spcAft>
                <a:spcPts val="0"/>
              </a:spcAft>
            </a:pPr>
            <a:r>
              <a:rPr sz="2600" b="1" i="0">
                <a:solidFill>
                  <a:srgbClr val="1A2836"/>
                </a:solidFill>
                <a:latin typeface="Georgia"/>
              </a:rPr>
              <a:t>The Six Great Dimensions of Classical Indian Dance</a:t>
            </a:r>
          </a:p>
        </p:txBody>
      </p:sp>
      <p:sp>
        <p:nvSpPr>
          <p:cNvPr id="4" name="Rectangle 3"/>
          <p:cNvSpPr/>
          <p:nvPr/>
        </p:nvSpPr>
        <p:spPr>
          <a:xfrm>
            <a:off x="731520" y="1316736"/>
            <a:ext cx="10728655" cy="12801"/>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5" name="Table 4"/>
          <p:cNvGraphicFramePr>
            <a:graphicFrameLocks noGrp="1"/>
          </p:cNvGraphicFramePr>
          <p:nvPr/>
        </p:nvGraphicFramePr>
        <p:xfrm>
          <a:off x="731520" y="1554480"/>
          <a:ext cx="10728655" cy="46177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4510735">
                  <a:extLst>
                    <a:ext uri="{9D8B030D-6E8A-4147-A177-3AD203B41FA5}">
                      <a16:colId xmlns:a16="http://schemas.microsoft.com/office/drawing/2014/main" val="20003"/>
                    </a:ext>
                  </a:extLst>
                </a:gridCol>
              </a:tblGrid>
              <a:tr h="659674">
                <a:tc>
                  <a:txBody>
                    <a:bodyPr/>
                    <a:lstStyle/>
                    <a:p>
                      <a:pPr algn="l"/>
                      <a:r>
                        <a:rPr sz="1000" b="1">
                          <a:solidFill>
                            <a:srgbClr val="F7DC8B"/>
                          </a:solidFill>
                          <a:latin typeface="Arial"/>
                        </a:rPr>
                        <a:t>DANCE FORM</a:t>
                      </a:r>
                    </a:p>
                  </a:txBody>
                  <a:tcPr marL="109728" marR="109728" marT="73152" marB="73152" anchor="ctr">
                    <a:solidFill>
                      <a:srgbClr val="1A2836"/>
                    </a:solidFill>
                  </a:tcPr>
                </a:tc>
                <a:tc>
                  <a:txBody>
                    <a:bodyPr/>
                    <a:lstStyle/>
                    <a:p>
                      <a:pPr algn="l"/>
                      <a:r>
                        <a:rPr sz="1000" b="1">
                          <a:solidFill>
                            <a:srgbClr val="F7DC8B"/>
                          </a:solidFill>
                          <a:latin typeface="Arial"/>
                        </a:rPr>
                        <a:t>ORIGIN &amp; REGION</a:t>
                      </a:r>
                    </a:p>
                  </a:txBody>
                  <a:tcPr marL="109728" marR="109728" marT="73152" marB="73152" anchor="ctr">
                    <a:solidFill>
                      <a:srgbClr val="1A2836"/>
                    </a:solidFill>
                  </a:tcPr>
                </a:tc>
                <a:tc>
                  <a:txBody>
                    <a:bodyPr/>
                    <a:lstStyle/>
                    <a:p>
                      <a:pPr algn="l"/>
                      <a:r>
                        <a:rPr sz="1000" b="1">
                          <a:solidFill>
                            <a:srgbClr val="F7DC8B"/>
                          </a:solidFill>
                          <a:latin typeface="Arial"/>
                        </a:rPr>
                        <a:t>FOUNDATIONAL TREATISE</a:t>
                      </a:r>
                    </a:p>
                  </a:txBody>
                  <a:tcPr marL="109728" marR="109728" marT="73152" marB="73152" anchor="ctr">
                    <a:solidFill>
                      <a:srgbClr val="1A2836"/>
                    </a:solidFill>
                  </a:tcPr>
                </a:tc>
                <a:tc>
                  <a:txBody>
                    <a:bodyPr/>
                    <a:lstStyle/>
                    <a:p>
                      <a:pPr algn="l"/>
                      <a:r>
                        <a:rPr sz="1000" b="1">
                          <a:solidFill>
                            <a:srgbClr val="F7DC8B"/>
                          </a:solidFill>
                          <a:latin typeface="Arial"/>
                        </a:rPr>
                        <a:t>SIGNATURE AESTHETICS &amp; EXPRESSION</a:t>
                      </a:r>
                    </a:p>
                  </a:txBody>
                  <a:tcPr marL="109728" marR="109728" marT="73152" marB="73152" anchor="ctr">
                    <a:solidFill>
                      <a:srgbClr val="1A2836"/>
                    </a:solidFill>
                  </a:tcPr>
                </a:tc>
                <a:extLst>
                  <a:ext uri="{0D108BD9-81ED-4DB2-BD59-A6C34878D82A}">
                    <a16:rowId xmlns:a16="http://schemas.microsoft.com/office/drawing/2014/main" val="10000"/>
                  </a:ext>
                </a:extLst>
              </a:tr>
              <a:tr h="659674">
                <a:tc>
                  <a:txBody>
                    <a:bodyPr/>
                    <a:lstStyle/>
                    <a:p>
                      <a:pPr algn="l"/>
                      <a:r>
                        <a:rPr sz="1100" b="1">
                          <a:solidFill>
                            <a:srgbClr val="1A2836"/>
                          </a:solidFill>
                          <a:latin typeface="Arial"/>
                        </a:rPr>
                        <a:t>Bharatanatyam</a:t>
                      </a:r>
                    </a:p>
                  </a:txBody>
                  <a:tcPr marL="109728" marR="109728" marT="54864" marB="54864" anchor="ctr">
                    <a:solidFill>
                      <a:srgbClr val="FFFFFF"/>
                    </a:solidFill>
                  </a:tcPr>
                </a:tc>
                <a:tc>
                  <a:txBody>
                    <a:bodyPr/>
                    <a:lstStyle/>
                    <a:p>
                      <a:pPr algn="l"/>
                      <a:r>
                        <a:rPr sz="1100" b="0">
                          <a:solidFill>
                            <a:srgbClr val="1E1E1C"/>
                          </a:solidFill>
                          <a:latin typeface="Arial"/>
                        </a:rPr>
                        <a:t>Tamil Nadu</a:t>
                      </a:r>
                    </a:p>
                  </a:txBody>
                  <a:tcPr marL="109728" marR="109728" marT="54864" marB="54864" anchor="ctr">
                    <a:solidFill>
                      <a:srgbClr val="FFFFFF"/>
                    </a:solidFill>
                  </a:tcPr>
                </a:tc>
                <a:tc>
                  <a:txBody>
                    <a:bodyPr/>
                    <a:lstStyle/>
                    <a:p>
                      <a:pPr algn="l"/>
                      <a:r>
                        <a:rPr sz="1100" b="0">
                          <a:solidFill>
                            <a:srgbClr val="1E1E1C"/>
                          </a:solidFill>
                          <a:latin typeface="Arial"/>
                        </a:rPr>
                        <a:t>Natya Shastra / Sadir</a:t>
                      </a:r>
                    </a:p>
                  </a:txBody>
                  <a:tcPr marL="109728" marR="109728" marT="54864" marB="54864" anchor="ctr">
                    <a:solidFill>
                      <a:srgbClr val="FFFFFF"/>
                    </a:solidFill>
                  </a:tcPr>
                </a:tc>
                <a:tc>
                  <a:txBody>
                    <a:bodyPr/>
                    <a:lstStyle/>
                    <a:p>
                      <a:pPr algn="l"/>
                      <a:r>
                        <a:rPr sz="1100" b="0">
                          <a:solidFill>
                            <a:srgbClr val="1E1E1C"/>
                          </a:solidFill>
                          <a:latin typeface="Arial"/>
                        </a:rPr>
                        <a:t>Geometric lines, crisp footwork, and intricate expressive Abhinaya</a:t>
                      </a:r>
                    </a:p>
                  </a:txBody>
                  <a:tcPr marL="109728" marR="109728" marT="54864" marB="54864" anchor="ctr">
                    <a:solidFill>
                      <a:srgbClr val="FFFFFF"/>
                    </a:solidFill>
                  </a:tcPr>
                </a:tc>
                <a:extLst>
                  <a:ext uri="{0D108BD9-81ED-4DB2-BD59-A6C34878D82A}">
                    <a16:rowId xmlns:a16="http://schemas.microsoft.com/office/drawing/2014/main" val="10001"/>
                  </a:ext>
                </a:extLst>
              </a:tr>
              <a:tr h="659674">
                <a:tc>
                  <a:txBody>
                    <a:bodyPr/>
                    <a:lstStyle/>
                    <a:p>
                      <a:pPr algn="l"/>
                      <a:r>
                        <a:rPr sz="1100" b="1">
                          <a:solidFill>
                            <a:srgbClr val="1A2836"/>
                          </a:solidFill>
                          <a:latin typeface="Arial"/>
                        </a:rPr>
                        <a:t>Kathak</a:t>
                      </a:r>
                    </a:p>
                  </a:txBody>
                  <a:tcPr marL="109728" marR="109728" marT="54864" marB="54864" anchor="ctr">
                    <a:solidFill>
                      <a:srgbClr val="F2EADC"/>
                    </a:solidFill>
                  </a:tcPr>
                </a:tc>
                <a:tc>
                  <a:txBody>
                    <a:bodyPr/>
                    <a:lstStyle/>
                    <a:p>
                      <a:pPr algn="l"/>
                      <a:r>
                        <a:rPr sz="1100" b="0">
                          <a:solidFill>
                            <a:srgbClr val="1E1E1C"/>
                          </a:solidFill>
                          <a:latin typeface="Arial"/>
                        </a:rPr>
                        <a:t>Uttar Pradesh</a:t>
                      </a:r>
                    </a:p>
                  </a:txBody>
                  <a:tcPr marL="109728" marR="109728" marT="54864" marB="54864" anchor="ctr">
                    <a:solidFill>
                      <a:srgbClr val="F2EADC"/>
                    </a:solidFill>
                  </a:tcPr>
                </a:tc>
                <a:tc>
                  <a:txBody>
                    <a:bodyPr/>
                    <a:lstStyle/>
                    <a:p>
                      <a:pPr algn="l"/>
                      <a:r>
                        <a:rPr sz="1100" b="0">
                          <a:solidFill>
                            <a:srgbClr val="1E1E1C"/>
                          </a:solidFill>
                          <a:latin typeface="Arial"/>
                        </a:rPr>
                        <a:t>Natya Shastra / Gharanas</a:t>
                      </a:r>
                    </a:p>
                  </a:txBody>
                  <a:tcPr marL="109728" marR="109728" marT="54864" marB="54864" anchor="ctr">
                    <a:solidFill>
                      <a:srgbClr val="F2EADC"/>
                    </a:solidFill>
                  </a:tcPr>
                </a:tc>
                <a:tc>
                  <a:txBody>
                    <a:bodyPr/>
                    <a:lstStyle/>
                    <a:p>
                      <a:pPr algn="l"/>
                      <a:r>
                        <a:rPr sz="1100" b="0">
                          <a:solidFill>
                            <a:srgbClr val="1E1E1C"/>
                          </a:solidFill>
                          <a:latin typeface="Arial"/>
                        </a:rPr>
                        <a:t>Rhythmic Tatkar footwork, rapid Chakkars (spins), and poetic storytelling</a:t>
                      </a:r>
                    </a:p>
                  </a:txBody>
                  <a:tcPr marL="109728" marR="109728" marT="54864" marB="54864" anchor="ctr">
                    <a:solidFill>
                      <a:srgbClr val="F2EADC"/>
                    </a:solidFill>
                  </a:tcPr>
                </a:tc>
                <a:extLst>
                  <a:ext uri="{0D108BD9-81ED-4DB2-BD59-A6C34878D82A}">
                    <a16:rowId xmlns:a16="http://schemas.microsoft.com/office/drawing/2014/main" val="10002"/>
                  </a:ext>
                </a:extLst>
              </a:tr>
              <a:tr h="659674">
                <a:tc>
                  <a:txBody>
                    <a:bodyPr/>
                    <a:lstStyle/>
                    <a:p>
                      <a:pPr algn="l"/>
                      <a:r>
                        <a:rPr sz="1100" b="1">
                          <a:solidFill>
                            <a:srgbClr val="1A2836"/>
                          </a:solidFill>
                          <a:latin typeface="Arial"/>
                        </a:rPr>
                        <a:t>Kathakali</a:t>
                      </a:r>
                    </a:p>
                  </a:txBody>
                  <a:tcPr marL="109728" marR="109728" marT="54864" marB="54864" anchor="ctr">
                    <a:solidFill>
                      <a:srgbClr val="FFFFFF"/>
                    </a:solidFill>
                  </a:tcPr>
                </a:tc>
                <a:tc>
                  <a:txBody>
                    <a:bodyPr/>
                    <a:lstStyle/>
                    <a:p>
                      <a:pPr algn="l"/>
                      <a:r>
                        <a:rPr sz="1100" b="0">
                          <a:solidFill>
                            <a:srgbClr val="1E1E1C"/>
                          </a:solidFill>
                          <a:latin typeface="Arial"/>
                        </a:rPr>
                        <a:t>Kerala</a:t>
                      </a:r>
                    </a:p>
                  </a:txBody>
                  <a:tcPr marL="109728" marR="109728" marT="54864" marB="54864" anchor="ctr">
                    <a:solidFill>
                      <a:srgbClr val="FFFFFF"/>
                    </a:solidFill>
                  </a:tcPr>
                </a:tc>
                <a:tc>
                  <a:txBody>
                    <a:bodyPr/>
                    <a:lstStyle/>
                    <a:p>
                      <a:pPr algn="l"/>
                      <a:r>
                        <a:rPr sz="1100" b="0">
                          <a:solidFill>
                            <a:srgbClr val="1E1E1C"/>
                          </a:solidFill>
                          <a:latin typeface="Arial"/>
                        </a:rPr>
                        <a:t>Hastha Lakshana Deepika</a:t>
                      </a:r>
                    </a:p>
                  </a:txBody>
                  <a:tcPr marL="109728" marR="109728" marT="54864" marB="54864" anchor="ctr">
                    <a:solidFill>
                      <a:srgbClr val="FFFFFF"/>
                    </a:solidFill>
                  </a:tcPr>
                </a:tc>
                <a:tc>
                  <a:txBody>
                    <a:bodyPr/>
                    <a:lstStyle/>
                    <a:p>
                      <a:pPr algn="l"/>
                      <a:r>
                        <a:rPr sz="1100" b="0">
                          <a:solidFill>
                            <a:srgbClr val="1E1E1C"/>
                          </a:solidFill>
                          <a:latin typeface="Arial"/>
                        </a:rPr>
                        <a:t>Elaborate Aharya makeup, grand headdresses, and vivid theatrical mime</a:t>
                      </a:r>
                    </a:p>
                  </a:txBody>
                  <a:tcPr marL="109728" marR="109728" marT="54864" marB="54864" anchor="ctr">
                    <a:solidFill>
                      <a:srgbClr val="FFFFFF"/>
                    </a:solidFill>
                  </a:tcPr>
                </a:tc>
                <a:extLst>
                  <a:ext uri="{0D108BD9-81ED-4DB2-BD59-A6C34878D82A}">
                    <a16:rowId xmlns:a16="http://schemas.microsoft.com/office/drawing/2014/main" val="10003"/>
                  </a:ext>
                </a:extLst>
              </a:tr>
              <a:tr h="659674">
                <a:tc>
                  <a:txBody>
                    <a:bodyPr/>
                    <a:lstStyle/>
                    <a:p>
                      <a:pPr algn="l"/>
                      <a:r>
                        <a:rPr sz="1100" b="1">
                          <a:solidFill>
                            <a:srgbClr val="1A2836"/>
                          </a:solidFill>
                          <a:latin typeface="Arial"/>
                        </a:rPr>
                        <a:t>Odissi</a:t>
                      </a:r>
                    </a:p>
                  </a:txBody>
                  <a:tcPr marL="109728" marR="109728" marT="54864" marB="54864" anchor="ctr">
                    <a:solidFill>
                      <a:srgbClr val="F2EADC"/>
                    </a:solidFill>
                  </a:tcPr>
                </a:tc>
                <a:tc>
                  <a:txBody>
                    <a:bodyPr/>
                    <a:lstStyle/>
                    <a:p>
                      <a:pPr algn="l"/>
                      <a:r>
                        <a:rPr sz="1100" b="0">
                          <a:solidFill>
                            <a:srgbClr val="1E1E1C"/>
                          </a:solidFill>
                          <a:latin typeface="Arial"/>
                        </a:rPr>
                        <a:t>Odisha</a:t>
                      </a:r>
                    </a:p>
                  </a:txBody>
                  <a:tcPr marL="109728" marR="109728" marT="54864" marB="54864" anchor="ctr">
                    <a:solidFill>
                      <a:srgbClr val="F2EADC"/>
                    </a:solidFill>
                  </a:tcPr>
                </a:tc>
                <a:tc>
                  <a:txBody>
                    <a:bodyPr/>
                    <a:lstStyle/>
                    <a:p>
                      <a:pPr algn="l"/>
                      <a:r>
                        <a:rPr sz="1100" b="0">
                          <a:solidFill>
                            <a:srgbClr val="1E1E1C"/>
                          </a:solidFill>
                          <a:latin typeface="Arial"/>
                        </a:rPr>
                        <a:t>Abhinaya Darpana</a:t>
                      </a:r>
                    </a:p>
                  </a:txBody>
                  <a:tcPr marL="109728" marR="109728" marT="54864" marB="54864" anchor="ctr">
                    <a:solidFill>
                      <a:srgbClr val="F2EADC"/>
                    </a:solidFill>
                  </a:tcPr>
                </a:tc>
                <a:tc>
                  <a:txBody>
                    <a:bodyPr/>
                    <a:lstStyle/>
                    <a:p>
                      <a:pPr algn="l"/>
                      <a:r>
                        <a:rPr sz="1100" b="0">
                          <a:solidFill>
                            <a:srgbClr val="1E1E1C"/>
                          </a:solidFill>
                          <a:latin typeface="Arial"/>
                        </a:rPr>
                        <a:t>Sensuous Tribhangi (three-bend) posture mirroring temple stone sculptures</a:t>
                      </a:r>
                    </a:p>
                  </a:txBody>
                  <a:tcPr marL="109728" marR="109728" marT="54864" marB="54864" anchor="ctr">
                    <a:solidFill>
                      <a:srgbClr val="F2EADC"/>
                    </a:solidFill>
                  </a:tcPr>
                </a:tc>
                <a:extLst>
                  <a:ext uri="{0D108BD9-81ED-4DB2-BD59-A6C34878D82A}">
                    <a16:rowId xmlns:a16="http://schemas.microsoft.com/office/drawing/2014/main" val="10004"/>
                  </a:ext>
                </a:extLst>
              </a:tr>
              <a:tr h="659674">
                <a:tc>
                  <a:txBody>
                    <a:bodyPr/>
                    <a:lstStyle/>
                    <a:p>
                      <a:pPr algn="l"/>
                      <a:r>
                        <a:rPr sz="1100" b="1">
                          <a:solidFill>
                            <a:srgbClr val="1A2836"/>
                          </a:solidFill>
                          <a:latin typeface="Arial"/>
                        </a:rPr>
                        <a:t>Manipuri</a:t>
                      </a:r>
                    </a:p>
                  </a:txBody>
                  <a:tcPr marL="109728" marR="109728" marT="54864" marB="54864" anchor="ctr">
                    <a:solidFill>
                      <a:srgbClr val="FFFFFF"/>
                    </a:solidFill>
                  </a:tcPr>
                </a:tc>
                <a:tc>
                  <a:txBody>
                    <a:bodyPr/>
                    <a:lstStyle/>
                    <a:p>
                      <a:pPr algn="l"/>
                      <a:r>
                        <a:rPr sz="1100" b="0">
                          <a:solidFill>
                            <a:srgbClr val="1E1E1C"/>
                          </a:solidFill>
                          <a:latin typeface="Arial"/>
                        </a:rPr>
                        <a:t>Manipur</a:t>
                      </a:r>
                    </a:p>
                  </a:txBody>
                  <a:tcPr marL="109728" marR="109728" marT="54864" marB="54864" anchor="ctr">
                    <a:solidFill>
                      <a:srgbClr val="FFFFFF"/>
                    </a:solidFill>
                  </a:tcPr>
                </a:tc>
                <a:tc>
                  <a:txBody>
                    <a:bodyPr/>
                    <a:lstStyle/>
                    <a:p>
                      <a:pPr algn="l"/>
                      <a:r>
                        <a:rPr sz="1100" b="0">
                          <a:solidFill>
                            <a:srgbClr val="1E1E1C"/>
                          </a:solidFill>
                          <a:latin typeface="Arial"/>
                        </a:rPr>
                        <a:t>Govinda Sangit Leela</a:t>
                      </a:r>
                    </a:p>
                  </a:txBody>
                  <a:tcPr marL="109728" marR="109728" marT="54864" marB="54864" anchor="ctr">
                    <a:solidFill>
                      <a:srgbClr val="FFFFFF"/>
                    </a:solidFill>
                  </a:tcPr>
                </a:tc>
                <a:tc>
                  <a:txBody>
                    <a:bodyPr/>
                    <a:lstStyle/>
                    <a:p>
                      <a:pPr algn="l"/>
                      <a:r>
                        <a:rPr sz="1100" b="0">
                          <a:solidFill>
                            <a:srgbClr val="1E1E1C"/>
                          </a:solidFill>
                          <a:latin typeface="Arial"/>
                        </a:rPr>
                        <a:t>Gentle circular lyrical swaying portraying Raslila devotional ecstasy</a:t>
                      </a:r>
                    </a:p>
                  </a:txBody>
                  <a:tcPr marL="109728" marR="109728" marT="54864" marB="54864" anchor="ctr">
                    <a:solidFill>
                      <a:srgbClr val="FFFFFF"/>
                    </a:solidFill>
                  </a:tcPr>
                </a:tc>
                <a:extLst>
                  <a:ext uri="{0D108BD9-81ED-4DB2-BD59-A6C34878D82A}">
                    <a16:rowId xmlns:a16="http://schemas.microsoft.com/office/drawing/2014/main" val="10005"/>
                  </a:ext>
                </a:extLst>
              </a:tr>
              <a:tr h="659676">
                <a:tc>
                  <a:txBody>
                    <a:bodyPr/>
                    <a:lstStyle/>
                    <a:p>
                      <a:pPr algn="l"/>
                      <a:r>
                        <a:rPr sz="1100" b="1">
                          <a:solidFill>
                            <a:srgbClr val="1A2836"/>
                          </a:solidFill>
                          <a:latin typeface="Arial"/>
                        </a:rPr>
                        <a:t>Kuchipudi</a:t>
                      </a:r>
                    </a:p>
                  </a:txBody>
                  <a:tcPr marL="109728" marR="109728" marT="54864" marB="54864" anchor="ctr">
                    <a:solidFill>
                      <a:srgbClr val="F2EADC"/>
                    </a:solidFill>
                  </a:tcPr>
                </a:tc>
                <a:tc>
                  <a:txBody>
                    <a:bodyPr/>
                    <a:lstStyle/>
                    <a:p>
                      <a:pPr algn="l"/>
                      <a:r>
                        <a:rPr sz="1100" b="0">
                          <a:solidFill>
                            <a:srgbClr val="1E1E1C"/>
                          </a:solidFill>
                          <a:latin typeface="Arial"/>
                        </a:rPr>
                        <a:t>Andhra Pradesh</a:t>
                      </a:r>
                    </a:p>
                  </a:txBody>
                  <a:tcPr marL="109728" marR="109728" marT="54864" marB="54864" anchor="ctr">
                    <a:solidFill>
                      <a:srgbClr val="F2EADC"/>
                    </a:solidFill>
                  </a:tcPr>
                </a:tc>
                <a:tc>
                  <a:txBody>
                    <a:bodyPr/>
                    <a:lstStyle/>
                    <a:p>
                      <a:pPr algn="l"/>
                      <a:r>
                        <a:rPr sz="1100" b="0">
                          <a:solidFill>
                            <a:srgbClr val="1E1E1C"/>
                          </a:solidFill>
                          <a:latin typeface="Arial"/>
                        </a:rPr>
                        <a:t>Natya Shastra / Yakshagana</a:t>
                      </a:r>
                    </a:p>
                  </a:txBody>
                  <a:tcPr marL="109728" marR="109728" marT="54864" marB="54864" anchor="ctr">
                    <a:solidFill>
                      <a:srgbClr val="F2EADC"/>
                    </a:solidFill>
                  </a:tcPr>
                </a:tc>
                <a:tc>
                  <a:txBody>
                    <a:bodyPr/>
                    <a:lstStyle/>
                    <a:p>
                      <a:pPr algn="l"/>
                      <a:r>
                        <a:rPr sz="1100" b="0">
                          <a:solidFill>
                            <a:srgbClr val="1E1E1C"/>
                          </a:solidFill>
                          <a:latin typeface="Arial"/>
                        </a:rPr>
                        <a:t>Vibrant dance-drama, swift storytelling, and rhythmic brass plate footwork</a:t>
                      </a:r>
                    </a:p>
                  </a:txBody>
                  <a:tcPr marL="109728" marR="109728" marT="54864" marB="54864" anchor="ctr">
                    <a:solidFill>
                      <a:srgbClr val="F2EADC"/>
                    </a:solidFill>
                  </a:tcPr>
                </a:tc>
                <a:extLst>
                  <a:ext uri="{0D108BD9-81ED-4DB2-BD59-A6C34878D82A}">
                    <a16:rowId xmlns:a16="http://schemas.microsoft.com/office/drawing/2014/main" val="10006"/>
                  </a:ext>
                </a:extLst>
              </a:tr>
            </a:tbl>
          </a:graphicData>
        </a:graphic>
      </p:graphicFrame>
      <p:sp>
        <p:nvSpPr>
          <p:cNvPr id="6" name="Rectangle 5"/>
          <p:cNvSpPr/>
          <p:nvPr/>
        </p:nvSpPr>
        <p:spPr>
          <a:xfrm>
            <a:off x="731520" y="6400800"/>
            <a:ext cx="10728655" cy="10972"/>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6473952"/>
            <a:ext cx="7772400" cy="256032"/>
          </a:xfrm>
          <a:prstGeom prst="rect">
            <a:avLst/>
          </a:prstGeom>
          <a:noFill/>
        </p:spPr>
        <p:txBody>
          <a:bodyPr wrap="square" lIns="0" tIns="0" rIns="0" bIns="0" anchor="t">
            <a:noAutofit/>
          </a:bodyPr>
          <a:lstStyle/>
          <a:p>
            <a:pPr algn="l">
              <a:lnSpc>
                <a:spcPct val="105000"/>
              </a:lnSpc>
              <a:spcAft>
                <a:spcPts val="0"/>
              </a:spcAft>
            </a:pPr>
            <a:r>
              <a:rPr sz="850" b="0" i="0">
                <a:solidFill>
                  <a:srgbClr val="67645E"/>
                </a:solidFill>
                <a:latin typeface="Arial"/>
              </a:rPr>
              <a:t>The Living Civilization: Five Millennia of Indian Culture, Philosophy, and Heritage</a:t>
            </a:r>
          </a:p>
        </p:txBody>
      </p:sp>
      <p:sp>
        <p:nvSpPr>
          <p:cNvPr id="8" name="TextBox 7"/>
          <p:cNvSpPr txBox="1"/>
          <p:nvPr/>
        </p:nvSpPr>
        <p:spPr>
          <a:xfrm>
            <a:off x="9631375" y="6473952"/>
            <a:ext cx="1828800" cy="256032"/>
          </a:xfrm>
          <a:prstGeom prst="rect">
            <a:avLst/>
          </a:prstGeom>
          <a:noFill/>
        </p:spPr>
        <p:txBody>
          <a:bodyPr wrap="square" lIns="0" tIns="0" rIns="0" bIns="0" anchor="t">
            <a:noAutofit/>
          </a:bodyPr>
          <a:lstStyle/>
          <a:p>
            <a:pPr algn="r">
              <a:lnSpc>
                <a:spcPct val="105000"/>
              </a:lnSpc>
              <a:spcAft>
                <a:spcPts val="0"/>
              </a:spcAft>
            </a:pPr>
            <a:r>
              <a:rPr sz="850" b="1" i="0">
                <a:solidFill>
                  <a:srgbClr val="67645E"/>
                </a:solidFill>
                <a:latin typeface="Arial"/>
              </a:rPr>
              <a:t>08 / 11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6EE"/>
        </a:solidFill>
        <a:effectLst/>
      </p:bgPr>
    </p:bg>
    <p:spTree>
      <p:nvGrpSpPr>
        <p:cNvPr id="1" name=""/>
        <p:cNvGrpSpPr/>
        <p:nvPr/>
      </p:nvGrpSpPr>
      <p:grpSpPr>
        <a:xfrm>
          <a:off x="0" y="0"/>
          <a:ext cx="0" cy="0"/>
          <a:chOff x="0" y="0"/>
          <a:chExt cx="0" cy="0"/>
        </a:xfrm>
      </p:grpSpPr>
      <p:sp>
        <p:nvSpPr>
          <p:cNvPr id="2" name="TextBox 1"/>
          <p:cNvSpPr txBox="1"/>
          <p:nvPr/>
        </p:nvSpPr>
        <p:spPr>
          <a:xfrm>
            <a:off x="731520" y="438912"/>
            <a:ext cx="10728655" cy="237744"/>
          </a:xfrm>
          <a:prstGeom prst="rect">
            <a:avLst/>
          </a:prstGeom>
          <a:noFill/>
        </p:spPr>
        <p:txBody>
          <a:bodyPr wrap="square" lIns="0" tIns="0" rIns="0" bIns="0" anchor="t">
            <a:noAutofit/>
          </a:bodyPr>
          <a:lstStyle/>
          <a:p>
            <a:pPr algn="l">
              <a:lnSpc>
                <a:spcPct val="105000"/>
              </a:lnSpc>
              <a:spcAft>
                <a:spcPts val="0"/>
              </a:spcAft>
            </a:pPr>
            <a:r>
              <a:rPr sz="1050" b="1" i="0">
                <a:solidFill>
                  <a:srgbClr val="D49B24"/>
                </a:solidFill>
                <a:latin typeface="Arial"/>
              </a:rPr>
              <a:t>LIVING CELEBRATIONS</a:t>
            </a:r>
          </a:p>
        </p:txBody>
      </p:sp>
      <p:sp>
        <p:nvSpPr>
          <p:cNvPr id="3" name="TextBox 2"/>
          <p:cNvSpPr txBox="1"/>
          <p:nvPr/>
        </p:nvSpPr>
        <p:spPr>
          <a:xfrm>
            <a:off x="731520" y="676656"/>
            <a:ext cx="10728655" cy="566928"/>
          </a:xfrm>
          <a:prstGeom prst="rect">
            <a:avLst/>
          </a:prstGeom>
          <a:noFill/>
        </p:spPr>
        <p:txBody>
          <a:bodyPr wrap="square" lIns="0" tIns="0" rIns="0" bIns="0" anchor="t">
            <a:noAutofit/>
          </a:bodyPr>
          <a:lstStyle/>
          <a:p>
            <a:pPr algn="l">
              <a:lnSpc>
                <a:spcPct val="105000"/>
              </a:lnSpc>
              <a:spcAft>
                <a:spcPts val="0"/>
              </a:spcAft>
            </a:pPr>
            <a:r>
              <a:rPr sz="2600" b="1" i="0">
                <a:solidFill>
                  <a:srgbClr val="1A2836"/>
                </a:solidFill>
                <a:latin typeface="Georgia"/>
              </a:rPr>
              <a:t>A Calendar Governed by Seasons, Moons, and Sacred Light</a:t>
            </a:r>
          </a:p>
        </p:txBody>
      </p:sp>
      <p:sp>
        <p:nvSpPr>
          <p:cNvPr id="4" name="Rectangle 3"/>
          <p:cNvSpPr/>
          <p:nvPr/>
        </p:nvSpPr>
        <p:spPr>
          <a:xfrm>
            <a:off x="731520" y="1316736"/>
            <a:ext cx="10728655" cy="12801"/>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508760"/>
            <a:ext cx="4297679" cy="4754879"/>
          </a:xfrm>
          <a:prstGeom prst="roundRect">
            <a:avLst>
              <a:gd name="adj" fmla="val 3000"/>
            </a:avLst>
          </a:prstGeom>
          <a:solidFill>
            <a:srgbClr val="2E1D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festivals.jpg"/>
          <p:cNvPicPr>
            <a:picLocks noChangeAspect="1"/>
          </p:cNvPicPr>
          <p:nvPr/>
        </p:nvPicPr>
        <p:blipFill>
          <a:blip r:embed="rId3"/>
          <a:stretch>
            <a:fillRect/>
          </a:stretch>
        </p:blipFill>
        <p:spPr>
          <a:xfrm>
            <a:off x="731520" y="1554480"/>
            <a:ext cx="4206240" cy="4663440"/>
          </a:xfrm>
          <a:prstGeom prst="rect">
            <a:avLst/>
          </a:prstGeom>
        </p:spPr>
      </p:pic>
      <p:sp>
        <p:nvSpPr>
          <p:cNvPr id="7" name="Rectangle 6"/>
          <p:cNvSpPr/>
          <p:nvPr/>
        </p:nvSpPr>
        <p:spPr>
          <a:xfrm>
            <a:off x="731520" y="5486400"/>
            <a:ext cx="4206240" cy="731520"/>
          </a:xfrm>
          <a:prstGeom prst="rect">
            <a:avLst/>
          </a:prstGeom>
          <a:solidFill>
            <a:srgbClr val="2E1D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5486400"/>
            <a:ext cx="4206240" cy="36576"/>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5596128"/>
            <a:ext cx="3749039" cy="256032"/>
          </a:xfrm>
          <a:prstGeom prst="rect">
            <a:avLst/>
          </a:prstGeom>
          <a:noFill/>
        </p:spPr>
        <p:txBody>
          <a:bodyPr wrap="square" lIns="0" tIns="0" rIns="0" bIns="0" anchor="t">
            <a:noAutofit/>
          </a:bodyPr>
          <a:lstStyle/>
          <a:p>
            <a:pPr algn="l">
              <a:lnSpc>
                <a:spcPct val="105000"/>
              </a:lnSpc>
              <a:spcAft>
                <a:spcPts val="0"/>
              </a:spcAft>
            </a:pPr>
            <a:r>
              <a:rPr sz="950" b="1" i="0">
                <a:solidFill>
                  <a:srgbClr val="F7DC8B"/>
                </a:solidFill>
                <a:latin typeface="Arial"/>
              </a:rPr>
              <a:t>FESTIVAL OF LIGHTS &amp; RENEWAL</a:t>
            </a:r>
          </a:p>
        </p:txBody>
      </p:sp>
      <p:sp>
        <p:nvSpPr>
          <p:cNvPr id="10" name="TextBox 9"/>
          <p:cNvSpPr txBox="1"/>
          <p:nvPr/>
        </p:nvSpPr>
        <p:spPr>
          <a:xfrm>
            <a:off x="960120" y="5833872"/>
            <a:ext cx="3749039" cy="320040"/>
          </a:xfrm>
          <a:prstGeom prst="rect">
            <a:avLst/>
          </a:prstGeom>
          <a:noFill/>
        </p:spPr>
        <p:txBody>
          <a:bodyPr wrap="square" lIns="0" tIns="0" rIns="0" bIns="0" anchor="t">
            <a:noAutofit/>
          </a:bodyPr>
          <a:lstStyle/>
          <a:p>
            <a:pPr algn="l">
              <a:lnSpc>
                <a:spcPct val="105000"/>
              </a:lnSpc>
              <a:spcAft>
                <a:spcPts val="0"/>
              </a:spcAft>
            </a:pPr>
            <a:r>
              <a:rPr sz="1100" b="0" i="0">
                <a:solidFill>
                  <a:srgbClr val="FFFFFF"/>
                </a:solidFill>
                <a:latin typeface="Georgia"/>
              </a:rPr>
              <a:t>Diwali Diyas &amp; Sacred Traditions</a:t>
            </a:r>
          </a:p>
        </p:txBody>
      </p:sp>
      <p:sp>
        <p:nvSpPr>
          <p:cNvPr id="11" name="TextBox 10"/>
          <p:cNvSpPr txBox="1"/>
          <p:nvPr/>
        </p:nvSpPr>
        <p:spPr>
          <a:xfrm>
            <a:off x="5242255" y="1554480"/>
            <a:ext cx="6217920" cy="3383280"/>
          </a:xfrm>
          <a:prstGeom prst="rect">
            <a:avLst/>
          </a:prstGeom>
          <a:noFill/>
        </p:spPr>
        <p:txBody>
          <a:bodyPr wrap="square" lIns="0" tIns="0" rIns="0" bIns="0" anchor="t">
            <a:noAutofit/>
          </a:bodyPr>
          <a:lstStyle/>
          <a:p>
            <a:pPr algn="l">
              <a:lnSpc>
                <a:spcPct val="110000"/>
              </a:lnSpc>
              <a:spcAft>
                <a:spcPts val="1200"/>
              </a:spcAft>
            </a:pPr>
            <a:r>
              <a:rPr sz="1450" b="1">
                <a:solidFill>
                  <a:srgbClr val="D49B24"/>
                </a:solidFill>
                <a:latin typeface="Arial"/>
              </a:rPr>
              <a:t>▪  </a:t>
            </a:r>
            <a:r>
              <a:rPr sz="1450" b="1">
                <a:solidFill>
                  <a:srgbClr val="1E1E1C"/>
                </a:solidFill>
                <a:latin typeface="Arial"/>
              </a:rPr>
              <a:t>Diwali &amp; Sacred Light: </a:t>
            </a:r>
            <a:r>
              <a:rPr sz="1450" b="0">
                <a:solidFill>
                  <a:srgbClr val="1E1E1C"/>
                </a:solidFill>
                <a:latin typeface="Arial"/>
              </a:rPr>
              <a:t>Celebrated nationwide as the triumph of light over darkness, marked by millions of glowing earthen diyas and rangoli art.</a:t>
            </a:r>
          </a:p>
          <a:p>
            <a:pPr algn="l">
              <a:lnSpc>
                <a:spcPct val="110000"/>
              </a:lnSpc>
              <a:spcAft>
                <a:spcPts val="1200"/>
              </a:spcAft>
            </a:pPr>
            <a:r>
              <a:rPr sz="1450" b="1">
                <a:solidFill>
                  <a:srgbClr val="D49B24"/>
                </a:solidFill>
                <a:latin typeface="Arial"/>
              </a:rPr>
              <a:t>▪  </a:t>
            </a:r>
            <a:r>
              <a:rPr sz="1450" b="1">
                <a:solidFill>
                  <a:srgbClr val="1E1E1C"/>
                </a:solidFill>
                <a:latin typeface="Arial"/>
              </a:rPr>
              <a:t>Holi &amp; Seasonal Renewal: </a:t>
            </a:r>
            <a:r>
              <a:rPr sz="1450" b="0">
                <a:solidFill>
                  <a:srgbClr val="1E1E1C"/>
                </a:solidFill>
                <a:latin typeface="Arial"/>
              </a:rPr>
              <a:t>The spring festival of colors that dissolves social barriers in joyous communal dancing, music, and seasonal rebirth.</a:t>
            </a:r>
          </a:p>
          <a:p>
            <a:pPr algn="l">
              <a:lnSpc>
                <a:spcPct val="110000"/>
              </a:lnSpc>
              <a:spcAft>
                <a:spcPts val="1200"/>
              </a:spcAft>
            </a:pPr>
            <a:r>
              <a:rPr sz="1450" b="1">
                <a:solidFill>
                  <a:srgbClr val="D49B24"/>
                </a:solidFill>
                <a:latin typeface="Arial"/>
              </a:rPr>
              <a:t>▪  </a:t>
            </a:r>
            <a:r>
              <a:rPr sz="1450" b="1">
                <a:solidFill>
                  <a:srgbClr val="1E1E1C"/>
                </a:solidFill>
                <a:latin typeface="Arial"/>
              </a:rPr>
              <a:t>Durga Puja &amp; Public Art: </a:t>
            </a:r>
            <a:r>
              <a:rPr sz="1450" b="0">
                <a:solidFill>
                  <a:srgbClr val="1E1E1C"/>
                </a:solidFill>
                <a:latin typeface="Arial"/>
              </a:rPr>
              <a:t>A ten-day festival in Bengal honored by UNESCO for its monumental temporary temple pavilions and craft installations.</a:t>
            </a:r>
          </a:p>
          <a:p>
            <a:pPr algn="l">
              <a:lnSpc>
                <a:spcPct val="110000"/>
              </a:lnSpc>
              <a:spcAft>
                <a:spcPts val="1200"/>
              </a:spcAft>
            </a:pPr>
            <a:r>
              <a:rPr sz="1450" b="1">
                <a:solidFill>
                  <a:srgbClr val="D49B24"/>
                </a:solidFill>
                <a:latin typeface="Arial"/>
              </a:rPr>
              <a:t>▪  </a:t>
            </a:r>
            <a:r>
              <a:rPr sz="1450" b="1">
                <a:solidFill>
                  <a:srgbClr val="1E1E1C"/>
                </a:solidFill>
                <a:latin typeface="Arial"/>
              </a:rPr>
              <a:t>Harvest Celebrations across States: </a:t>
            </a:r>
            <a:r>
              <a:rPr sz="1450" b="0">
                <a:solidFill>
                  <a:srgbClr val="1E1E1C"/>
                </a:solidFill>
                <a:latin typeface="Arial"/>
              </a:rPr>
              <a:t>Celebrated synchronously as Pongal in the South, Makar Sankranti in the North, Bihu in Assam, and Onam in Kerala.</a:t>
            </a:r>
          </a:p>
        </p:txBody>
      </p:sp>
      <p:sp>
        <p:nvSpPr>
          <p:cNvPr id="12" name="Rounded Rectangle 11"/>
          <p:cNvSpPr/>
          <p:nvPr/>
        </p:nvSpPr>
        <p:spPr>
          <a:xfrm>
            <a:off x="5242255" y="5074920"/>
            <a:ext cx="6217920" cy="1143000"/>
          </a:xfrm>
          <a:prstGeom prst="roundRect">
            <a:avLst>
              <a:gd name="adj" fmla="val 4000"/>
            </a:avLst>
          </a:prstGeom>
          <a:solidFill>
            <a:srgbClr val="2E1D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242255" y="5074920"/>
            <a:ext cx="91440" cy="1143000"/>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98287" y="5202936"/>
            <a:ext cx="5760720" cy="594360"/>
          </a:xfrm>
          <a:prstGeom prst="rect">
            <a:avLst/>
          </a:prstGeom>
          <a:noFill/>
        </p:spPr>
        <p:txBody>
          <a:bodyPr wrap="square" lIns="0" tIns="0" rIns="0" bIns="0" anchor="t">
            <a:noAutofit/>
          </a:bodyPr>
          <a:lstStyle/>
          <a:p>
            <a:pPr algn="l">
              <a:lnSpc>
                <a:spcPct val="105000"/>
              </a:lnSpc>
              <a:spcAft>
                <a:spcPts val="0"/>
              </a:spcAft>
            </a:pPr>
            <a:r>
              <a:rPr sz="1400" b="1" i="0">
                <a:solidFill>
                  <a:srgbClr val="F7DC8B"/>
                </a:solidFill>
                <a:latin typeface="Georgia"/>
              </a:rPr>
              <a:t>UNESCO Intangible</a:t>
            </a:r>
          </a:p>
        </p:txBody>
      </p:sp>
      <p:sp>
        <p:nvSpPr>
          <p:cNvPr id="15" name="Rectangle 14"/>
          <p:cNvSpPr/>
          <p:nvPr/>
        </p:nvSpPr>
        <p:spPr>
          <a:xfrm>
            <a:off x="5498287" y="5824728"/>
            <a:ext cx="5705856" cy="10972"/>
          </a:xfrm>
          <a:prstGeom prst="rect">
            <a:avLst/>
          </a:prstGeom>
          <a:solidFill>
            <a:srgbClr val="D49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498287" y="5879592"/>
            <a:ext cx="5705856" cy="411480"/>
          </a:xfrm>
          <a:prstGeom prst="rect">
            <a:avLst/>
          </a:prstGeom>
          <a:noFill/>
        </p:spPr>
        <p:txBody>
          <a:bodyPr wrap="square" lIns="0" tIns="0" rIns="0" bIns="0" anchor="t">
            <a:noAutofit/>
          </a:bodyPr>
          <a:lstStyle/>
          <a:p>
            <a:pPr algn="l">
              <a:lnSpc>
                <a:spcPct val="104000"/>
              </a:lnSpc>
              <a:spcAft>
                <a:spcPts val="0"/>
              </a:spcAft>
            </a:pPr>
            <a:r>
              <a:rPr sz="950" b="0" i="0">
                <a:solidFill>
                  <a:srgbClr val="F2EBE0"/>
                </a:solidFill>
                <a:latin typeface="Arial"/>
              </a:rPr>
              <a:t>Kumbh Mela, Durga Puja, and Vedic chanting inscribed on world heritage lists</a:t>
            </a:r>
          </a:p>
        </p:txBody>
      </p:sp>
      <p:sp>
        <p:nvSpPr>
          <p:cNvPr id="17" name="Rectangle 16"/>
          <p:cNvSpPr/>
          <p:nvPr/>
        </p:nvSpPr>
        <p:spPr>
          <a:xfrm>
            <a:off x="731520" y="6400800"/>
            <a:ext cx="10728655" cy="10972"/>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6473952"/>
            <a:ext cx="7772400" cy="256032"/>
          </a:xfrm>
          <a:prstGeom prst="rect">
            <a:avLst/>
          </a:prstGeom>
          <a:noFill/>
        </p:spPr>
        <p:txBody>
          <a:bodyPr wrap="square" lIns="0" tIns="0" rIns="0" bIns="0" anchor="t">
            <a:noAutofit/>
          </a:bodyPr>
          <a:lstStyle/>
          <a:p>
            <a:pPr algn="l">
              <a:lnSpc>
                <a:spcPct val="105000"/>
              </a:lnSpc>
              <a:spcAft>
                <a:spcPts val="0"/>
              </a:spcAft>
            </a:pPr>
            <a:r>
              <a:rPr sz="850" b="0" i="0">
                <a:solidFill>
                  <a:srgbClr val="67645E"/>
                </a:solidFill>
                <a:latin typeface="Arial"/>
              </a:rPr>
              <a:t>The Living Civilization: Five Millennia of Indian Culture, Philosophy, and Heritage</a:t>
            </a:r>
          </a:p>
        </p:txBody>
      </p:sp>
      <p:sp>
        <p:nvSpPr>
          <p:cNvPr id="19" name="TextBox 18"/>
          <p:cNvSpPr txBox="1"/>
          <p:nvPr/>
        </p:nvSpPr>
        <p:spPr>
          <a:xfrm>
            <a:off x="9631375" y="6473952"/>
            <a:ext cx="1828800" cy="256032"/>
          </a:xfrm>
          <a:prstGeom prst="rect">
            <a:avLst/>
          </a:prstGeom>
          <a:noFill/>
        </p:spPr>
        <p:txBody>
          <a:bodyPr wrap="square" lIns="0" tIns="0" rIns="0" bIns="0" anchor="t">
            <a:noAutofit/>
          </a:bodyPr>
          <a:lstStyle/>
          <a:p>
            <a:pPr algn="r">
              <a:lnSpc>
                <a:spcPct val="105000"/>
              </a:lnSpc>
              <a:spcAft>
                <a:spcPts val="0"/>
              </a:spcAft>
            </a:pPr>
            <a:r>
              <a:rPr sz="850" b="1" i="0">
                <a:solidFill>
                  <a:srgbClr val="67645E"/>
                </a:solidFill>
                <a:latin typeface="Arial"/>
              </a:rPr>
              <a:t>09 / 11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6EE"/>
        </a:solidFill>
        <a:effectLst/>
      </p:bgPr>
    </p:bg>
    <p:spTree>
      <p:nvGrpSpPr>
        <p:cNvPr id="1" name=""/>
        <p:cNvGrpSpPr/>
        <p:nvPr/>
      </p:nvGrpSpPr>
      <p:grpSpPr>
        <a:xfrm>
          <a:off x="0" y="0"/>
          <a:ext cx="0" cy="0"/>
          <a:chOff x="0" y="0"/>
          <a:chExt cx="0" cy="0"/>
        </a:xfrm>
      </p:grpSpPr>
      <p:sp>
        <p:nvSpPr>
          <p:cNvPr id="2" name="TextBox 1"/>
          <p:cNvSpPr txBox="1"/>
          <p:nvPr/>
        </p:nvSpPr>
        <p:spPr>
          <a:xfrm>
            <a:off x="731520" y="438912"/>
            <a:ext cx="10728655" cy="237744"/>
          </a:xfrm>
          <a:prstGeom prst="rect">
            <a:avLst/>
          </a:prstGeom>
          <a:noFill/>
        </p:spPr>
        <p:txBody>
          <a:bodyPr wrap="square" lIns="0" tIns="0" rIns="0" bIns="0" anchor="t">
            <a:noAutofit/>
          </a:bodyPr>
          <a:lstStyle/>
          <a:p>
            <a:pPr algn="l">
              <a:lnSpc>
                <a:spcPct val="105000"/>
              </a:lnSpc>
              <a:spcAft>
                <a:spcPts val="0"/>
              </a:spcAft>
            </a:pPr>
            <a:r>
              <a:rPr sz="1050" b="1" i="0">
                <a:solidFill>
                  <a:srgbClr val="D49B24"/>
                </a:solidFill>
                <a:latin typeface="Arial"/>
              </a:rPr>
              <a:t>GLOBAL IMPACT</a:t>
            </a:r>
          </a:p>
        </p:txBody>
      </p:sp>
      <p:sp>
        <p:nvSpPr>
          <p:cNvPr id="3" name="TextBox 2"/>
          <p:cNvSpPr txBox="1"/>
          <p:nvPr/>
        </p:nvSpPr>
        <p:spPr>
          <a:xfrm>
            <a:off x="731520" y="676656"/>
            <a:ext cx="10728655" cy="566928"/>
          </a:xfrm>
          <a:prstGeom prst="rect">
            <a:avLst/>
          </a:prstGeom>
          <a:noFill/>
        </p:spPr>
        <p:txBody>
          <a:bodyPr wrap="square" lIns="0" tIns="0" rIns="0" bIns="0" anchor="t">
            <a:noAutofit/>
          </a:bodyPr>
          <a:lstStyle/>
          <a:p>
            <a:pPr algn="l">
              <a:lnSpc>
                <a:spcPct val="105000"/>
              </a:lnSpc>
              <a:spcAft>
                <a:spcPts val="0"/>
              </a:spcAft>
            </a:pPr>
            <a:r>
              <a:rPr sz="2600" b="1" i="0">
                <a:solidFill>
                  <a:srgbClr val="1A2836"/>
                </a:solidFill>
                <a:latin typeface="Georgia"/>
              </a:rPr>
              <a:t>Ancient Wisdom Reimagined as 21st-Century Soft Power</a:t>
            </a:r>
          </a:p>
        </p:txBody>
      </p:sp>
      <p:sp>
        <p:nvSpPr>
          <p:cNvPr id="4" name="Rectangle 3"/>
          <p:cNvSpPr/>
          <p:nvPr/>
        </p:nvSpPr>
        <p:spPr>
          <a:xfrm>
            <a:off x="731520" y="1316736"/>
            <a:ext cx="10728655" cy="12801"/>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554480"/>
            <a:ext cx="5193792" cy="2331720"/>
          </a:xfrm>
          <a:prstGeom prst="roundRect">
            <a:avLst>
              <a:gd name="adj" fmla="val 3000"/>
            </a:avLst>
          </a:prstGeom>
          <a:solidFill>
            <a:srgbClr val="FFFFFF"/>
          </a:solidFill>
          <a:ln w="12700">
            <a:solidFill>
              <a:srgbClr val="E0D7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554480"/>
            <a:ext cx="5193792" cy="91440"/>
          </a:xfrm>
          <a:prstGeom prst="rect">
            <a:avLst/>
          </a:prstGeom>
          <a:solidFill>
            <a:srgbClr val="0C6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005840" y="1783080"/>
            <a:ext cx="1554480" cy="274320"/>
          </a:xfrm>
          <a:prstGeom prst="roundRect">
            <a:avLst>
              <a:gd name="adj" fmla="val 20000"/>
            </a:avLst>
          </a:prstGeom>
          <a:solidFill>
            <a:srgbClr val="F2EADC"/>
          </a:solidFill>
          <a:ln w="9525">
            <a:solidFill>
              <a:srgbClr val="0C627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819656"/>
            <a:ext cx="1554480" cy="228600"/>
          </a:xfrm>
          <a:prstGeom prst="rect">
            <a:avLst/>
          </a:prstGeom>
          <a:noFill/>
        </p:spPr>
        <p:txBody>
          <a:bodyPr wrap="square" lIns="0" tIns="0" rIns="0" bIns="0" anchor="t">
            <a:noAutofit/>
          </a:bodyPr>
          <a:lstStyle/>
          <a:p>
            <a:pPr algn="ctr">
              <a:lnSpc>
                <a:spcPct val="105000"/>
              </a:lnSpc>
              <a:spcAft>
                <a:spcPts val="0"/>
              </a:spcAft>
            </a:pPr>
            <a:r>
              <a:rPr sz="850" b="1" i="0">
                <a:solidFill>
                  <a:srgbClr val="0C627A"/>
                </a:solidFill>
                <a:latin typeface="Arial"/>
              </a:rPr>
              <a:t>UNIVERSAL HEALTH</a:t>
            </a:r>
          </a:p>
        </p:txBody>
      </p:sp>
      <p:sp>
        <p:nvSpPr>
          <p:cNvPr id="9" name="TextBox 8"/>
          <p:cNvSpPr txBox="1"/>
          <p:nvPr/>
        </p:nvSpPr>
        <p:spPr>
          <a:xfrm>
            <a:off x="1005840" y="2148840"/>
            <a:ext cx="4645152" cy="365760"/>
          </a:xfrm>
          <a:prstGeom prst="rect">
            <a:avLst/>
          </a:prstGeom>
          <a:noFill/>
        </p:spPr>
        <p:txBody>
          <a:bodyPr wrap="square" lIns="0" tIns="0" rIns="0" bIns="0" anchor="t">
            <a:noAutofit/>
          </a:bodyPr>
          <a:lstStyle/>
          <a:p>
            <a:pPr algn="l">
              <a:lnSpc>
                <a:spcPct val="105000"/>
              </a:lnSpc>
              <a:spcAft>
                <a:spcPts val="0"/>
              </a:spcAft>
            </a:pPr>
            <a:r>
              <a:rPr sz="1500" b="1" i="0">
                <a:solidFill>
                  <a:srgbClr val="1A2836"/>
                </a:solidFill>
                <a:latin typeface="Georgia"/>
              </a:rPr>
              <a:t>Holistic Wellness &amp; Yoga</a:t>
            </a:r>
          </a:p>
        </p:txBody>
      </p:sp>
      <p:sp>
        <p:nvSpPr>
          <p:cNvPr id="10" name="TextBox 9"/>
          <p:cNvSpPr txBox="1"/>
          <p:nvPr/>
        </p:nvSpPr>
        <p:spPr>
          <a:xfrm>
            <a:off x="1005840" y="2514600"/>
            <a:ext cx="4645152" cy="1234440"/>
          </a:xfrm>
          <a:prstGeom prst="rect">
            <a:avLst/>
          </a:prstGeom>
          <a:noFill/>
        </p:spPr>
        <p:txBody>
          <a:bodyPr wrap="square" lIns="0" tIns="0" rIns="0" bIns="0" anchor="t">
            <a:noAutofit/>
          </a:bodyPr>
          <a:lstStyle/>
          <a:p>
            <a:pPr algn="l">
              <a:lnSpc>
                <a:spcPct val="115000"/>
              </a:lnSpc>
              <a:spcAft>
                <a:spcPts val="0"/>
              </a:spcAft>
            </a:pPr>
            <a:r>
              <a:rPr sz="1100" b="0" i="0">
                <a:solidFill>
                  <a:srgbClr val="1E1E1C"/>
                </a:solidFill>
                <a:latin typeface="Arial"/>
              </a:rPr>
              <a:t>Celebrated across 190+ nations on International Yoga Day and backed by the WHO Global Centre for Traditional Medicine, Yoga and Ayurveda offer holistic wellness solutions for contemporary life.</a:t>
            </a:r>
          </a:p>
        </p:txBody>
      </p:sp>
      <p:sp>
        <p:nvSpPr>
          <p:cNvPr id="11" name="Rounded Rectangle 10"/>
          <p:cNvSpPr/>
          <p:nvPr/>
        </p:nvSpPr>
        <p:spPr>
          <a:xfrm>
            <a:off x="6266383" y="1554480"/>
            <a:ext cx="5193792" cy="2331720"/>
          </a:xfrm>
          <a:prstGeom prst="roundRect">
            <a:avLst>
              <a:gd name="adj" fmla="val 3000"/>
            </a:avLst>
          </a:prstGeom>
          <a:solidFill>
            <a:srgbClr val="FFFFFF"/>
          </a:solidFill>
          <a:ln w="12700">
            <a:solidFill>
              <a:srgbClr val="E0D7C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66383" y="1554480"/>
            <a:ext cx="5193792" cy="91440"/>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6540703" y="1783080"/>
            <a:ext cx="1691640" cy="274320"/>
          </a:xfrm>
          <a:prstGeom prst="roundRect">
            <a:avLst>
              <a:gd name="adj" fmla="val 20000"/>
            </a:avLst>
          </a:prstGeom>
          <a:solidFill>
            <a:srgbClr val="F2EADC"/>
          </a:solidFill>
          <a:ln w="9525">
            <a:solidFill>
              <a:srgbClr val="E6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40703" y="1819656"/>
            <a:ext cx="1691640" cy="228600"/>
          </a:xfrm>
          <a:prstGeom prst="rect">
            <a:avLst/>
          </a:prstGeom>
          <a:noFill/>
        </p:spPr>
        <p:txBody>
          <a:bodyPr wrap="square" lIns="0" tIns="0" rIns="0" bIns="0" anchor="t">
            <a:noAutofit/>
          </a:bodyPr>
          <a:lstStyle/>
          <a:p>
            <a:pPr algn="ctr">
              <a:lnSpc>
                <a:spcPct val="105000"/>
              </a:lnSpc>
              <a:spcAft>
                <a:spcPts val="0"/>
              </a:spcAft>
            </a:pPr>
            <a:r>
              <a:rPr sz="850" b="1" i="0">
                <a:solidFill>
                  <a:srgbClr val="E65100"/>
                </a:solidFill>
                <a:latin typeface="Arial"/>
              </a:rPr>
              <a:t>TRANSNATIONAL BRIDGE</a:t>
            </a:r>
          </a:p>
        </p:txBody>
      </p:sp>
      <p:sp>
        <p:nvSpPr>
          <p:cNvPr id="15" name="TextBox 14"/>
          <p:cNvSpPr txBox="1"/>
          <p:nvPr/>
        </p:nvSpPr>
        <p:spPr>
          <a:xfrm>
            <a:off x="6540703" y="2148840"/>
            <a:ext cx="4645152" cy="365760"/>
          </a:xfrm>
          <a:prstGeom prst="rect">
            <a:avLst/>
          </a:prstGeom>
          <a:noFill/>
        </p:spPr>
        <p:txBody>
          <a:bodyPr wrap="square" lIns="0" tIns="0" rIns="0" bIns="0" anchor="t">
            <a:noAutofit/>
          </a:bodyPr>
          <a:lstStyle/>
          <a:p>
            <a:pPr algn="l">
              <a:lnSpc>
                <a:spcPct val="105000"/>
              </a:lnSpc>
              <a:spcAft>
                <a:spcPts val="0"/>
              </a:spcAft>
            </a:pPr>
            <a:r>
              <a:rPr sz="1500" b="1" i="0">
                <a:solidFill>
                  <a:srgbClr val="1A2836"/>
                </a:solidFill>
                <a:latin typeface="Georgia"/>
              </a:rPr>
              <a:t>The Global Indian Diaspora</a:t>
            </a:r>
          </a:p>
        </p:txBody>
      </p:sp>
      <p:sp>
        <p:nvSpPr>
          <p:cNvPr id="16" name="TextBox 15"/>
          <p:cNvSpPr txBox="1"/>
          <p:nvPr/>
        </p:nvSpPr>
        <p:spPr>
          <a:xfrm>
            <a:off x="6540703" y="2514600"/>
            <a:ext cx="4645152" cy="1234440"/>
          </a:xfrm>
          <a:prstGeom prst="rect">
            <a:avLst/>
          </a:prstGeom>
          <a:noFill/>
        </p:spPr>
        <p:txBody>
          <a:bodyPr wrap="square" lIns="0" tIns="0" rIns="0" bIns="0" anchor="t">
            <a:noAutofit/>
          </a:bodyPr>
          <a:lstStyle/>
          <a:p>
            <a:pPr algn="l">
              <a:lnSpc>
                <a:spcPct val="115000"/>
              </a:lnSpc>
              <a:spcAft>
                <a:spcPts val="0"/>
              </a:spcAft>
            </a:pPr>
            <a:r>
              <a:rPr sz="1100" b="0" i="0">
                <a:solidFill>
                  <a:srgbClr val="1E1E1C"/>
                </a:solidFill>
                <a:latin typeface="Arial"/>
              </a:rPr>
              <a:t>From pioneering global technology leadership to popularizing classical music, cuisine, and literature, 32 million overseas Indians actively share civilizational values of pluralism and enterprise.</a:t>
            </a:r>
          </a:p>
        </p:txBody>
      </p:sp>
      <p:sp>
        <p:nvSpPr>
          <p:cNvPr id="17" name="Rounded Rectangle 16"/>
          <p:cNvSpPr/>
          <p:nvPr/>
        </p:nvSpPr>
        <p:spPr>
          <a:xfrm>
            <a:off x="731520" y="4069080"/>
            <a:ext cx="10728655" cy="2148840"/>
          </a:xfrm>
          <a:prstGeom prst="roundRect">
            <a:avLst>
              <a:gd name="adj" fmla="val 3000"/>
            </a:avLst>
          </a:prstGeom>
          <a:solidFill>
            <a:srgbClr val="1A28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31520" y="4069080"/>
            <a:ext cx="109728" cy="2148840"/>
          </a:xfrm>
          <a:prstGeom prst="rect">
            <a:avLst/>
          </a:prstGeom>
          <a:solidFill>
            <a:srgbClr val="D49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097280" y="4297680"/>
            <a:ext cx="1737360" cy="292608"/>
          </a:xfrm>
          <a:prstGeom prst="roundRect">
            <a:avLst>
              <a:gd name="adj" fmla="val 20000"/>
            </a:avLst>
          </a:prstGeom>
          <a:solidFill>
            <a:srgbClr val="2E1D16"/>
          </a:solidFill>
          <a:ln w="9525">
            <a:solidFill>
              <a:srgbClr val="D49B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97280" y="4343400"/>
            <a:ext cx="1737360" cy="228600"/>
          </a:xfrm>
          <a:prstGeom prst="rect">
            <a:avLst/>
          </a:prstGeom>
          <a:noFill/>
        </p:spPr>
        <p:txBody>
          <a:bodyPr wrap="square" lIns="0" tIns="0" rIns="0" bIns="0" anchor="t">
            <a:noAutofit/>
          </a:bodyPr>
          <a:lstStyle/>
          <a:p>
            <a:pPr algn="ctr">
              <a:lnSpc>
                <a:spcPct val="105000"/>
              </a:lnSpc>
              <a:spcAft>
                <a:spcPts val="0"/>
              </a:spcAft>
            </a:pPr>
            <a:r>
              <a:rPr sz="850" b="1" i="0">
                <a:solidFill>
                  <a:srgbClr val="F7DC8B"/>
                </a:solidFill>
                <a:latin typeface="Arial"/>
              </a:rPr>
              <a:t>ETERNAL SYNTHESIS</a:t>
            </a:r>
          </a:p>
        </p:txBody>
      </p:sp>
      <p:sp>
        <p:nvSpPr>
          <p:cNvPr id="21" name="TextBox 20"/>
          <p:cNvSpPr txBox="1"/>
          <p:nvPr/>
        </p:nvSpPr>
        <p:spPr>
          <a:xfrm>
            <a:off x="1097280" y="4690872"/>
            <a:ext cx="9997135" cy="384048"/>
          </a:xfrm>
          <a:prstGeom prst="rect">
            <a:avLst/>
          </a:prstGeom>
          <a:noFill/>
        </p:spPr>
        <p:txBody>
          <a:bodyPr wrap="square" lIns="0" tIns="0" rIns="0" bIns="0" anchor="t">
            <a:noAutofit/>
          </a:bodyPr>
          <a:lstStyle/>
          <a:p>
            <a:pPr algn="l">
              <a:lnSpc>
                <a:spcPct val="105000"/>
              </a:lnSpc>
              <a:spcAft>
                <a:spcPts val="0"/>
              </a:spcAft>
            </a:pPr>
            <a:r>
              <a:rPr sz="1600" b="1" i="0">
                <a:solidFill>
                  <a:srgbClr val="FFFFFF"/>
                </a:solidFill>
                <a:latin typeface="Georgia"/>
              </a:rPr>
              <a:t>Continuity in Modernity</a:t>
            </a:r>
          </a:p>
        </p:txBody>
      </p:sp>
      <p:sp>
        <p:nvSpPr>
          <p:cNvPr id="22" name="TextBox 21"/>
          <p:cNvSpPr txBox="1"/>
          <p:nvPr/>
        </p:nvSpPr>
        <p:spPr>
          <a:xfrm>
            <a:off x="1097280" y="5074920"/>
            <a:ext cx="9997135" cy="274320"/>
          </a:xfrm>
          <a:prstGeom prst="rect">
            <a:avLst/>
          </a:prstGeom>
          <a:noFill/>
        </p:spPr>
        <p:txBody>
          <a:bodyPr wrap="square" lIns="0" tIns="0" rIns="0" bIns="0" anchor="t">
            <a:noAutofit/>
          </a:bodyPr>
          <a:lstStyle/>
          <a:p>
            <a:pPr algn="l">
              <a:lnSpc>
                <a:spcPct val="105000"/>
              </a:lnSpc>
              <a:spcAft>
                <a:spcPts val="0"/>
              </a:spcAft>
            </a:pPr>
            <a:r>
              <a:rPr sz="1200" b="1" i="0">
                <a:solidFill>
                  <a:srgbClr val="F7DC8B"/>
                </a:solidFill>
                <a:latin typeface="Arial"/>
              </a:rPr>
              <a:t>Symbiosis of Heritage &amp; Technological Advance</a:t>
            </a:r>
          </a:p>
        </p:txBody>
      </p:sp>
      <p:sp>
        <p:nvSpPr>
          <p:cNvPr id="23" name="TextBox 22"/>
          <p:cNvSpPr txBox="1"/>
          <p:nvPr/>
        </p:nvSpPr>
        <p:spPr>
          <a:xfrm>
            <a:off x="1097280" y="5394960"/>
            <a:ext cx="9997135" cy="685800"/>
          </a:xfrm>
          <a:prstGeom prst="rect">
            <a:avLst/>
          </a:prstGeom>
          <a:noFill/>
        </p:spPr>
        <p:txBody>
          <a:bodyPr wrap="square" lIns="0" tIns="0" rIns="0" bIns="0" anchor="t">
            <a:noAutofit/>
          </a:bodyPr>
          <a:lstStyle/>
          <a:p>
            <a:pPr algn="l">
              <a:lnSpc>
                <a:spcPct val="115000"/>
              </a:lnSpc>
              <a:spcAft>
                <a:spcPts val="0"/>
              </a:spcAft>
            </a:pPr>
            <a:r>
              <a:rPr sz="1150" b="0" i="0">
                <a:solidFill>
                  <a:srgbClr val="F2EBE0"/>
                </a:solidFill>
                <a:latin typeface="Arial"/>
              </a:rPr>
              <a:t>India's emergence as an economic, space, and technological powerhouse is deeply anchored in its civilizational ethos, proving that millennia-old wisdom and cutting-edge innovation flourish together.</a:t>
            </a:r>
          </a:p>
        </p:txBody>
      </p:sp>
      <p:sp>
        <p:nvSpPr>
          <p:cNvPr id="24" name="Rectangle 23"/>
          <p:cNvSpPr/>
          <p:nvPr/>
        </p:nvSpPr>
        <p:spPr>
          <a:xfrm>
            <a:off x="731520" y="6400800"/>
            <a:ext cx="10728655" cy="10972"/>
          </a:xfrm>
          <a:prstGeom prst="rect">
            <a:avLst/>
          </a:prstGeom>
          <a:solidFill>
            <a:srgbClr val="E0D7C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6473952"/>
            <a:ext cx="7772400" cy="256032"/>
          </a:xfrm>
          <a:prstGeom prst="rect">
            <a:avLst/>
          </a:prstGeom>
          <a:noFill/>
        </p:spPr>
        <p:txBody>
          <a:bodyPr wrap="square" lIns="0" tIns="0" rIns="0" bIns="0" anchor="t">
            <a:noAutofit/>
          </a:bodyPr>
          <a:lstStyle/>
          <a:p>
            <a:pPr algn="l">
              <a:lnSpc>
                <a:spcPct val="105000"/>
              </a:lnSpc>
              <a:spcAft>
                <a:spcPts val="0"/>
              </a:spcAft>
            </a:pPr>
            <a:r>
              <a:rPr sz="850" b="0" i="0">
                <a:solidFill>
                  <a:srgbClr val="67645E"/>
                </a:solidFill>
                <a:latin typeface="Arial"/>
              </a:rPr>
              <a:t>The Living Civilization: Five Millennia of Indian Culture, Philosophy, and Heritage</a:t>
            </a:r>
          </a:p>
        </p:txBody>
      </p:sp>
      <p:sp>
        <p:nvSpPr>
          <p:cNvPr id="26" name="TextBox 25"/>
          <p:cNvSpPr txBox="1"/>
          <p:nvPr/>
        </p:nvSpPr>
        <p:spPr>
          <a:xfrm>
            <a:off x="9631375" y="6473952"/>
            <a:ext cx="1828800" cy="256032"/>
          </a:xfrm>
          <a:prstGeom prst="rect">
            <a:avLst/>
          </a:prstGeom>
          <a:noFill/>
        </p:spPr>
        <p:txBody>
          <a:bodyPr wrap="square" lIns="0" tIns="0" rIns="0" bIns="0" anchor="t">
            <a:noAutofit/>
          </a:bodyPr>
          <a:lstStyle/>
          <a:p>
            <a:pPr algn="r">
              <a:lnSpc>
                <a:spcPct val="105000"/>
              </a:lnSpc>
              <a:spcAft>
                <a:spcPts val="0"/>
              </a:spcAft>
            </a:pPr>
            <a:r>
              <a:rPr sz="850" b="1" i="0">
                <a:solidFill>
                  <a:srgbClr val="67645E"/>
                </a:solidFill>
                <a:latin typeface="Arial"/>
              </a:rPr>
              <a:t>10 / 11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E1D16"/>
        </a:solidFill>
        <a:effectLst/>
      </p:bgPr>
    </p:bg>
    <p:spTree>
      <p:nvGrpSpPr>
        <p:cNvPr id="1" name=""/>
        <p:cNvGrpSpPr/>
        <p:nvPr/>
      </p:nvGrpSpPr>
      <p:grpSpPr>
        <a:xfrm>
          <a:off x="0" y="0"/>
          <a:ext cx="0" cy="0"/>
          <a:chOff x="0" y="0"/>
          <a:chExt cx="0" cy="0"/>
        </a:xfrm>
      </p:grpSpPr>
      <p:pic>
        <p:nvPicPr>
          <p:cNvPr id="2" name="Picture 1" descr="closing.jpg"/>
          <p:cNvPicPr>
            <a:picLocks noChangeAspect="1"/>
          </p:cNvPicPr>
          <p:nvPr/>
        </p:nvPicPr>
        <p:blipFill>
          <a:blip r:embed="rId3"/>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2E1D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914400" y="1005840"/>
            <a:ext cx="10362895" cy="4846320"/>
          </a:xfrm>
          <a:prstGeom prst="roundRect">
            <a:avLst>
              <a:gd name="adj" fmla="val 3000"/>
            </a:avLst>
          </a:prstGeom>
          <a:solidFill>
            <a:srgbClr val="1A2836"/>
          </a:solidFill>
          <a:ln w="19050">
            <a:solidFill>
              <a:srgbClr val="D49B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14400" y="1005840"/>
            <a:ext cx="10362895" cy="109728"/>
          </a:xfrm>
          <a:prstGeom prst="rect">
            <a:avLst/>
          </a:prstGeom>
          <a:solidFill>
            <a:srgbClr val="D49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463040" y="1508760"/>
            <a:ext cx="2194560" cy="329184"/>
          </a:xfrm>
          <a:prstGeom prst="roundRect">
            <a:avLst>
              <a:gd name="adj" fmla="val 20000"/>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63040" y="1545336"/>
            <a:ext cx="2194560" cy="329184"/>
          </a:xfrm>
          <a:prstGeom prst="rect">
            <a:avLst/>
          </a:prstGeom>
          <a:noFill/>
        </p:spPr>
        <p:txBody>
          <a:bodyPr wrap="square" lIns="0" tIns="0" rIns="0" bIns="0" anchor="t">
            <a:noAutofit/>
          </a:bodyPr>
          <a:lstStyle/>
          <a:p>
            <a:pPr algn="ctr">
              <a:lnSpc>
                <a:spcPct val="105000"/>
              </a:lnSpc>
              <a:spcAft>
                <a:spcPts val="0"/>
              </a:spcAft>
            </a:pPr>
            <a:r>
              <a:rPr sz="1000" b="1" i="0">
                <a:solidFill>
                  <a:srgbClr val="FFFFFF"/>
                </a:solidFill>
                <a:latin typeface="Arial"/>
              </a:rPr>
              <a:t>THE TIMELESS LEGACY</a:t>
            </a:r>
          </a:p>
        </p:txBody>
      </p:sp>
      <p:sp>
        <p:nvSpPr>
          <p:cNvPr id="8" name="TextBox 7"/>
          <p:cNvSpPr txBox="1"/>
          <p:nvPr/>
        </p:nvSpPr>
        <p:spPr>
          <a:xfrm>
            <a:off x="1463040" y="2057400"/>
            <a:ext cx="9265615" cy="1051560"/>
          </a:xfrm>
          <a:prstGeom prst="rect">
            <a:avLst/>
          </a:prstGeom>
          <a:noFill/>
        </p:spPr>
        <p:txBody>
          <a:bodyPr wrap="square" lIns="0" tIns="0" rIns="0" bIns="0" anchor="t">
            <a:noAutofit/>
          </a:bodyPr>
          <a:lstStyle/>
          <a:p>
            <a:pPr algn="l">
              <a:lnSpc>
                <a:spcPct val="105000"/>
              </a:lnSpc>
              <a:spcAft>
                <a:spcPts val="0"/>
              </a:spcAft>
            </a:pPr>
            <a:r>
              <a:rPr sz="4800" b="1" i="0">
                <a:solidFill>
                  <a:srgbClr val="FFFFFF"/>
                </a:solidFill>
                <a:latin typeface="Georgia"/>
              </a:rPr>
              <a:t>Continuity in Transformation</a:t>
            </a:r>
          </a:p>
        </p:txBody>
      </p:sp>
      <p:sp>
        <p:nvSpPr>
          <p:cNvPr id="9" name="TextBox 8"/>
          <p:cNvSpPr txBox="1"/>
          <p:nvPr/>
        </p:nvSpPr>
        <p:spPr>
          <a:xfrm>
            <a:off x="1508760" y="3520440"/>
            <a:ext cx="9265615" cy="777240"/>
          </a:xfrm>
          <a:prstGeom prst="rect">
            <a:avLst/>
          </a:prstGeom>
          <a:noFill/>
        </p:spPr>
        <p:txBody>
          <a:bodyPr wrap="square" lIns="0" tIns="0" rIns="0" bIns="0" anchor="t">
            <a:noAutofit/>
          </a:bodyPr>
          <a:lstStyle/>
          <a:p>
            <a:pPr algn="l">
              <a:lnSpc>
                <a:spcPct val="115000"/>
              </a:lnSpc>
              <a:spcAft>
                <a:spcPts val="0"/>
              </a:spcAft>
            </a:pPr>
            <a:r>
              <a:rPr sz="1850" b="0" i="0" dirty="0">
                <a:solidFill>
                  <a:srgbClr val="F7DC8B"/>
                </a:solidFill>
                <a:latin typeface="Arial"/>
              </a:rPr>
              <a:t>The Eternal Flow of Bharat — Rooted in Five Millennia, Inspiring the Global Future</a:t>
            </a:r>
          </a:p>
        </p:txBody>
      </p:sp>
      <p:sp>
        <p:nvSpPr>
          <p:cNvPr id="10" name="Rounded Rectangle 9"/>
          <p:cNvSpPr/>
          <p:nvPr/>
        </p:nvSpPr>
        <p:spPr>
          <a:xfrm>
            <a:off x="1463040" y="4160520"/>
            <a:ext cx="9265615" cy="1280160"/>
          </a:xfrm>
          <a:prstGeom prst="roundRect">
            <a:avLst>
              <a:gd name="adj" fmla="val 4000"/>
            </a:avLst>
          </a:prstGeom>
          <a:solidFill>
            <a:srgbClr val="2E1D16"/>
          </a:solidFill>
          <a:ln w="9525">
            <a:solidFill>
              <a:srgbClr val="D49B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463040" y="4160520"/>
            <a:ext cx="91440" cy="1280160"/>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737360" y="4297680"/>
            <a:ext cx="8716975" cy="365760"/>
          </a:xfrm>
          <a:prstGeom prst="rect">
            <a:avLst/>
          </a:prstGeom>
          <a:noFill/>
        </p:spPr>
        <p:txBody>
          <a:bodyPr wrap="square" lIns="0" tIns="0" rIns="0" bIns="0" anchor="t">
            <a:noAutofit/>
          </a:bodyPr>
          <a:lstStyle/>
          <a:p>
            <a:pPr algn="l">
              <a:lnSpc>
                <a:spcPct val="105000"/>
              </a:lnSpc>
              <a:spcAft>
                <a:spcPts val="0"/>
              </a:spcAft>
            </a:pPr>
            <a:r>
              <a:rPr sz="1500" b="1" i="0">
                <a:solidFill>
                  <a:srgbClr val="F7DC8B"/>
                </a:solidFill>
                <a:latin typeface="Georgia"/>
              </a:rPr>
              <a:t>5,000 Years of Living Thought</a:t>
            </a:r>
          </a:p>
        </p:txBody>
      </p:sp>
      <p:sp>
        <p:nvSpPr>
          <p:cNvPr id="13" name="TextBox 12"/>
          <p:cNvSpPr txBox="1"/>
          <p:nvPr/>
        </p:nvSpPr>
        <p:spPr>
          <a:xfrm>
            <a:off x="1737360" y="4709160"/>
            <a:ext cx="8716975" cy="594360"/>
          </a:xfrm>
          <a:prstGeom prst="rect">
            <a:avLst/>
          </a:prstGeom>
          <a:noFill/>
        </p:spPr>
        <p:txBody>
          <a:bodyPr wrap="square" lIns="0" tIns="0" rIns="0" bIns="0" anchor="t">
            <a:noAutofit/>
          </a:bodyPr>
          <a:lstStyle/>
          <a:p>
            <a:pPr algn="l">
              <a:lnSpc>
                <a:spcPct val="112000"/>
              </a:lnSpc>
              <a:spcAft>
                <a:spcPts val="0"/>
              </a:spcAft>
            </a:pPr>
            <a:r>
              <a:rPr sz="1150" b="0" i="0">
                <a:solidFill>
                  <a:srgbClr val="F2EBE0"/>
                </a:solidFill>
                <a:latin typeface="Arial"/>
              </a:rPr>
              <a:t>From ancient Vedic hymns to modern space exploration, the spirit of India continues to illuminate human consciousness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2097</Words>
  <Application>Microsoft Office PowerPoint</Application>
  <PresentationFormat>Widescreen</PresentationFormat>
  <Paragraphs>170</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Living Civilization: Five Millennia of Indian Culture, Philosophy, and Heritage</dc:title>
  <dc:subject>5,000 Years of Indian Culture, Philosophy, and Heritage</dc:subject>
  <dc:creator>PPTmaker Autonomous Presentation Studio</dc:creator>
  <cp:keywords>Indian Culture, Heritage, Philosophy, Yoga, Architecture, Bharatanatyam, History</cp:keywords>
  <dc:description>generated using python-pptx</dc:description>
  <cp:lastModifiedBy>Tanuj Joshi</cp:lastModifiedBy>
  <cp:revision>2</cp:revision>
  <dcterms:created xsi:type="dcterms:W3CDTF">2013-01-27T09:14:16Z</dcterms:created>
  <dcterms:modified xsi:type="dcterms:W3CDTF">2026-09-12T01:09:55Z</dcterms:modified>
  <cp:category/>
</cp:coreProperties>
</file>