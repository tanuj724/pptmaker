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examine the greatest geological monument on Earth: the Himalayas. Stretching in a monumental arc across Asia, this mountain system is not simply a static crown of rock and ice, but the dynamic hydrological engine that sustains nearly a quarter of humanity. Let us begin by measuring its extraordinary scale.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grasp the significance of the Himalayas, we must understand two contrasting numbers: eight thousand eight hundred and forty-eight meters of vertical elevation at the peak of Everest, and one point nine billion human lives sustained down in the river valleys below. This range is both a boundary of the stratosphere and the planetary cradle of Asian civilization. Let us now trace how fifty million years of continental collision created this colossal barrier.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birth of the Himalayas is the most dramatic collision in Earth's geological history. Fifty million years ago, the drifting Indian continent slammed into the underbelly of Eurasia. The ancient Tethys seafloor was crumpled and lifted into the sky—which is why marine fossils are found today on the summit rocks of Everest. This tectonic engine has never stopped; it continues to lift the mountains by five millimeters each year. Next, let us examine the three distinct parallel ranges that make up this mountain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Geographers divide the Himalayan system into three distinct parallel zones running west to east. At the base lie the Siwalik foothills, formed from ancient river sediments. Above them rises the Lesser Himalaya, characterized by pine-forested ridges and terraced human communities. Finally, soaring into the sky is the Great Himalaya or Himadri—the crystalline core of perennial ice and sheer granite that contains all fourteen of the world's highest peaks. Let us now look at how this frozen spine acts as the freshwater engine of Asia.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Himalayas are rightfully known as the Water Towers of Asia. Ten of the continent's mightiest rivers originate in these glaciers. During the dry spring months before monsoon rains arrive, meltwater from these high snows is the only thing keeping downstream rivers flowing. This water irrigates the vast agricultural belts of South and East Asia that produce a fifth of the world's food supply. Let us look at the astonishing physical numbers that quantify this colossal 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numbers illustrate why the Himalayas stand alone in earth science. They contain all fourteen of the world's eight-thousand-meter peaks. Their arc spans two thousand four hundred kilometers across five sovereign nations. They hold forty-six thousand square kilometers of glacial ice—the largest ice reserve outside the poles. And because the Indian plate continues its northward push, the range is actively growing by five millimeters every year. Behind these sheer physical extremes lies a profound history of human exploration, highlighted next.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May 29, 1953, Edmund Hillary and Tenzing Norgay achieved what many believed was physiologically impossible: reaching the summit of Mount Everest. Yet Hillary's reflection afterward remains the definitive truth of mountaineering: it is not the mountain we conquer, but ourselves. In the thin air above eight thousand meters, ego disappears and survival depends on respect for natural forces. Let us now examine how Earth's highest individual giants compare.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comparative matrix outlines six of Earth's supreme peaks. While Everest claims the absolute altitude record at 8,848 meters, mountains like K2 present far steeper technical climbing difficulties, and Annapurna is notorious for deadly avalanches. Each summit possesses a distinct geological architecture, from Everest's marine limestone bands to Makalu's sheer granite pyramid. But today, these timeless glaciers face an existential threat from global warming.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Himalayas are warming at up to double the global average rate, earning them the title of climate ground zero. As glaciers retreat at unprecedented speeds, unstable meltwater lakes form behind fragile gravel dams, threatening mountain villages with catastrophic outburst floods. In the short term, this increases flooding; in the long term, once the glaciers shrink, river flows will plummet during dry seasons. Preserving this frozen reservoir is an international emergency. Let us now examine the resilient biodiversity and human cultures that inhabit these extremes.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Despite freezing temperatures and thin air, the Himalayas host an extraordinary web of life. Endangered snow leopards stalk blue sheep along rocky cliffs, while alpine meadows host thousands of endemic medicinal plants. Human communities, particularly Sherpas and Tibetans, have developed extraordinary physiological adaptations to high altitude at a genetic level. But local resilience is not enough; safeguarding this global commons requires transboundary conservation and worldwide climate action. Let us conclude with our final synthesis.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Himalayas are far more than a mountaineer's dream or a scenic horizon. They are the living pulse of continental tectonics, the frozen water tower sustaining a fifth of humankind, and the definitive barometer of our planet's climate health. Protecting this eternal sentinel is not merely a regional priority—it is an imperative for all humanity.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B26"/>
        </a:solidFill>
        <a:effectLst/>
      </p:bgPr>
    </p:bg>
    <p:spTree>
      <p:nvGrpSpPr>
        <p:cNvPr id="1" name=""/>
        <p:cNvGrpSpPr/>
        <p:nvPr/>
      </p:nvGrpSpPr>
      <p:grpSpPr/>
      <p:pic>
        <p:nvPicPr>
          <p:cNvPr id="2" name="Picture 1" descr="title.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10362895" cy="4846320"/>
          </a:xfrm>
          <a:prstGeom prst="roundRect">
            <a:avLst>
              <a:gd name="adj" fmla="val 3000"/>
            </a:avLst>
          </a:prstGeom>
          <a:solidFill>
            <a:srgbClr val="162838"/>
          </a:solidFill>
          <a:ln w="19050">
            <a:solidFill>
              <a:srgbClr val="C692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05840"/>
            <a:ext cx="10362895" cy="109728"/>
          </a:xfrm>
          <a:prstGeom prst="rect">
            <a:avLst/>
          </a:prstGeom>
          <a:solidFill>
            <a:srgbClr val="C69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63040" y="1508760"/>
            <a:ext cx="2560320" cy="329184"/>
          </a:xfrm>
          <a:prstGeom prst="roundRect">
            <a:avLst>
              <a:gd name="adj" fmla="val 20000"/>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1545336"/>
            <a:ext cx="2560320" cy="329184"/>
          </a:xfrm>
          <a:prstGeom prst="rect">
            <a:avLst/>
          </a:prstGeom>
          <a:noFill/>
        </p:spPr>
        <p:txBody>
          <a:bodyPr wrap="square" anchor="t" lIns="0" rIns="0" tIns="0" bIns="0">
            <a:noAutofit/>
          </a:bodyPr>
          <a:lstStyle/>
          <a:p>
            <a:pPr algn="ctr">
              <a:lnSpc>
                <a:spcPct val="105000"/>
              </a:lnSpc>
              <a:spcAft>
                <a:spcPts val="0"/>
              </a:spcAft>
            </a:pPr>
            <a:r>
              <a:rPr sz="950" b="1" i="0">
                <a:solidFill>
                  <a:srgbClr val="0E1B26"/>
                </a:solidFill>
                <a:latin typeface="Arial"/>
              </a:rPr>
              <a:t>EARTH SCIENCE &amp; GEOGRAPHY</a:t>
            </a:r>
          </a:p>
        </p:txBody>
      </p:sp>
      <p:sp>
        <p:nvSpPr>
          <p:cNvPr id="8" name="TextBox 7"/>
          <p:cNvSpPr txBox="1"/>
          <p:nvPr/>
        </p:nvSpPr>
        <p:spPr>
          <a:xfrm>
            <a:off x="1463040" y="2057400"/>
            <a:ext cx="9265615" cy="1143000"/>
          </a:xfrm>
          <a:prstGeom prst="rect">
            <a:avLst/>
          </a:prstGeom>
          <a:noFill/>
        </p:spPr>
        <p:txBody>
          <a:bodyPr wrap="square" anchor="t" lIns="0" rIns="0" tIns="0" bIns="0">
            <a:noAutofit/>
          </a:bodyPr>
          <a:lstStyle/>
          <a:p>
            <a:pPr algn="l">
              <a:lnSpc>
                <a:spcPct val="105000"/>
              </a:lnSpc>
              <a:spcAft>
                <a:spcPts val="0"/>
              </a:spcAft>
            </a:pPr>
            <a:r>
              <a:rPr sz="5200" b="1" i="0">
                <a:solidFill>
                  <a:srgbClr val="FFFFFF"/>
                </a:solidFill>
                <a:latin typeface="Georgia"/>
              </a:rPr>
              <a:t>The Roof of the World</a:t>
            </a:r>
          </a:p>
        </p:txBody>
      </p:sp>
      <p:sp>
        <p:nvSpPr>
          <p:cNvPr id="9" name="TextBox 8"/>
          <p:cNvSpPr txBox="1"/>
          <p:nvPr/>
        </p:nvSpPr>
        <p:spPr>
          <a:xfrm>
            <a:off x="1463040" y="3291840"/>
            <a:ext cx="9265615" cy="822960"/>
          </a:xfrm>
          <a:prstGeom prst="rect">
            <a:avLst/>
          </a:prstGeom>
          <a:noFill/>
        </p:spPr>
        <p:txBody>
          <a:bodyPr wrap="square" anchor="t" lIns="0" rIns="0" tIns="0" bIns="0">
            <a:noAutofit/>
          </a:bodyPr>
          <a:lstStyle/>
          <a:p>
            <a:pPr algn="l">
              <a:lnSpc>
                <a:spcPct val="115000"/>
              </a:lnSpc>
              <a:spcAft>
                <a:spcPts val="0"/>
              </a:spcAft>
            </a:pPr>
            <a:r>
              <a:rPr sz="2000" b="0" i="0">
                <a:solidFill>
                  <a:srgbClr val="F2D88C"/>
                </a:solidFill>
                <a:latin typeface="Arial"/>
              </a:rPr>
              <a:t>Geology, Ecology, and the Planetary Majesty of the Himalayas</a:t>
            </a:r>
          </a:p>
        </p:txBody>
      </p:sp>
      <p:sp>
        <p:nvSpPr>
          <p:cNvPr id="10" name="Rectangle 9"/>
          <p:cNvSpPr/>
          <p:nvPr/>
        </p:nvSpPr>
        <p:spPr>
          <a:xfrm>
            <a:off x="1463040" y="4343400"/>
            <a:ext cx="9265615" cy="13716"/>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40" y="4572000"/>
            <a:ext cx="9265615" cy="365760"/>
          </a:xfrm>
          <a:prstGeom prst="rect">
            <a:avLst/>
          </a:prstGeom>
          <a:noFill/>
        </p:spPr>
        <p:txBody>
          <a:bodyPr wrap="square" anchor="t" lIns="0" rIns="0" tIns="0" bIns="0">
            <a:noAutofit/>
          </a:bodyPr>
          <a:lstStyle/>
          <a:p>
            <a:pPr algn="l">
              <a:lnSpc>
                <a:spcPct val="105000"/>
              </a:lnSpc>
              <a:spcAft>
                <a:spcPts val="0"/>
              </a:spcAft>
            </a:pPr>
            <a:r>
              <a:rPr sz="1000" b="1" i="0">
                <a:solidFill>
                  <a:srgbClr val="F2D88C"/>
                </a:solidFill>
                <a:latin typeface="Arial"/>
              </a:rPr>
              <a:t>SERIES:  </a:t>
            </a:r>
            <a:r>
              <a:rPr sz="1000" b="0" i="0">
                <a:solidFill>
                  <a:srgbClr val="E4EFF7"/>
                </a:solidFill>
                <a:latin typeface="Arial"/>
              </a:rPr>
              <a:t>PPTmaker Earth Science      </a:t>
            </a:r>
            <a:r>
              <a:rPr sz="1000" b="1" i="0">
                <a:solidFill>
                  <a:srgbClr val="F2D88C"/>
                </a:solidFill>
                <a:latin typeface="Arial"/>
              </a:rPr>
              <a:t>APEX SUMMIT:  </a:t>
            </a:r>
            <a:r>
              <a:rPr sz="1000" b="0" i="0">
                <a:solidFill>
                  <a:srgbClr val="E4EFF7"/>
                </a:solidFill>
                <a:latin typeface="Arial"/>
              </a:rPr>
              <a:t>8,848.86 m (Everest)      </a:t>
            </a:r>
            <a:r>
              <a:rPr sz="1000" b="1" i="0">
                <a:solidFill>
                  <a:srgbClr val="F2D88C"/>
                </a:solidFill>
                <a:latin typeface="Arial"/>
              </a:rPr>
              <a:t>IMPACT:  </a:t>
            </a:r>
            <a:r>
              <a:rPr sz="1000" b="0" i="0">
                <a:solidFill>
                  <a:srgbClr val="E4EFF7"/>
                </a:solidFill>
                <a:latin typeface="Arial"/>
              </a:rPr>
              <a:t>1.9 Billion People Sustained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731520" y="438912"/>
            <a:ext cx="10728655" cy="237744"/>
          </a:xfrm>
          <a:prstGeom prst="rect">
            <a:avLst/>
          </a:prstGeom>
          <a:noFill/>
        </p:spPr>
        <p:txBody>
          <a:bodyPr wrap="square" anchor="t" lIns="0" rIns="0" tIns="0" bIns="0">
            <a:noAutofit/>
          </a:bodyPr>
          <a:lstStyle/>
          <a:p>
            <a:pPr algn="l">
              <a:lnSpc>
                <a:spcPct val="105000"/>
              </a:lnSpc>
              <a:spcAft>
                <a:spcPts val="0"/>
              </a:spcAft>
            </a:pPr>
            <a:r>
              <a:rPr sz="1050" b="1" i="0">
                <a:solidFill>
                  <a:srgbClr val="C6922C"/>
                </a:solidFill>
                <a:latin typeface="Arial"/>
              </a:rPr>
              <a:t>SCALE &amp; ELEVATION</a:t>
            </a:r>
          </a:p>
        </p:txBody>
      </p:sp>
      <p:sp>
        <p:nvSpPr>
          <p:cNvPr id="3" name="TextBox 2"/>
          <p:cNvSpPr txBox="1"/>
          <p:nvPr/>
        </p:nvSpPr>
        <p:spPr>
          <a:xfrm>
            <a:off x="731520" y="676656"/>
            <a:ext cx="10728655" cy="566928"/>
          </a:xfrm>
          <a:prstGeom prst="rect">
            <a:avLst/>
          </a:prstGeom>
          <a:noFill/>
        </p:spPr>
        <p:txBody>
          <a:bodyPr wrap="square" anchor="t" lIns="0" rIns="0" tIns="0" bIns="0">
            <a:noAutofit/>
          </a:bodyPr>
          <a:lstStyle/>
          <a:p>
            <a:pPr algn="l">
              <a:lnSpc>
                <a:spcPct val="105000"/>
              </a:lnSpc>
              <a:spcAft>
                <a:spcPts val="0"/>
              </a:spcAft>
            </a:pPr>
            <a:r>
              <a:rPr sz="2600" b="1" i="0">
                <a:solidFill>
                  <a:srgbClr val="0E1B26"/>
                </a:solidFill>
                <a:latin typeface="Georgia"/>
              </a:rPr>
              <a:t>A Geological Crown Measured in Kilometers and Billions</a:t>
            </a:r>
          </a:p>
        </p:txBody>
      </p:sp>
      <p:sp>
        <p:nvSpPr>
          <p:cNvPr id="4" name="Rectangle 3"/>
          <p:cNvSpPr/>
          <p:nvPr/>
        </p:nvSpPr>
        <p:spPr>
          <a:xfrm>
            <a:off x="731520" y="1316736"/>
            <a:ext cx="10728655" cy="12801"/>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4389120" cy="2240280"/>
          </a:xfrm>
          <a:prstGeom prst="roundRect">
            <a:avLst>
              <a:gd name="adj" fmla="val 4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109728" cy="2240280"/>
          </a:xfrm>
          <a:prstGeom prst="rect">
            <a:avLst/>
          </a:prstGeom>
          <a:solidFill>
            <a:srgbClr val="C69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719072"/>
            <a:ext cx="3840480" cy="822960"/>
          </a:xfrm>
          <a:prstGeom prst="rect">
            <a:avLst/>
          </a:prstGeom>
          <a:noFill/>
        </p:spPr>
        <p:txBody>
          <a:bodyPr wrap="square" anchor="t" lIns="0" rIns="0" tIns="0" bIns="0">
            <a:noAutofit/>
          </a:bodyPr>
          <a:lstStyle/>
          <a:p>
            <a:pPr algn="l">
              <a:lnSpc>
                <a:spcPct val="105000"/>
              </a:lnSpc>
              <a:spcAft>
                <a:spcPts val="0"/>
              </a:spcAft>
            </a:pPr>
            <a:r>
              <a:rPr sz="4800" b="1" i="0">
                <a:solidFill>
                  <a:srgbClr val="F2D88C"/>
                </a:solidFill>
                <a:latin typeface="Georgia"/>
              </a:rPr>
              <a:t>8,848.86 m</a:t>
            </a:r>
          </a:p>
        </p:txBody>
      </p:sp>
      <p:sp>
        <p:nvSpPr>
          <p:cNvPr id="8" name="TextBox 7"/>
          <p:cNvSpPr txBox="1"/>
          <p:nvPr/>
        </p:nvSpPr>
        <p:spPr>
          <a:xfrm>
            <a:off x="1051560" y="2560320"/>
            <a:ext cx="3840480" cy="384048"/>
          </a:xfrm>
          <a:prstGeom prst="rect">
            <a:avLst/>
          </a:prstGeom>
          <a:noFill/>
        </p:spPr>
        <p:txBody>
          <a:bodyPr wrap="square" anchor="t" lIns="0" rIns="0" tIns="0" bIns="0">
            <a:noAutofit/>
          </a:bodyPr>
          <a:lstStyle/>
          <a:p>
            <a:pPr algn="l">
              <a:lnSpc>
                <a:spcPct val="105000"/>
              </a:lnSpc>
              <a:spcAft>
                <a:spcPts val="0"/>
              </a:spcAft>
            </a:pPr>
            <a:r>
              <a:rPr sz="1450" b="1" i="0">
                <a:solidFill>
                  <a:srgbClr val="FFFFFF"/>
                </a:solidFill>
                <a:latin typeface="Arial"/>
              </a:rPr>
              <a:t>Summit of Mount Everest</a:t>
            </a:r>
          </a:p>
        </p:txBody>
      </p:sp>
      <p:sp>
        <p:nvSpPr>
          <p:cNvPr id="9" name="TextBox 8"/>
          <p:cNvSpPr txBox="1"/>
          <p:nvPr/>
        </p:nvSpPr>
        <p:spPr>
          <a:xfrm>
            <a:off x="1051560" y="2971800"/>
            <a:ext cx="3840480" cy="685800"/>
          </a:xfrm>
          <a:prstGeom prst="rect">
            <a:avLst/>
          </a:prstGeom>
          <a:noFill/>
        </p:spPr>
        <p:txBody>
          <a:bodyPr wrap="square" anchor="t" lIns="0" rIns="0" tIns="0" bIns="0">
            <a:noAutofit/>
          </a:bodyPr>
          <a:lstStyle/>
          <a:p>
            <a:pPr algn="l">
              <a:lnSpc>
                <a:spcPct val="110000"/>
              </a:lnSpc>
              <a:spcAft>
                <a:spcPts val="0"/>
              </a:spcAft>
            </a:pPr>
            <a:r>
              <a:rPr sz="1050" b="0" i="0">
                <a:solidFill>
                  <a:srgbClr val="E4EFF7"/>
                </a:solidFill>
                <a:latin typeface="Arial"/>
              </a:rPr>
              <a:t>The highest point on planet Earth, pushing directly into the lower stratosphere</a:t>
            </a:r>
          </a:p>
        </p:txBody>
      </p:sp>
      <p:sp>
        <p:nvSpPr>
          <p:cNvPr id="10" name="Rounded Rectangle 9"/>
          <p:cNvSpPr/>
          <p:nvPr/>
        </p:nvSpPr>
        <p:spPr>
          <a:xfrm>
            <a:off x="731520" y="3977639"/>
            <a:ext cx="4389120" cy="2240280"/>
          </a:xfrm>
          <a:prstGeom prst="roundRect">
            <a:avLst>
              <a:gd name="adj" fmla="val 4000"/>
            </a:avLst>
          </a:prstGeom>
          <a:solidFill>
            <a:srgbClr val="16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977639"/>
            <a:ext cx="109728" cy="2240280"/>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142231"/>
            <a:ext cx="3840480" cy="822960"/>
          </a:xfrm>
          <a:prstGeom prst="rect">
            <a:avLst/>
          </a:prstGeom>
          <a:noFill/>
        </p:spPr>
        <p:txBody>
          <a:bodyPr wrap="square" anchor="t" lIns="0" rIns="0" tIns="0" bIns="0">
            <a:noAutofit/>
          </a:bodyPr>
          <a:lstStyle/>
          <a:p>
            <a:pPr algn="l">
              <a:lnSpc>
                <a:spcPct val="105000"/>
              </a:lnSpc>
              <a:spcAft>
                <a:spcPts val="0"/>
              </a:spcAft>
            </a:pPr>
            <a:r>
              <a:rPr sz="5200" b="1" i="0">
                <a:solidFill>
                  <a:srgbClr val="2EB5E5"/>
                </a:solidFill>
                <a:latin typeface="Georgia"/>
              </a:rPr>
              <a:t>1.9B+</a:t>
            </a:r>
          </a:p>
        </p:txBody>
      </p:sp>
      <p:sp>
        <p:nvSpPr>
          <p:cNvPr id="13" name="TextBox 12"/>
          <p:cNvSpPr txBox="1"/>
          <p:nvPr/>
        </p:nvSpPr>
        <p:spPr>
          <a:xfrm>
            <a:off x="1051560" y="4983479"/>
            <a:ext cx="3840480" cy="384048"/>
          </a:xfrm>
          <a:prstGeom prst="rect">
            <a:avLst/>
          </a:prstGeom>
          <a:noFill/>
        </p:spPr>
        <p:txBody>
          <a:bodyPr wrap="square" anchor="t" lIns="0" rIns="0" tIns="0" bIns="0">
            <a:noAutofit/>
          </a:bodyPr>
          <a:lstStyle/>
          <a:p>
            <a:pPr algn="l">
              <a:lnSpc>
                <a:spcPct val="105000"/>
              </a:lnSpc>
              <a:spcAft>
                <a:spcPts val="0"/>
              </a:spcAft>
            </a:pPr>
            <a:r>
              <a:rPr sz="1450" b="1" i="0">
                <a:solidFill>
                  <a:srgbClr val="FFFFFF"/>
                </a:solidFill>
                <a:latin typeface="Arial"/>
              </a:rPr>
              <a:t>People Dependent Downstream</a:t>
            </a:r>
          </a:p>
        </p:txBody>
      </p:sp>
      <p:sp>
        <p:nvSpPr>
          <p:cNvPr id="14" name="TextBox 13"/>
          <p:cNvSpPr txBox="1"/>
          <p:nvPr/>
        </p:nvSpPr>
        <p:spPr>
          <a:xfrm>
            <a:off x="1051560" y="5394959"/>
            <a:ext cx="3840480" cy="685800"/>
          </a:xfrm>
          <a:prstGeom prst="rect">
            <a:avLst/>
          </a:prstGeom>
          <a:noFill/>
        </p:spPr>
        <p:txBody>
          <a:bodyPr wrap="square" anchor="t" lIns="0" rIns="0" tIns="0" bIns="0">
            <a:noAutofit/>
          </a:bodyPr>
          <a:lstStyle/>
          <a:p>
            <a:pPr algn="l">
              <a:lnSpc>
                <a:spcPct val="110000"/>
              </a:lnSpc>
              <a:spcAft>
                <a:spcPts val="0"/>
              </a:spcAft>
            </a:pPr>
            <a:r>
              <a:rPr sz="1050" b="0" i="0">
                <a:solidFill>
                  <a:srgbClr val="E4EFF7"/>
                </a:solidFill>
                <a:latin typeface="Arial"/>
              </a:rPr>
              <a:t>Nearly a quarter of humanity relying on Himalayan glacial meltwater for life</a:t>
            </a:r>
          </a:p>
        </p:txBody>
      </p:sp>
      <p:sp>
        <p:nvSpPr>
          <p:cNvPr id="15" name="Rounded Rectangle 14"/>
          <p:cNvSpPr/>
          <p:nvPr/>
        </p:nvSpPr>
        <p:spPr>
          <a:xfrm>
            <a:off x="5425135" y="1554480"/>
            <a:ext cx="6035040" cy="4663440"/>
          </a:xfrm>
          <a:prstGeom prst="roundRect">
            <a:avLst>
              <a:gd name="adj" fmla="val 3000"/>
            </a:avLst>
          </a:prstGeom>
          <a:solidFill>
            <a:srgbClr val="EBF2F7"/>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90895" y="1783080"/>
            <a:ext cx="5303520" cy="320040"/>
          </a:xfrm>
          <a:prstGeom prst="rect">
            <a:avLst/>
          </a:prstGeom>
          <a:noFill/>
        </p:spPr>
        <p:txBody>
          <a:bodyPr wrap="square" anchor="t" lIns="0" rIns="0" tIns="0" bIns="0">
            <a:noAutofit/>
          </a:bodyPr>
          <a:lstStyle/>
          <a:p>
            <a:pPr algn="l">
              <a:lnSpc>
                <a:spcPct val="105000"/>
              </a:lnSpc>
              <a:spcAft>
                <a:spcPts val="0"/>
              </a:spcAft>
            </a:pPr>
            <a:r>
              <a:rPr sz="1100" b="1" i="0">
                <a:solidFill>
                  <a:srgbClr val="2EB5E5"/>
                </a:solidFill>
                <a:latin typeface="Arial"/>
              </a:rPr>
              <a:t>PLANETARY IMPORTANCE</a:t>
            </a:r>
          </a:p>
        </p:txBody>
      </p:sp>
      <p:sp>
        <p:nvSpPr>
          <p:cNvPr id="17" name="TextBox 16"/>
          <p:cNvSpPr txBox="1"/>
          <p:nvPr/>
        </p:nvSpPr>
        <p:spPr>
          <a:xfrm>
            <a:off x="5790895" y="2057400"/>
            <a:ext cx="5303520" cy="502920"/>
          </a:xfrm>
          <a:prstGeom prst="rect">
            <a:avLst/>
          </a:prstGeom>
          <a:noFill/>
        </p:spPr>
        <p:txBody>
          <a:bodyPr wrap="square" anchor="t" lIns="0" rIns="0" tIns="0" bIns="0">
            <a:noAutofit/>
          </a:bodyPr>
          <a:lstStyle/>
          <a:p>
            <a:pPr algn="l">
              <a:lnSpc>
                <a:spcPct val="105000"/>
              </a:lnSpc>
              <a:spcAft>
                <a:spcPts val="0"/>
              </a:spcAft>
            </a:pPr>
            <a:r>
              <a:rPr sz="1800" b="1" i="0">
                <a:solidFill>
                  <a:srgbClr val="0E1B26"/>
                </a:solidFill>
                <a:latin typeface="Georgia"/>
              </a:rPr>
              <a:t>The Stratospheric Barrier and Engine of Asia</a:t>
            </a:r>
          </a:p>
        </p:txBody>
      </p:sp>
      <p:sp>
        <p:nvSpPr>
          <p:cNvPr id="18" name="Rectangle 17"/>
          <p:cNvSpPr/>
          <p:nvPr/>
        </p:nvSpPr>
        <p:spPr>
          <a:xfrm>
            <a:off x="5790895" y="2606040"/>
            <a:ext cx="5303520"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90895" y="2788920"/>
            <a:ext cx="5303520" cy="3200400"/>
          </a:xfrm>
          <a:prstGeom prst="rect">
            <a:avLst/>
          </a:prstGeom>
          <a:noFill/>
        </p:spPr>
        <p:txBody>
          <a:bodyPr wrap="square" anchor="t" lIns="0" rIns="0" tIns="0" bIns="0">
            <a:noAutofit/>
          </a:bodyPr>
          <a:lstStyle/>
          <a:p>
            <a:pPr algn="l">
              <a:lnSpc>
                <a:spcPct val="112000"/>
              </a:lnSpc>
              <a:spcAft>
                <a:spcPts val="1200"/>
              </a:spcAft>
            </a:pPr>
            <a:r>
              <a:rPr sz="1450" b="1">
                <a:solidFill>
                  <a:srgbClr val="2EB5E5"/>
                </a:solidFill>
                <a:latin typeface="Arial"/>
              </a:rPr>
              <a:t>▪  </a:t>
            </a:r>
            <a:r>
              <a:rPr sz="1450" b="1">
                <a:solidFill>
                  <a:srgbClr val="121C24"/>
                </a:solidFill>
                <a:latin typeface="Arial"/>
              </a:rPr>
              <a:t>Stratospheric Altitude: </a:t>
            </a:r>
            <a:r>
              <a:rPr sz="1450" b="0">
                <a:solidFill>
                  <a:srgbClr val="121C24"/>
                </a:solidFill>
                <a:latin typeface="Arial"/>
              </a:rPr>
              <a:t>Mount Everest reaches 8,848.86 meters above sea level, where atmospheric pressure drops to one-third of sea level.</a:t>
            </a:r>
          </a:p>
          <a:p>
            <a:pPr algn="l">
              <a:lnSpc>
                <a:spcPct val="112000"/>
              </a:lnSpc>
              <a:spcAft>
                <a:spcPts val="1200"/>
              </a:spcAft>
            </a:pPr>
            <a:r>
              <a:rPr sz="1450" b="1">
                <a:solidFill>
                  <a:srgbClr val="2EB5E5"/>
                </a:solidFill>
                <a:latin typeface="Arial"/>
              </a:rPr>
              <a:t>▪  </a:t>
            </a:r>
            <a:r>
              <a:rPr sz="1450" b="1">
                <a:solidFill>
                  <a:srgbClr val="121C24"/>
                </a:solidFill>
                <a:latin typeface="Arial"/>
              </a:rPr>
              <a:t>Continental Hydrology: </a:t>
            </a:r>
            <a:r>
              <a:rPr sz="1450" b="0">
                <a:solidFill>
                  <a:srgbClr val="121C24"/>
                </a:solidFill>
                <a:latin typeface="Arial"/>
              </a:rPr>
              <a:t>Ten major Asian river systems originate in the high snows, irrigating the world's most productive agricultural valleys.</a:t>
            </a:r>
          </a:p>
          <a:p>
            <a:pPr algn="l">
              <a:lnSpc>
                <a:spcPct val="112000"/>
              </a:lnSpc>
              <a:spcAft>
                <a:spcPts val="1200"/>
              </a:spcAft>
            </a:pPr>
            <a:r>
              <a:rPr sz="1450" b="1">
                <a:solidFill>
                  <a:srgbClr val="2EB5E5"/>
                </a:solidFill>
                <a:latin typeface="Arial"/>
              </a:rPr>
              <a:t>▪  </a:t>
            </a:r>
            <a:r>
              <a:rPr sz="1450" b="1">
                <a:solidFill>
                  <a:srgbClr val="121C24"/>
                </a:solidFill>
                <a:latin typeface="Arial"/>
              </a:rPr>
              <a:t>Active Orogeny: </a:t>
            </a:r>
            <a:r>
              <a:rPr sz="1450" b="0">
                <a:solidFill>
                  <a:srgbClr val="121C24"/>
                </a:solidFill>
                <a:latin typeface="Arial"/>
              </a:rPr>
              <a:t>The range is not an ancient fossil, but the planet's youngest and most rapidly evolving mountain chain.</a:t>
            </a:r>
          </a:p>
        </p:txBody>
      </p:sp>
      <p:sp>
        <p:nvSpPr>
          <p:cNvPr id="20" name="Rectangle 19"/>
          <p:cNvSpPr/>
          <p:nvPr/>
        </p:nvSpPr>
        <p:spPr>
          <a:xfrm>
            <a:off x="731520" y="6400800"/>
            <a:ext cx="10728655"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473952"/>
            <a:ext cx="7772400" cy="256032"/>
          </a:xfrm>
          <a:prstGeom prst="rect">
            <a:avLst/>
          </a:prstGeom>
          <a:noFill/>
        </p:spPr>
        <p:txBody>
          <a:bodyPr wrap="square" anchor="t" lIns="0" rIns="0" tIns="0" bIns="0">
            <a:noAutofit/>
          </a:bodyPr>
          <a:lstStyle/>
          <a:p>
            <a:pPr algn="l">
              <a:lnSpc>
                <a:spcPct val="105000"/>
              </a:lnSpc>
              <a:spcAft>
                <a:spcPts val="0"/>
              </a:spcAft>
            </a:pPr>
            <a:r>
              <a:rPr sz="850" b="0" i="0">
                <a:solidFill>
                  <a:srgbClr val="5C6E7E"/>
                </a:solidFill>
                <a:latin typeface="Arial"/>
              </a:rPr>
              <a:t>The Roof of the World: Geology, Ecology, and the Planetary Majesty of the Himalayas</a:t>
            </a:r>
          </a:p>
        </p:txBody>
      </p:sp>
      <p:sp>
        <p:nvSpPr>
          <p:cNvPr id="22" name="TextBox 21"/>
          <p:cNvSpPr txBox="1"/>
          <p:nvPr/>
        </p:nvSpPr>
        <p:spPr>
          <a:xfrm>
            <a:off x="9631375" y="6473952"/>
            <a:ext cx="1828800" cy="256032"/>
          </a:xfrm>
          <a:prstGeom prst="rect">
            <a:avLst/>
          </a:prstGeom>
          <a:noFill/>
        </p:spPr>
        <p:txBody>
          <a:bodyPr wrap="square" anchor="t" lIns="0" rIns="0" tIns="0" bIns="0">
            <a:noAutofit/>
          </a:bodyPr>
          <a:lstStyle/>
          <a:p>
            <a:pPr algn="r">
              <a:lnSpc>
                <a:spcPct val="105000"/>
              </a:lnSpc>
              <a:spcAft>
                <a:spcPts val="0"/>
              </a:spcAft>
            </a:pPr>
            <a:r>
              <a:rPr sz="850" b="1" i="0">
                <a:solidFill>
                  <a:srgbClr val="5C6E7E"/>
                </a:solidFill>
                <a:latin typeface="Arial"/>
              </a:rPr>
              <a:t>02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731520" y="438912"/>
            <a:ext cx="10728655" cy="237744"/>
          </a:xfrm>
          <a:prstGeom prst="rect">
            <a:avLst/>
          </a:prstGeom>
          <a:noFill/>
        </p:spPr>
        <p:txBody>
          <a:bodyPr wrap="square" anchor="t" lIns="0" rIns="0" tIns="0" bIns="0">
            <a:noAutofit/>
          </a:bodyPr>
          <a:lstStyle/>
          <a:p>
            <a:pPr algn="l">
              <a:lnSpc>
                <a:spcPct val="105000"/>
              </a:lnSpc>
              <a:spcAft>
                <a:spcPts val="0"/>
              </a:spcAft>
            </a:pPr>
            <a:r>
              <a:rPr sz="1050" b="1" i="0">
                <a:solidFill>
                  <a:srgbClr val="C6922C"/>
                </a:solidFill>
                <a:latin typeface="Arial"/>
              </a:rPr>
              <a:t>TECTONIC GENESIS</a:t>
            </a:r>
          </a:p>
        </p:txBody>
      </p:sp>
      <p:sp>
        <p:nvSpPr>
          <p:cNvPr id="3" name="TextBox 2"/>
          <p:cNvSpPr txBox="1"/>
          <p:nvPr/>
        </p:nvSpPr>
        <p:spPr>
          <a:xfrm>
            <a:off x="731520" y="676656"/>
            <a:ext cx="10728655" cy="566928"/>
          </a:xfrm>
          <a:prstGeom prst="rect">
            <a:avLst/>
          </a:prstGeom>
          <a:noFill/>
        </p:spPr>
        <p:txBody>
          <a:bodyPr wrap="square" anchor="t" lIns="0" rIns="0" tIns="0" bIns="0">
            <a:noAutofit/>
          </a:bodyPr>
          <a:lstStyle/>
          <a:p>
            <a:pPr algn="l">
              <a:lnSpc>
                <a:spcPct val="105000"/>
              </a:lnSpc>
              <a:spcAft>
                <a:spcPts val="0"/>
              </a:spcAft>
            </a:pPr>
            <a:r>
              <a:rPr sz="2600" b="1" i="0">
                <a:solidFill>
                  <a:srgbClr val="0E1B26"/>
                </a:solidFill>
                <a:latin typeface="Georgia"/>
              </a:rPr>
              <a:t>Fifty Million Years of Continental Collision and Uplift</a:t>
            </a:r>
          </a:p>
        </p:txBody>
      </p:sp>
      <p:sp>
        <p:nvSpPr>
          <p:cNvPr id="4" name="Rectangle 3"/>
          <p:cNvSpPr/>
          <p:nvPr/>
        </p:nvSpPr>
        <p:spPr>
          <a:xfrm>
            <a:off x="731520" y="1316736"/>
            <a:ext cx="10728655" cy="12801"/>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10728655" cy="73152"/>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2514600" cy="3337560"/>
          </a:xfrm>
          <a:prstGeom prst="roundRect">
            <a:avLst>
              <a:gd name="adj" fmla="val 4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54480"/>
            <a:ext cx="2514600" cy="438912"/>
          </a:xfrm>
          <a:prstGeom prst="roundRect">
            <a:avLst>
              <a:gd name="adj" fmla="val 10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45920"/>
            <a:ext cx="2331720" cy="274320"/>
          </a:xfrm>
          <a:prstGeom prst="rect">
            <a:avLst/>
          </a:prstGeom>
          <a:noFill/>
        </p:spPr>
        <p:txBody>
          <a:bodyPr wrap="square" anchor="t" lIns="0" rIns="0" tIns="0" bIns="0">
            <a:noAutofit/>
          </a:bodyPr>
          <a:lstStyle/>
          <a:p>
            <a:pPr algn="ctr">
              <a:lnSpc>
                <a:spcPct val="105000"/>
              </a:lnSpc>
              <a:spcAft>
                <a:spcPts val="0"/>
              </a:spcAft>
            </a:pPr>
            <a:r>
              <a:rPr sz="1050" b="1" i="0">
                <a:solidFill>
                  <a:srgbClr val="F2D88C"/>
                </a:solidFill>
                <a:latin typeface="Arial"/>
              </a:rPr>
              <a:t>100–70M BCE</a:t>
            </a:r>
          </a:p>
        </p:txBody>
      </p:sp>
      <p:sp>
        <p:nvSpPr>
          <p:cNvPr id="9" name="Oval 8"/>
          <p:cNvSpPr/>
          <p:nvPr/>
        </p:nvSpPr>
        <p:spPr>
          <a:xfrm>
            <a:off x="1824228" y="2121408"/>
            <a:ext cx="329184" cy="329184"/>
          </a:xfrm>
          <a:prstGeom prst="ellipse">
            <a:avLst/>
          </a:prstGeom>
          <a:solidFill>
            <a:srgbClr val="2EB5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4228" y="2157984"/>
            <a:ext cx="329184" cy="329184"/>
          </a:xfrm>
          <a:prstGeom prst="rect">
            <a:avLst/>
          </a:prstGeom>
          <a:noFill/>
        </p:spPr>
        <p:txBody>
          <a:bodyPr wrap="square" anchor="t" lIns="0" rIns="0" tIns="0" bIns="0">
            <a:noAutofit/>
          </a:bodyPr>
          <a:lstStyle/>
          <a:p>
            <a:pPr algn="ctr">
              <a:lnSpc>
                <a:spcPct val="105000"/>
              </a:lnSpc>
              <a:spcAft>
                <a:spcPts val="0"/>
              </a:spcAft>
            </a:pPr>
            <a:r>
              <a:rPr sz="1100" b="1" i="0">
                <a:solidFill>
                  <a:srgbClr val="0E1B26"/>
                </a:solidFill>
                <a:latin typeface="Arial"/>
              </a:rPr>
              <a:t>1</a:t>
            </a:r>
          </a:p>
        </p:txBody>
      </p:sp>
      <p:sp>
        <p:nvSpPr>
          <p:cNvPr id="11" name="TextBox 10"/>
          <p:cNvSpPr txBox="1"/>
          <p:nvPr/>
        </p:nvSpPr>
        <p:spPr>
          <a:xfrm>
            <a:off x="877824" y="2578608"/>
            <a:ext cx="2221992" cy="502920"/>
          </a:xfrm>
          <a:prstGeom prst="rect">
            <a:avLst/>
          </a:prstGeom>
          <a:noFill/>
        </p:spPr>
        <p:txBody>
          <a:bodyPr wrap="square" anchor="t" lIns="0" rIns="0" tIns="0" bIns="0">
            <a:noAutofit/>
          </a:bodyPr>
          <a:lstStyle/>
          <a:p>
            <a:pPr algn="ctr">
              <a:lnSpc>
                <a:spcPct val="105000"/>
              </a:lnSpc>
              <a:spcAft>
                <a:spcPts val="0"/>
              </a:spcAft>
            </a:pPr>
            <a:r>
              <a:rPr sz="1400" b="1" i="0">
                <a:solidFill>
                  <a:srgbClr val="0E1B26"/>
                </a:solidFill>
                <a:latin typeface="Georgia"/>
              </a:rPr>
              <a:t>The Tethys Ocean</a:t>
            </a:r>
          </a:p>
        </p:txBody>
      </p:sp>
      <p:sp>
        <p:nvSpPr>
          <p:cNvPr id="12" name="Rectangle 11"/>
          <p:cNvSpPr/>
          <p:nvPr/>
        </p:nvSpPr>
        <p:spPr>
          <a:xfrm>
            <a:off x="1005840" y="3154680"/>
            <a:ext cx="1965960"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3273552"/>
            <a:ext cx="2221992" cy="1508760"/>
          </a:xfrm>
          <a:prstGeom prst="rect">
            <a:avLst/>
          </a:prstGeom>
          <a:noFill/>
        </p:spPr>
        <p:txBody>
          <a:bodyPr wrap="square" anchor="t" lIns="0" rIns="0" tIns="0" bIns="0">
            <a:noAutofit/>
          </a:bodyPr>
          <a:lstStyle/>
          <a:p>
            <a:pPr algn="ctr">
              <a:lnSpc>
                <a:spcPct val="112000"/>
              </a:lnSpc>
              <a:spcAft>
                <a:spcPts val="0"/>
              </a:spcAft>
            </a:pPr>
            <a:r>
              <a:rPr sz="1100" b="0" i="0">
                <a:solidFill>
                  <a:srgbClr val="121C24"/>
                </a:solidFill>
                <a:latin typeface="Arial"/>
              </a:rPr>
              <a:t>The Indian plate breaks from Gondwana and drifts rapidly north at 15 cm/yr across the ancient sea.</a:t>
            </a:r>
          </a:p>
        </p:txBody>
      </p:sp>
      <p:sp>
        <p:nvSpPr>
          <p:cNvPr id="14" name="Rounded Rectangle 13"/>
          <p:cNvSpPr/>
          <p:nvPr/>
        </p:nvSpPr>
        <p:spPr>
          <a:xfrm>
            <a:off x="3469233" y="1554480"/>
            <a:ext cx="2514600" cy="3337560"/>
          </a:xfrm>
          <a:prstGeom prst="roundRect">
            <a:avLst>
              <a:gd name="adj" fmla="val 4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69233" y="1554480"/>
            <a:ext cx="2514600" cy="438912"/>
          </a:xfrm>
          <a:prstGeom prst="roundRect">
            <a:avLst>
              <a:gd name="adj" fmla="val 10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0673" y="1645920"/>
            <a:ext cx="2331720" cy="274320"/>
          </a:xfrm>
          <a:prstGeom prst="rect">
            <a:avLst/>
          </a:prstGeom>
          <a:noFill/>
        </p:spPr>
        <p:txBody>
          <a:bodyPr wrap="square" anchor="t" lIns="0" rIns="0" tIns="0" bIns="0">
            <a:noAutofit/>
          </a:bodyPr>
          <a:lstStyle/>
          <a:p>
            <a:pPr algn="ctr">
              <a:lnSpc>
                <a:spcPct val="105000"/>
              </a:lnSpc>
              <a:spcAft>
                <a:spcPts val="0"/>
              </a:spcAft>
            </a:pPr>
            <a:r>
              <a:rPr sz="1050" b="1" i="0">
                <a:solidFill>
                  <a:srgbClr val="F2D88C"/>
                </a:solidFill>
                <a:latin typeface="Arial"/>
              </a:rPr>
              <a:t>50–45M BCE</a:t>
            </a:r>
          </a:p>
        </p:txBody>
      </p:sp>
      <p:sp>
        <p:nvSpPr>
          <p:cNvPr id="17" name="Oval 16"/>
          <p:cNvSpPr/>
          <p:nvPr/>
        </p:nvSpPr>
        <p:spPr>
          <a:xfrm>
            <a:off x="4561941" y="2121408"/>
            <a:ext cx="329184" cy="329184"/>
          </a:xfrm>
          <a:prstGeom prst="ellipse">
            <a:avLst/>
          </a:prstGeom>
          <a:solidFill>
            <a:srgbClr val="2EB5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61941" y="2157984"/>
            <a:ext cx="329184" cy="329184"/>
          </a:xfrm>
          <a:prstGeom prst="rect">
            <a:avLst/>
          </a:prstGeom>
          <a:noFill/>
        </p:spPr>
        <p:txBody>
          <a:bodyPr wrap="square" anchor="t" lIns="0" rIns="0" tIns="0" bIns="0">
            <a:noAutofit/>
          </a:bodyPr>
          <a:lstStyle/>
          <a:p>
            <a:pPr algn="ctr">
              <a:lnSpc>
                <a:spcPct val="105000"/>
              </a:lnSpc>
              <a:spcAft>
                <a:spcPts val="0"/>
              </a:spcAft>
            </a:pPr>
            <a:r>
              <a:rPr sz="1100" b="1" i="0">
                <a:solidFill>
                  <a:srgbClr val="0E1B26"/>
                </a:solidFill>
                <a:latin typeface="Arial"/>
              </a:rPr>
              <a:t>2</a:t>
            </a:r>
          </a:p>
        </p:txBody>
      </p:sp>
      <p:sp>
        <p:nvSpPr>
          <p:cNvPr id="19" name="TextBox 18"/>
          <p:cNvSpPr txBox="1"/>
          <p:nvPr/>
        </p:nvSpPr>
        <p:spPr>
          <a:xfrm>
            <a:off x="3615537" y="2578608"/>
            <a:ext cx="2221992" cy="502920"/>
          </a:xfrm>
          <a:prstGeom prst="rect">
            <a:avLst/>
          </a:prstGeom>
          <a:noFill/>
        </p:spPr>
        <p:txBody>
          <a:bodyPr wrap="square" anchor="t" lIns="0" rIns="0" tIns="0" bIns="0">
            <a:noAutofit/>
          </a:bodyPr>
          <a:lstStyle/>
          <a:p>
            <a:pPr algn="ctr">
              <a:lnSpc>
                <a:spcPct val="105000"/>
              </a:lnSpc>
              <a:spcAft>
                <a:spcPts val="0"/>
              </a:spcAft>
            </a:pPr>
            <a:r>
              <a:rPr sz="1400" b="1" i="0">
                <a:solidFill>
                  <a:srgbClr val="0E1B26"/>
                </a:solidFill>
                <a:latin typeface="Georgia"/>
              </a:rPr>
              <a:t>Continental Impact</a:t>
            </a:r>
          </a:p>
        </p:txBody>
      </p:sp>
      <p:sp>
        <p:nvSpPr>
          <p:cNvPr id="20" name="Rectangle 19"/>
          <p:cNvSpPr/>
          <p:nvPr/>
        </p:nvSpPr>
        <p:spPr>
          <a:xfrm>
            <a:off x="3743553" y="3154680"/>
            <a:ext cx="1965960"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15537" y="3273552"/>
            <a:ext cx="2221992" cy="1508760"/>
          </a:xfrm>
          <a:prstGeom prst="rect">
            <a:avLst/>
          </a:prstGeom>
          <a:noFill/>
        </p:spPr>
        <p:txBody>
          <a:bodyPr wrap="square" anchor="t" lIns="0" rIns="0" tIns="0" bIns="0">
            <a:noAutofit/>
          </a:bodyPr>
          <a:lstStyle/>
          <a:p>
            <a:pPr algn="ctr">
              <a:lnSpc>
                <a:spcPct val="112000"/>
              </a:lnSpc>
              <a:spcAft>
                <a:spcPts val="0"/>
              </a:spcAft>
            </a:pPr>
            <a:r>
              <a:rPr sz="1100" b="0" i="0">
                <a:solidFill>
                  <a:srgbClr val="121C24"/>
                </a:solidFill>
                <a:latin typeface="Arial"/>
              </a:rPr>
              <a:t>India collides head-on with Eurasia, crumpling marine sediment and initiating crustal buckling.</a:t>
            </a:r>
          </a:p>
        </p:txBody>
      </p:sp>
      <p:sp>
        <p:nvSpPr>
          <p:cNvPr id="22" name="Rounded Rectangle 21"/>
          <p:cNvSpPr/>
          <p:nvPr/>
        </p:nvSpPr>
        <p:spPr>
          <a:xfrm>
            <a:off x="6206947" y="1554480"/>
            <a:ext cx="2514600" cy="3337560"/>
          </a:xfrm>
          <a:prstGeom prst="roundRect">
            <a:avLst>
              <a:gd name="adj" fmla="val 4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06947" y="1554480"/>
            <a:ext cx="2514600" cy="438912"/>
          </a:xfrm>
          <a:prstGeom prst="roundRect">
            <a:avLst>
              <a:gd name="adj" fmla="val 10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98387" y="1645920"/>
            <a:ext cx="2331720" cy="274320"/>
          </a:xfrm>
          <a:prstGeom prst="rect">
            <a:avLst/>
          </a:prstGeom>
          <a:noFill/>
        </p:spPr>
        <p:txBody>
          <a:bodyPr wrap="square" anchor="t" lIns="0" rIns="0" tIns="0" bIns="0">
            <a:noAutofit/>
          </a:bodyPr>
          <a:lstStyle/>
          <a:p>
            <a:pPr algn="ctr">
              <a:lnSpc>
                <a:spcPct val="105000"/>
              </a:lnSpc>
              <a:spcAft>
                <a:spcPts val="0"/>
              </a:spcAft>
            </a:pPr>
            <a:r>
              <a:rPr sz="1050" b="1" i="0">
                <a:solidFill>
                  <a:srgbClr val="F2D88C"/>
                </a:solidFill>
                <a:latin typeface="Arial"/>
              </a:rPr>
              <a:t>20–10M BCE</a:t>
            </a:r>
          </a:p>
        </p:txBody>
      </p:sp>
      <p:sp>
        <p:nvSpPr>
          <p:cNvPr id="25" name="Oval 24"/>
          <p:cNvSpPr/>
          <p:nvPr/>
        </p:nvSpPr>
        <p:spPr>
          <a:xfrm>
            <a:off x="7299655" y="2121408"/>
            <a:ext cx="329184" cy="329184"/>
          </a:xfrm>
          <a:prstGeom prst="ellipse">
            <a:avLst/>
          </a:prstGeom>
          <a:solidFill>
            <a:srgbClr val="2EB5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99655" y="2157984"/>
            <a:ext cx="329184" cy="329184"/>
          </a:xfrm>
          <a:prstGeom prst="rect">
            <a:avLst/>
          </a:prstGeom>
          <a:noFill/>
        </p:spPr>
        <p:txBody>
          <a:bodyPr wrap="square" anchor="t" lIns="0" rIns="0" tIns="0" bIns="0">
            <a:noAutofit/>
          </a:bodyPr>
          <a:lstStyle/>
          <a:p>
            <a:pPr algn="ctr">
              <a:lnSpc>
                <a:spcPct val="105000"/>
              </a:lnSpc>
              <a:spcAft>
                <a:spcPts val="0"/>
              </a:spcAft>
            </a:pPr>
            <a:r>
              <a:rPr sz="1100" b="1" i="0">
                <a:solidFill>
                  <a:srgbClr val="0E1B26"/>
                </a:solidFill>
                <a:latin typeface="Arial"/>
              </a:rPr>
              <a:t>3</a:t>
            </a:r>
          </a:p>
        </p:txBody>
      </p:sp>
      <p:sp>
        <p:nvSpPr>
          <p:cNvPr id="27" name="TextBox 26"/>
          <p:cNvSpPr txBox="1"/>
          <p:nvPr/>
        </p:nvSpPr>
        <p:spPr>
          <a:xfrm>
            <a:off x="6353251" y="2578608"/>
            <a:ext cx="2221992" cy="502920"/>
          </a:xfrm>
          <a:prstGeom prst="rect">
            <a:avLst/>
          </a:prstGeom>
          <a:noFill/>
        </p:spPr>
        <p:txBody>
          <a:bodyPr wrap="square" anchor="t" lIns="0" rIns="0" tIns="0" bIns="0">
            <a:noAutofit/>
          </a:bodyPr>
          <a:lstStyle/>
          <a:p>
            <a:pPr algn="ctr">
              <a:lnSpc>
                <a:spcPct val="105000"/>
              </a:lnSpc>
              <a:spcAft>
                <a:spcPts val="0"/>
              </a:spcAft>
            </a:pPr>
            <a:r>
              <a:rPr sz="1400" b="1" i="0">
                <a:solidFill>
                  <a:srgbClr val="0E1B26"/>
                </a:solidFill>
                <a:latin typeface="Georgia"/>
              </a:rPr>
              <a:t>Main Central Thrust</a:t>
            </a:r>
          </a:p>
        </p:txBody>
      </p:sp>
      <p:sp>
        <p:nvSpPr>
          <p:cNvPr id="28" name="Rectangle 27"/>
          <p:cNvSpPr/>
          <p:nvPr/>
        </p:nvSpPr>
        <p:spPr>
          <a:xfrm>
            <a:off x="6481267" y="3154680"/>
            <a:ext cx="1965960"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3251" y="3273552"/>
            <a:ext cx="2221992" cy="1508760"/>
          </a:xfrm>
          <a:prstGeom prst="rect">
            <a:avLst/>
          </a:prstGeom>
          <a:noFill/>
        </p:spPr>
        <p:txBody>
          <a:bodyPr wrap="square" anchor="t" lIns="0" rIns="0" tIns="0" bIns="0">
            <a:noAutofit/>
          </a:bodyPr>
          <a:lstStyle/>
          <a:p>
            <a:pPr algn="ctr">
              <a:lnSpc>
                <a:spcPct val="112000"/>
              </a:lnSpc>
              <a:spcAft>
                <a:spcPts val="0"/>
              </a:spcAft>
            </a:pPr>
            <a:r>
              <a:rPr sz="1100" b="0" i="0">
                <a:solidFill>
                  <a:srgbClr val="121C24"/>
                </a:solidFill>
                <a:latin typeface="Arial"/>
              </a:rPr>
              <a:t>Gigantic crystalline nappes of granite and gneiss are thrust upward, forming the Great spine.</a:t>
            </a:r>
          </a:p>
        </p:txBody>
      </p:sp>
      <p:sp>
        <p:nvSpPr>
          <p:cNvPr id="30" name="Rounded Rectangle 29"/>
          <p:cNvSpPr/>
          <p:nvPr/>
        </p:nvSpPr>
        <p:spPr>
          <a:xfrm>
            <a:off x="8944660" y="1554480"/>
            <a:ext cx="2514600" cy="3337560"/>
          </a:xfrm>
          <a:prstGeom prst="roundRect">
            <a:avLst>
              <a:gd name="adj" fmla="val 4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944660" y="1554480"/>
            <a:ext cx="2514600" cy="438912"/>
          </a:xfrm>
          <a:prstGeom prst="roundRect">
            <a:avLst>
              <a:gd name="adj" fmla="val 10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36100" y="1645920"/>
            <a:ext cx="2331720" cy="274320"/>
          </a:xfrm>
          <a:prstGeom prst="rect">
            <a:avLst/>
          </a:prstGeom>
          <a:noFill/>
        </p:spPr>
        <p:txBody>
          <a:bodyPr wrap="square" anchor="t" lIns="0" rIns="0" tIns="0" bIns="0">
            <a:noAutofit/>
          </a:bodyPr>
          <a:lstStyle/>
          <a:p>
            <a:pPr algn="ctr">
              <a:lnSpc>
                <a:spcPct val="105000"/>
              </a:lnSpc>
              <a:spcAft>
                <a:spcPts val="0"/>
              </a:spcAft>
            </a:pPr>
            <a:r>
              <a:rPr sz="1050" b="1" i="0">
                <a:solidFill>
                  <a:srgbClr val="F2D88C"/>
                </a:solidFill>
                <a:latin typeface="Arial"/>
              </a:rPr>
              <a:t>2M BCE–Present</a:t>
            </a:r>
          </a:p>
        </p:txBody>
      </p:sp>
      <p:sp>
        <p:nvSpPr>
          <p:cNvPr id="33" name="Oval 32"/>
          <p:cNvSpPr/>
          <p:nvPr/>
        </p:nvSpPr>
        <p:spPr>
          <a:xfrm>
            <a:off x="10037368" y="2121408"/>
            <a:ext cx="329184" cy="329184"/>
          </a:xfrm>
          <a:prstGeom prst="ellipse">
            <a:avLst/>
          </a:prstGeom>
          <a:solidFill>
            <a:srgbClr val="2EB5E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37368" y="2157984"/>
            <a:ext cx="329184" cy="329184"/>
          </a:xfrm>
          <a:prstGeom prst="rect">
            <a:avLst/>
          </a:prstGeom>
          <a:noFill/>
        </p:spPr>
        <p:txBody>
          <a:bodyPr wrap="square" anchor="t" lIns="0" rIns="0" tIns="0" bIns="0">
            <a:noAutofit/>
          </a:bodyPr>
          <a:lstStyle/>
          <a:p>
            <a:pPr algn="ctr">
              <a:lnSpc>
                <a:spcPct val="105000"/>
              </a:lnSpc>
              <a:spcAft>
                <a:spcPts val="0"/>
              </a:spcAft>
            </a:pPr>
            <a:r>
              <a:rPr sz="1100" b="1" i="0">
                <a:solidFill>
                  <a:srgbClr val="0E1B26"/>
                </a:solidFill>
                <a:latin typeface="Arial"/>
              </a:rPr>
              <a:t>4</a:t>
            </a:r>
          </a:p>
        </p:txBody>
      </p:sp>
      <p:sp>
        <p:nvSpPr>
          <p:cNvPr id="35" name="TextBox 34"/>
          <p:cNvSpPr txBox="1"/>
          <p:nvPr/>
        </p:nvSpPr>
        <p:spPr>
          <a:xfrm>
            <a:off x="9090964" y="2578608"/>
            <a:ext cx="2221992" cy="502920"/>
          </a:xfrm>
          <a:prstGeom prst="rect">
            <a:avLst/>
          </a:prstGeom>
          <a:noFill/>
        </p:spPr>
        <p:txBody>
          <a:bodyPr wrap="square" anchor="t" lIns="0" rIns="0" tIns="0" bIns="0">
            <a:noAutofit/>
          </a:bodyPr>
          <a:lstStyle/>
          <a:p>
            <a:pPr algn="ctr">
              <a:lnSpc>
                <a:spcPct val="105000"/>
              </a:lnSpc>
              <a:spcAft>
                <a:spcPts val="0"/>
              </a:spcAft>
            </a:pPr>
            <a:r>
              <a:rPr sz="1400" b="1" i="0">
                <a:solidFill>
                  <a:srgbClr val="0E1B26"/>
                </a:solidFill>
                <a:latin typeface="Georgia"/>
              </a:rPr>
              <a:t>Glacial Carving &amp; Rise</a:t>
            </a:r>
          </a:p>
        </p:txBody>
      </p:sp>
      <p:sp>
        <p:nvSpPr>
          <p:cNvPr id="36" name="Rectangle 35"/>
          <p:cNvSpPr/>
          <p:nvPr/>
        </p:nvSpPr>
        <p:spPr>
          <a:xfrm>
            <a:off x="9218980" y="3154680"/>
            <a:ext cx="1965960"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90964" y="3273552"/>
            <a:ext cx="2221992" cy="1508760"/>
          </a:xfrm>
          <a:prstGeom prst="rect">
            <a:avLst/>
          </a:prstGeom>
          <a:noFill/>
        </p:spPr>
        <p:txBody>
          <a:bodyPr wrap="square" anchor="t" lIns="0" rIns="0" tIns="0" bIns="0">
            <a:noAutofit/>
          </a:bodyPr>
          <a:lstStyle/>
          <a:p>
            <a:pPr algn="ctr">
              <a:lnSpc>
                <a:spcPct val="112000"/>
              </a:lnSpc>
              <a:spcAft>
                <a:spcPts val="0"/>
              </a:spcAft>
            </a:pPr>
            <a:r>
              <a:rPr sz="1100" b="0" i="0">
                <a:solidFill>
                  <a:srgbClr val="121C24"/>
                </a:solidFill>
                <a:latin typeface="Arial"/>
              </a:rPr>
              <a:t>Quaternary glaciers chisel sharp horns while active tectonic push continues to raise peaks by 5 mm/yr.</a:t>
            </a:r>
          </a:p>
        </p:txBody>
      </p:sp>
      <p:sp>
        <p:nvSpPr>
          <p:cNvPr id="38" name="Rounded Rectangle 37"/>
          <p:cNvSpPr/>
          <p:nvPr/>
        </p:nvSpPr>
        <p:spPr>
          <a:xfrm>
            <a:off x="731520" y="5074920"/>
            <a:ext cx="10728655" cy="1143000"/>
          </a:xfrm>
          <a:prstGeom prst="roundRect">
            <a:avLst>
              <a:gd name="adj" fmla="val 4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 y="5074920"/>
            <a:ext cx="91440" cy="1143000"/>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7552" y="5202936"/>
            <a:ext cx="10271455" cy="594360"/>
          </a:xfrm>
          <a:prstGeom prst="rect">
            <a:avLst/>
          </a:prstGeom>
          <a:noFill/>
        </p:spPr>
        <p:txBody>
          <a:bodyPr wrap="square" anchor="t" lIns="0" rIns="0" tIns="0" bIns="0">
            <a:noAutofit/>
          </a:bodyPr>
          <a:lstStyle/>
          <a:p>
            <a:pPr algn="l">
              <a:lnSpc>
                <a:spcPct val="105000"/>
              </a:lnSpc>
              <a:spcAft>
                <a:spcPts val="0"/>
              </a:spcAft>
            </a:pPr>
            <a:r>
              <a:rPr sz="1400" b="1" i="0">
                <a:solidFill>
                  <a:srgbClr val="F2D88C"/>
                </a:solidFill>
                <a:latin typeface="Georgia"/>
              </a:rPr>
              <a:t>Living Tectonics</a:t>
            </a:r>
          </a:p>
        </p:txBody>
      </p:sp>
      <p:sp>
        <p:nvSpPr>
          <p:cNvPr id="41" name="Rectangle 40"/>
          <p:cNvSpPr/>
          <p:nvPr/>
        </p:nvSpPr>
        <p:spPr>
          <a:xfrm>
            <a:off x="987552" y="5824728"/>
            <a:ext cx="10216591" cy="10972"/>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5879592"/>
            <a:ext cx="10216591" cy="411480"/>
          </a:xfrm>
          <a:prstGeom prst="rect">
            <a:avLst/>
          </a:prstGeom>
          <a:noFill/>
        </p:spPr>
        <p:txBody>
          <a:bodyPr wrap="square" anchor="t" lIns="0" rIns="0" tIns="0" bIns="0">
            <a:noAutofit/>
          </a:bodyPr>
          <a:lstStyle/>
          <a:p>
            <a:pPr algn="l">
              <a:lnSpc>
                <a:spcPct val="104000"/>
              </a:lnSpc>
              <a:spcAft>
                <a:spcPts val="0"/>
              </a:spcAft>
            </a:pPr>
            <a:r>
              <a:rPr sz="950" b="0" i="0">
                <a:solidFill>
                  <a:srgbClr val="E4EFF7"/>
                </a:solidFill>
                <a:latin typeface="Arial"/>
              </a:rPr>
              <a:t>The Indian plate continues driving north at 5 cm/year, generating active seismic uplift</a:t>
            </a:r>
          </a:p>
        </p:txBody>
      </p:sp>
      <p:sp>
        <p:nvSpPr>
          <p:cNvPr id="43" name="Rectangle 42"/>
          <p:cNvSpPr/>
          <p:nvPr/>
        </p:nvSpPr>
        <p:spPr>
          <a:xfrm>
            <a:off x="731520" y="6400800"/>
            <a:ext cx="10728655"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6473952"/>
            <a:ext cx="7772400" cy="256032"/>
          </a:xfrm>
          <a:prstGeom prst="rect">
            <a:avLst/>
          </a:prstGeom>
          <a:noFill/>
        </p:spPr>
        <p:txBody>
          <a:bodyPr wrap="square" anchor="t" lIns="0" rIns="0" tIns="0" bIns="0">
            <a:noAutofit/>
          </a:bodyPr>
          <a:lstStyle/>
          <a:p>
            <a:pPr algn="l">
              <a:lnSpc>
                <a:spcPct val="105000"/>
              </a:lnSpc>
              <a:spcAft>
                <a:spcPts val="0"/>
              </a:spcAft>
            </a:pPr>
            <a:r>
              <a:rPr sz="850" b="0" i="0">
                <a:solidFill>
                  <a:srgbClr val="5C6E7E"/>
                </a:solidFill>
                <a:latin typeface="Arial"/>
              </a:rPr>
              <a:t>The Roof of the World: Geology, Ecology, and the Planetary Majesty of the Himalayas</a:t>
            </a:r>
          </a:p>
        </p:txBody>
      </p:sp>
      <p:sp>
        <p:nvSpPr>
          <p:cNvPr id="45" name="TextBox 44"/>
          <p:cNvSpPr txBox="1"/>
          <p:nvPr/>
        </p:nvSpPr>
        <p:spPr>
          <a:xfrm>
            <a:off x="9631375" y="6473952"/>
            <a:ext cx="1828800" cy="256032"/>
          </a:xfrm>
          <a:prstGeom prst="rect">
            <a:avLst/>
          </a:prstGeom>
          <a:noFill/>
        </p:spPr>
        <p:txBody>
          <a:bodyPr wrap="square" anchor="t" lIns="0" rIns="0" tIns="0" bIns="0">
            <a:noAutofit/>
          </a:bodyPr>
          <a:lstStyle/>
          <a:p>
            <a:pPr algn="r">
              <a:lnSpc>
                <a:spcPct val="105000"/>
              </a:lnSpc>
              <a:spcAft>
                <a:spcPts val="0"/>
              </a:spcAft>
            </a:pPr>
            <a:r>
              <a:rPr sz="850" b="1" i="0">
                <a:solidFill>
                  <a:srgbClr val="5C6E7E"/>
                </a:solidFill>
                <a:latin typeface="Arial"/>
              </a:rPr>
              <a:t>03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731520" y="438912"/>
            <a:ext cx="10728655" cy="237744"/>
          </a:xfrm>
          <a:prstGeom prst="rect">
            <a:avLst/>
          </a:prstGeom>
          <a:noFill/>
        </p:spPr>
        <p:txBody>
          <a:bodyPr wrap="square" anchor="t" lIns="0" rIns="0" tIns="0" bIns="0">
            <a:noAutofit/>
          </a:bodyPr>
          <a:lstStyle/>
          <a:p>
            <a:pPr algn="l">
              <a:lnSpc>
                <a:spcPct val="105000"/>
              </a:lnSpc>
              <a:spcAft>
                <a:spcPts val="0"/>
              </a:spcAft>
            </a:pPr>
            <a:r>
              <a:rPr sz="1050" b="1" i="0">
                <a:solidFill>
                  <a:srgbClr val="C6922C"/>
                </a:solidFill>
                <a:latin typeface="Arial"/>
              </a:rPr>
              <a:t>MORPHOTECTONIC BELTS</a:t>
            </a:r>
          </a:p>
        </p:txBody>
      </p:sp>
      <p:sp>
        <p:nvSpPr>
          <p:cNvPr id="3" name="TextBox 2"/>
          <p:cNvSpPr txBox="1"/>
          <p:nvPr/>
        </p:nvSpPr>
        <p:spPr>
          <a:xfrm>
            <a:off x="731520" y="676656"/>
            <a:ext cx="10728655" cy="566928"/>
          </a:xfrm>
          <a:prstGeom prst="rect">
            <a:avLst/>
          </a:prstGeom>
          <a:noFill/>
        </p:spPr>
        <p:txBody>
          <a:bodyPr wrap="square" anchor="t" lIns="0" rIns="0" tIns="0" bIns="0">
            <a:noAutofit/>
          </a:bodyPr>
          <a:lstStyle/>
          <a:p>
            <a:pPr algn="l">
              <a:lnSpc>
                <a:spcPct val="105000"/>
              </a:lnSpc>
              <a:spcAft>
                <a:spcPts val="0"/>
              </a:spcAft>
            </a:pPr>
            <a:r>
              <a:rPr sz="2600" b="1" i="0">
                <a:solidFill>
                  <a:srgbClr val="0E1B26"/>
                </a:solidFill>
                <a:latin typeface="Georgia"/>
              </a:rPr>
              <a:t>Three Parallel Longitudinal Ranges That Define the System</a:t>
            </a:r>
          </a:p>
        </p:txBody>
      </p:sp>
      <p:sp>
        <p:nvSpPr>
          <p:cNvPr id="4" name="Rectangle 3"/>
          <p:cNvSpPr/>
          <p:nvPr/>
        </p:nvSpPr>
        <p:spPr>
          <a:xfrm>
            <a:off x="731520" y="1316736"/>
            <a:ext cx="10728655" cy="12801"/>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3364992" cy="4617720"/>
          </a:xfrm>
          <a:prstGeom prst="roundRect">
            <a:avLst>
              <a:gd name="adj" fmla="val 3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00200"/>
            <a:ext cx="3364992" cy="109728"/>
          </a:xfrm>
          <a:prstGeom prst="rect">
            <a:avLst/>
          </a:prstGeom>
          <a:solidFill>
            <a:srgbClr val="E67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920240"/>
            <a:ext cx="1508760" cy="292608"/>
          </a:xfrm>
          <a:prstGeom prst="roundRect">
            <a:avLst>
              <a:gd name="adj" fmla="val 20000"/>
            </a:avLst>
          </a:prstGeom>
          <a:solidFill>
            <a:srgbClr val="EBF2F7"/>
          </a:solidFill>
          <a:ln w="9525">
            <a:solidFill>
              <a:srgbClr val="E673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1508760" cy="256032"/>
          </a:xfrm>
          <a:prstGeom prst="rect">
            <a:avLst/>
          </a:prstGeom>
          <a:noFill/>
        </p:spPr>
        <p:txBody>
          <a:bodyPr wrap="square" anchor="t" lIns="0" rIns="0" tIns="0" bIns="0">
            <a:noAutofit/>
          </a:bodyPr>
          <a:lstStyle/>
          <a:p>
            <a:pPr algn="ctr">
              <a:lnSpc>
                <a:spcPct val="105000"/>
              </a:lnSpc>
              <a:spcAft>
                <a:spcPts val="0"/>
              </a:spcAft>
            </a:pPr>
            <a:r>
              <a:rPr sz="900" b="1" i="0">
                <a:solidFill>
                  <a:srgbClr val="E67328"/>
                </a:solidFill>
                <a:latin typeface="Arial"/>
              </a:rPr>
              <a:t>SUB-HIMALAYA</a:t>
            </a:r>
          </a:p>
        </p:txBody>
      </p:sp>
      <p:sp>
        <p:nvSpPr>
          <p:cNvPr id="9" name="TextBox 8"/>
          <p:cNvSpPr txBox="1"/>
          <p:nvPr/>
        </p:nvSpPr>
        <p:spPr>
          <a:xfrm>
            <a:off x="1005840" y="2350008"/>
            <a:ext cx="2816352" cy="594360"/>
          </a:xfrm>
          <a:prstGeom prst="rect">
            <a:avLst/>
          </a:prstGeom>
          <a:noFill/>
        </p:spPr>
        <p:txBody>
          <a:bodyPr wrap="square" anchor="t" lIns="0" rIns="0" tIns="0" bIns="0">
            <a:noAutofit/>
          </a:bodyPr>
          <a:lstStyle/>
          <a:p>
            <a:pPr algn="l">
              <a:lnSpc>
                <a:spcPct val="105000"/>
              </a:lnSpc>
              <a:spcAft>
                <a:spcPts val="0"/>
              </a:spcAft>
            </a:pPr>
            <a:r>
              <a:rPr sz="1650" b="1" i="0">
                <a:solidFill>
                  <a:srgbClr val="0E1B26"/>
                </a:solidFill>
                <a:latin typeface="Georgia"/>
              </a:rPr>
              <a:t>Outer Himalaya (Siwaliks)</a:t>
            </a:r>
          </a:p>
        </p:txBody>
      </p:sp>
      <p:sp>
        <p:nvSpPr>
          <p:cNvPr id="10" name="TextBox 9"/>
          <p:cNvSpPr txBox="1"/>
          <p:nvPr/>
        </p:nvSpPr>
        <p:spPr>
          <a:xfrm>
            <a:off x="1005840" y="2971800"/>
            <a:ext cx="2816352" cy="347472"/>
          </a:xfrm>
          <a:prstGeom prst="rect">
            <a:avLst/>
          </a:prstGeom>
          <a:noFill/>
        </p:spPr>
        <p:txBody>
          <a:bodyPr wrap="square" anchor="t" lIns="0" rIns="0" tIns="0" bIns="0">
            <a:noAutofit/>
          </a:bodyPr>
          <a:lstStyle/>
          <a:p>
            <a:pPr algn="l">
              <a:lnSpc>
                <a:spcPct val="105000"/>
              </a:lnSpc>
              <a:spcAft>
                <a:spcPts val="0"/>
              </a:spcAft>
            </a:pPr>
            <a:r>
              <a:rPr sz="1200" b="1" i="0">
                <a:solidFill>
                  <a:srgbClr val="E67328"/>
                </a:solidFill>
                <a:latin typeface="Arial"/>
              </a:rPr>
              <a:t>600–1,200 m Foothills</a:t>
            </a:r>
          </a:p>
        </p:txBody>
      </p:sp>
      <p:sp>
        <p:nvSpPr>
          <p:cNvPr id="11" name="Rectangle 10"/>
          <p:cNvSpPr/>
          <p:nvPr/>
        </p:nvSpPr>
        <p:spPr>
          <a:xfrm>
            <a:off x="1005840" y="3410712"/>
            <a:ext cx="2816352"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66160"/>
            <a:ext cx="2816352" cy="2468880"/>
          </a:xfrm>
          <a:prstGeom prst="rect">
            <a:avLst/>
          </a:prstGeom>
          <a:noFill/>
        </p:spPr>
        <p:txBody>
          <a:bodyPr wrap="square" anchor="t" lIns="0" rIns="0" tIns="0" bIns="0">
            <a:noAutofit/>
          </a:bodyPr>
          <a:lstStyle/>
          <a:p>
            <a:pPr algn="l">
              <a:lnSpc>
                <a:spcPct val="118000"/>
              </a:lnSpc>
              <a:spcAft>
                <a:spcPts val="0"/>
              </a:spcAft>
            </a:pPr>
            <a:r>
              <a:rPr sz="1250" b="0" i="0">
                <a:solidFill>
                  <a:srgbClr val="121C24"/>
                </a:solidFill>
                <a:latin typeface="Arial"/>
              </a:rPr>
              <a:t>The youngest, southernmost belt formed of folded sandstone and river conglomerates, acting as the transition zone from the Indo-Gangetic plains.</a:t>
            </a:r>
          </a:p>
        </p:txBody>
      </p:sp>
      <p:sp>
        <p:nvSpPr>
          <p:cNvPr id="13" name="Rounded Rectangle 12"/>
          <p:cNvSpPr/>
          <p:nvPr/>
        </p:nvSpPr>
        <p:spPr>
          <a:xfrm>
            <a:off x="4412894" y="1600200"/>
            <a:ext cx="3364992" cy="4617720"/>
          </a:xfrm>
          <a:prstGeom prst="roundRect">
            <a:avLst>
              <a:gd name="adj" fmla="val 3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2894" y="1600200"/>
            <a:ext cx="3364992" cy="109728"/>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87214" y="1920240"/>
            <a:ext cx="1508760" cy="292608"/>
          </a:xfrm>
          <a:prstGeom prst="roundRect">
            <a:avLst>
              <a:gd name="adj" fmla="val 20000"/>
            </a:avLst>
          </a:prstGeom>
          <a:solidFill>
            <a:srgbClr val="EBF2F7"/>
          </a:solidFill>
          <a:ln w="9525">
            <a:solidFill>
              <a:srgbClr val="2EB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87214" y="1965960"/>
            <a:ext cx="1508760" cy="256032"/>
          </a:xfrm>
          <a:prstGeom prst="rect">
            <a:avLst/>
          </a:prstGeom>
          <a:noFill/>
        </p:spPr>
        <p:txBody>
          <a:bodyPr wrap="square" anchor="t" lIns="0" rIns="0" tIns="0" bIns="0">
            <a:noAutofit/>
          </a:bodyPr>
          <a:lstStyle/>
          <a:p>
            <a:pPr algn="ctr">
              <a:lnSpc>
                <a:spcPct val="105000"/>
              </a:lnSpc>
              <a:spcAft>
                <a:spcPts val="0"/>
              </a:spcAft>
            </a:pPr>
            <a:r>
              <a:rPr sz="900" b="1" i="0">
                <a:solidFill>
                  <a:srgbClr val="2EB5E5"/>
                </a:solidFill>
                <a:latin typeface="Arial"/>
              </a:rPr>
              <a:t>MIDDLE HIMALAYA</a:t>
            </a:r>
          </a:p>
        </p:txBody>
      </p:sp>
      <p:sp>
        <p:nvSpPr>
          <p:cNvPr id="17" name="TextBox 16"/>
          <p:cNvSpPr txBox="1"/>
          <p:nvPr/>
        </p:nvSpPr>
        <p:spPr>
          <a:xfrm>
            <a:off x="4687214" y="2350008"/>
            <a:ext cx="2816352" cy="594360"/>
          </a:xfrm>
          <a:prstGeom prst="rect">
            <a:avLst/>
          </a:prstGeom>
          <a:noFill/>
        </p:spPr>
        <p:txBody>
          <a:bodyPr wrap="square" anchor="t" lIns="0" rIns="0" tIns="0" bIns="0">
            <a:noAutofit/>
          </a:bodyPr>
          <a:lstStyle/>
          <a:p>
            <a:pPr algn="l">
              <a:lnSpc>
                <a:spcPct val="105000"/>
              </a:lnSpc>
              <a:spcAft>
                <a:spcPts val="0"/>
              </a:spcAft>
            </a:pPr>
            <a:r>
              <a:rPr sz="1650" b="1" i="0">
                <a:solidFill>
                  <a:srgbClr val="0E1B26"/>
                </a:solidFill>
                <a:latin typeface="Georgia"/>
              </a:rPr>
              <a:t>Lesser Himalaya (Himachal)</a:t>
            </a:r>
          </a:p>
        </p:txBody>
      </p:sp>
      <p:sp>
        <p:nvSpPr>
          <p:cNvPr id="18" name="TextBox 17"/>
          <p:cNvSpPr txBox="1"/>
          <p:nvPr/>
        </p:nvSpPr>
        <p:spPr>
          <a:xfrm>
            <a:off x="4687214" y="2971800"/>
            <a:ext cx="2816352" cy="347472"/>
          </a:xfrm>
          <a:prstGeom prst="rect">
            <a:avLst/>
          </a:prstGeom>
          <a:noFill/>
        </p:spPr>
        <p:txBody>
          <a:bodyPr wrap="square" anchor="t" lIns="0" rIns="0" tIns="0" bIns="0">
            <a:noAutofit/>
          </a:bodyPr>
          <a:lstStyle/>
          <a:p>
            <a:pPr algn="l">
              <a:lnSpc>
                <a:spcPct val="105000"/>
              </a:lnSpc>
              <a:spcAft>
                <a:spcPts val="0"/>
              </a:spcAft>
            </a:pPr>
            <a:r>
              <a:rPr sz="1200" b="1" i="0">
                <a:solidFill>
                  <a:srgbClr val="2EB5E5"/>
                </a:solidFill>
                <a:latin typeface="Arial"/>
              </a:rPr>
              <a:t>1,500–4,500 m Ridges</a:t>
            </a:r>
          </a:p>
        </p:txBody>
      </p:sp>
      <p:sp>
        <p:nvSpPr>
          <p:cNvPr id="19" name="Rectangle 18"/>
          <p:cNvSpPr/>
          <p:nvPr/>
        </p:nvSpPr>
        <p:spPr>
          <a:xfrm>
            <a:off x="4687214" y="3410712"/>
            <a:ext cx="2816352"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7214" y="3566160"/>
            <a:ext cx="2816352" cy="2468880"/>
          </a:xfrm>
          <a:prstGeom prst="rect">
            <a:avLst/>
          </a:prstGeom>
          <a:noFill/>
        </p:spPr>
        <p:txBody>
          <a:bodyPr wrap="square" anchor="t" lIns="0" rIns="0" tIns="0" bIns="0">
            <a:noAutofit/>
          </a:bodyPr>
          <a:lstStyle/>
          <a:p>
            <a:pPr algn="l">
              <a:lnSpc>
                <a:spcPct val="118000"/>
              </a:lnSpc>
              <a:spcAft>
                <a:spcPts val="0"/>
              </a:spcAft>
            </a:pPr>
            <a:r>
              <a:rPr sz="1250" b="0" i="0">
                <a:solidFill>
                  <a:srgbClr val="121C24"/>
                </a:solidFill>
                <a:latin typeface="Arial"/>
              </a:rPr>
              <a:t>Deeply dissected temperate valleys and metamorphic ridges hosting historic settlements, pine forests, and high-altitude agricultural terraces.</a:t>
            </a:r>
          </a:p>
        </p:txBody>
      </p:sp>
      <p:sp>
        <p:nvSpPr>
          <p:cNvPr id="21" name="Rounded Rectangle 20"/>
          <p:cNvSpPr/>
          <p:nvPr/>
        </p:nvSpPr>
        <p:spPr>
          <a:xfrm>
            <a:off x="8094268" y="1600200"/>
            <a:ext cx="3364992" cy="4617720"/>
          </a:xfrm>
          <a:prstGeom prst="roundRect">
            <a:avLst>
              <a:gd name="adj" fmla="val 3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4268" y="1600200"/>
            <a:ext cx="3364992" cy="109728"/>
          </a:xfrm>
          <a:prstGeom prst="rect">
            <a:avLst/>
          </a:prstGeom>
          <a:solidFill>
            <a:srgbClr val="C69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68588" y="1920240"/>
            <a:ext cx="1508760" cy="292608"/>
          </a:xfrm>
          <a:prstGeom prst="roundRect">
            <a:avLst>
              <a:gd name="adj" fmla="val 20000"/>
            </a:avLst>
          </a:prstGeom>
          <a:solidFill>
            <a:srgbClr val="EBF2F7"/>
          </a:solidFill>
          <a:ln w="9525">
            <a:solidFill>
              <a:srgbClr val="C692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8588" y="1965960"/>
            <a:ext cx="1508760" cy="256032"/>
          </a:xfrm>
          <a:prstGeom prst="rect">
            <a:avLst/>
          </a:prstGeom>
          <a:noFill/>
        </p:spPr>
        <p:txBody>
          <a:bodyPr wrap="square" anchor="t" lIns="0" rIns="0" tIns="0" bIns="0">
            <a:noAutofit/>
          </a:bodyPr>
          <a:lstStyle/>
          <a:p>
            <a:pPr algn="ctr">
              <a:lnSpc>
                <a:spcPct val="105000"/>
              </a:lnSpc>
              <a:spcAft>
                <a:spcPts val="0"/>
              </a:spcAft>
            </a:pPr>
            <a:r>
              <a:rPr sz="900" b="1" i="0">
                <a:solidFill>
                  <a:srgbClr val="C6922C"/>
                </a:solidFill>
                <a:latin typeface="Arial"/>
              </a:rPr>
              <a:t>HIGHER HIMALAYA</a:t>
            </a:r>
          </a:p>
        </p:txBody>
      </p:sp>
      <p:sp>
        <p:nvSpPr>
          <p:cNvPr id="25" name="TextBox 24"/>
          <p:cNvSpPr txBox="1"/>
          <p:nvPr/>
        </p:nvSpPr>
        <p:spPr>
          <a:xfrm>
            <a:off x="8368588" y="2350008"/>
            <a:ext cx="2816352" cy="594360"/>
          </a:xfrm>
          <a:prstGeom prst="rect">
            <a:avLst/>
          </a:prstGeom>
          <a:noFill/>
        </p:spPr>
        <p:txBody>
          <a:bodyPr wrap="square" anchor="t" lIns="0" rIns="0" tIns="0" bIns="0">
            <a:noAutofit/>
          </a:bodyPr>
          <a:lstStyle/>
          <a:p>
            <a:pPr algn="l">
              <a:lnSpc>
                <a:spcPct val="105000"/>
              </a:lnSpc>
              <a:spcAft>
                <a:spcPts val="0"/>
              </a:spcAft>
            </a:pPr>
            <a:r>
              <a:rPr sz="1650" b="1" i="0">
                <a:solidFill>
                  <a:srgbClr val="0E1B26"/>
                </a:solidFill>
                <a:latin typeface="Georgia"/>
              </a:rPr>
              <a:t>Great Himalaya (Himadri)</a:t>
            </a:r>
          </a:p>
        </p:txBody>
      </p:sp>
      <p:sp>
        <p:nvSpPr>
          <p:cNvPr id="26" name="TextBox 25"/>
          <p:cNvSpPr txBox="1"/>
          <p:nvPr/>
        </p:nvSpPr>
        <p:spPr>
          <a:xfrm>
            <a:off x="8368588" y="2971800"/>
            <a:ext cx="2816352" cy="347472"/>
          </a:xfrm>
          <a:prstGeom prst="rect">
            <a:avLst/>
          </a:prstGeom>
          <a:noFill/>
        </p:spPr>
        <p:txBody>
          <a:bodyPr wrap="square" anchor="t" lIns="0" rIns="0" tIns="0" bIns="0">
            <a:noAutofit/>
          </a:bodyPr>
          <a:lstStyle/>
          <a:p>
            <a:pPr algn="l">
              <a:lnSpc>
                <a:spcPct val="105000"/>
              </a:lnSpc>
              <a:spcAft>
                <a:spcPts val="0"/>
              </a:spcAft>
            </a:pPr>
            <a:r>
              <a:rPr sz="1200" b="1" i="0">
                <a:solidFill>
                  <a:srgbClr val="C6922C"/>
                </a:solidFill>
                <a:latin typeface="Arial"/>
              </a:rPr>
              <a:t>6,000–8,848 m Apex</a:t>
            </a:r>
          </a:p>
        </p:txBody>
      </p:sp>
      <p:sp>
        <p:nvSpPr>
          <p:cNvPr id="27" name="Rectangle 26"/>
          <p:cNvSpPr/>
          <p:nvPr/>
        </p:nvSpPr>
        <p:spPr>
          <a:xfrm>
            <a:off x="8368588" y="3410712"/>
            <a:ext cx="2816352"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8588" y="3566160"/>
            <a:ext cx="2816352" cy="2468880"/>
          </a:xfrm>
          <a:prstGeom prst="rect">
            <a:avLst/>
          </a:prstGeom>
          <a:noFill/>
        </p:spPr>
        <p:txBody>
          <a:bodyPr wrap="square" anchor="t" lIns="0" rIns="0" tIns="0" bIns="0">
            <a:noAutofit/>
          </a:bodyPr>
          <a:lstStyle/>
          <a:p>
            <a:pPr algn="l">
              <a:lnSpc>
                <a:spcPct val="118000"/>
              </a:lnSpc>
              <a:spcAft>
                <a:spcPts val="0"/>
              </a:spcAft>
            </a:pPr>
            <a:r>
              <a:rPr sz="1250" b="0" i="0">
                <a:solidFill>
                  <a:srgbClr val="121C24"/>
                </a:solidFill>
                <a:latin typeface="Arial"/>
              </a:rPr>
              <a:t>The crystalline central axis of perennial snow, massive valley glaciers, and all fourteen of Earth's Eight-Thousander peaks.</a:t>
            </a:r>
          </a:p>
        </p:txBody>
      </p:sp>
      <p:sp>
        <p:nvSpPr>
          <p:cNvPr id="29" name="Rectangle 28"/>
          <p:cNvSpPr/>
          <p:nvPr/>
        </p:nvSpPr>
        <p:spPr>
          <a:xfrm>
            <a:off x="731520" y="6400800"/>
            <a:ext cx="10728655"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6473952"/>
            <a:ext cx="7772400" cy="256032"/>
          </a:xfrm>
          <a:prstGeom prst="rect">
            <a:avLst/>
          </a:prstGeom>
          <a:noFill/>
        </p:spPr>
        <p:txBody>
          <a:bodyPr wrap="square" anchor="t" lIns="0" rIns="0" tIns="0" bIns="0">
            <a:noAutofit/>
          </a:bodyPr>
          <a:lstStyle/>
          <a:p>
            <a:pPr algn="l">
              <a:lnSpc>
                <a:spcPct val="105000"/>
              </a:lnSpc>
              <a:spcAft>
                <a:spcPts val="0"/>
              </a:spcAft>
            </a:pPr>
            <a:r>
              <a:rPr sz="850" b="0" i="0">
                <a:solidFill>
                  <a:srgbClr val="5C6E7E"/>
                </a:solidFill>
                <a:latin typeface="Arial"/>
              </a:rPr>
              <a:t>The Roof of the World: Geology, Ecology, and the Planetary Majesty of the Himalayas</a:t>
            </a:r>
          </a:p>
        </p:txBody>
      </p:sp>
      <p:sp>
        <p:nvSpPr>
          <p:cNvPr id="31" name="TextBox 30"/>
          <p:cNvSpPr txBox="1"/>
          <p:nvPr/>
        </p:nvSpPr>
        <p:spPr>
          <a:xfrm>
            <a:off x="9631375" y="6473952"/>
            <a:ext cx="1828800" cy="256032"/>
          </a:xfrm>
          <a:prstGeom prst="rect">
            <a:avLst/>
          </a:prstGeom>
          <a:noFill/>
        </p:spPr>
        <p:txBody>
          <a:bodyPr wrap="square" anchor="t" lIns="0" rIns="0" tIns="0" bIns="0">
            <a:noAutofit/>
          </a:bodyPr>
          <a:lstStyle/>
          <a:p>
            <a:pPr algn="r">
              <a:lnSpc>
                <a:spcPct val="105000"/>
              </a:lnSpc>
              <a:spcAft>
                <a:spcPts val="0"/>
              </a:spcAft>
            </a:pPr>
            <a:r>
              <a:rPr sz="850" b="1" i="0">
                <a:solidFill>
                  <a:srgbClr val="5C6E7E"/>
                </a:solidFill>
                <a:latin typeface="Arial"/>
              </a:rPr>
              <a:t>04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731520" y="438912"/>
            <a:ext cx="10728655" cy="237744"/>
          </a:xfrm>
          <a:prstGeom prst="rect">
            <a:avLst/>
          </a:prstGeom>
          <a:noFill/>
        </p:spPr>
        <p:txBody>
          <a:bodyPr wrap="square" anchor="t" lIns="0" rIns="0" tIns="0" bIns="0">
            <a:noAutofit/>
          </a:bodyPr>
          <a:lstStyle/>
          <a:p>
            <a:pPr algn="l">
              <a:lnSpc>
                <a:spcPct val="105000"/>
              </a:lnSpc>
              <a:spcAft>
                <a:spcPts val="0"/>
              </a:spcAft>
            </a:pPr>
            <a:r>
              <a:rPr sz="1050" b="1" i="0">
                <a:solidFill>
                  <a:srgbClr val="C6922C"/>
                </a:solidFill>
                <a:latin typeface="Arial"/>
              </a:rPr>
              <a:t>HYDROLOGICAL ENGINE</a:t>
            </a:r>
          </a:p>
        </p:txBody>
      </p:sp>
      <p:sp>
        <p:nvSpPr>
          <p:cNvPr id="3" name="TextBox 2"/>
          <p:cNvSpPr txBox="1"/>
          <p:nvPr/>
        </p:nvSpPr>
        <p:spPr>
          <a:xfrm>
            <a:off x="731520" y="676656"/>
            <a:ext cx="10728655" cy="566928"/>
          </a:xfrm>
          <a:prstGeom prst="rect">
            <a:avLst/>
          </a:prstGeom>
          <a:noFill/>
        </p:spPr>
        <p:txBody>
          <a:bodyPr wrap="square" anchor="t" lIns="0" rIns="0" tIns="0" bIns="0">
            <a:noAutofit/>
          </a:bodyPr>
          <a:lstStyle/>
          <a:p>
            <a:pPr algn="l">
              <a:lnSpc>
                <a:spcPct val="105000"/>
              </a:lnSpc>
              <a:spcAft>
                <a:spcPts val="0"/>
              </a:spcAft>
            </a:pPr>
            <a:r>
              <a:rPr sz="2600" b="1" i="0">
                <a:solidFill>
                  <a:srgbClr val="0E1B26"/>
                </a:solidFill>
                <a:latin typeface="Georgia"/>
              </a:rPr>
              <a:t>The Water Towers of Asia Feeding a Fifth of Humanity</a:t>
            </a:r>
          </a:p>
        </p:txBody>
      </p:sp>
      <p:sp>
        <p:nvSpPr>
          <p:cNvPr id="4" name="Rectangle 3"/>
          <p:cNvSpPr/>
          <p:nvPr/>
        </p:nvSpPr>
        <p:spPr>
          <a:xfrm>
            <a:off x="731520" y="1316736"/>
            <a:ext cx="10728655" cy="12801"/>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6217920" cy="3383280"/>
          </a:xfrm>
          <a:prstGeom prst="rect">
            <a:avLst/>
          </a:prstGeom>
          <a:noFill/>
        </p:spPr>
        <p:txBody>
          <a:bodyPr wrap="square" anchor="t" lIns="0" rIns="0" tIns="0" bIns="0">
            <a:noAutofit/>
          </a:bodyPr>
          <a:lstStyle/>
          <a:p>
            <a:pPr algn="l">
              <a:lnSpc>
                <a:spcPct val="110000"/>
              </a:lnSpc>
              <a:spcAft>
                <a:spcPts val="1200"/>
              </a:spcAft>
            </a:pPr>
            <a:r>
              <a:rPr sz="1450" b="1">
                <a:solidFill>
                  <a:srgbClr val="2EB5E5"/>
                </a:solidFill>
                <a:latin typeface="Arial"/>
              </a:rPr>
              <a:t>▪  </a:t>
            </a:r>
            <a:r>
              <a:rPr sz="1450" b="1">
                <a:solidFill>
                  <a:srgbClr val="121C24"/>
                </a:solidFill>
                <a:latin typeface="Arial"/>
              </a:rPr>
              <a:t>Ten Transboundary Rivers: </a:t>
            </a:r>
            <a:r>
              <a:rPr sz="1450" b="0">
                <a:solidFill>
                  <a:srgbClr val="121C24"/>
                </a:solidFill>
                <a:latin typeface="Arial"/>
              </a:rPr>
              <a:t>The Himalayas are the primary headwaters for the Indus, Ganges, Brahmaputra, Yangtze, Yellow, Mekong, and Salween rivers.</a:t>
            </a:r>
          </a:p>
          <a:p>
            <a:pPr algn="l">
              <a:lnSpc>
                <a:spcPct val="110000"/>
              </a:lnSpc>
              <a:spcAft>
                <a:spcPts val="1200"/>
              </a:spcAft>
            </a:pPr>
            <a:r>
              <a:rPr sz="1450" b="1">
                <a:solidFill>
                  <a:srgbClr val="2EB5E5"/>
                </a:solidFill>
                <a:latin typeface="Arial"/>
              </a:rPr>
              <a:t>▪  </a:t>
            </a:r>
            <a:r>
              <a:rPr sz="1450" b="1">
                <a:solidFill>
                  <a:srgbClr val="121C24"/>
                </a:solidFill>
                <a:latin typeface="Arial"/>
              </a:rPr>
              <a:t>Spring Meltwater Buffer: </a:t>
            </a:r>
            <a:r>
              <a:rPr sz="1450" b="0">
                <a:solidFill>
                  <a:srgbClr val="121C24"/>
                </a:solidFill>
                <a:latin typeface="Arial"/>
              </a:rPr>
              <a:t>Before the monsoon rains arrive, high-altitude snow and glacial melt contribute up to 60% of streamflow in arid upper basins.</a:t>
            </a:r>
          </a:p>
          <a:p>
            <a:pPr algn="l">
              <a:lnSpc>
                <a:spcPct val="110000"/>
              </a:lnSpc>
              <a:spcAft>
                <a:spcPts val="1200"/>
              </a:spcAft>
            </a:pPr>
            <a:r>
              <a:rPr sz="1450" b="1">
                <a:solidFill>
                  <a:srgbClr val="2EB5E5"/>
                </a:solidFill>
                <a:latin typeface="Arial"/>
              </a:rPr>
              <a:t>▪  </a:t>
            </a:r>
            <a:r>
              <a:rPr sz="1450" b="1">
                <a:solidFill>
                  <a:srgbClr val="121C24"/>
                </a:solidFill>
                <a:latin typeface="Arial"/>
              </a:rPr>
              <a:t>Agricultural Lifeblood: </a:t>
            </a:r>
            <a:r>
              <a:rPr sz="1450" b="0">
                <a:solidFill>
                  <a:srgbClr val="121C24"/>
                </a:solidFill>
                <a:latin typeface="Arial"/>
              </a:rPr>
              <a:t>Over 20% of global food production—including the vast wheat and rice basins of India and China—depends on Himalayan river runoff.</a:t>
            </a:r>
          </a:p>
          <a:p>
            <a:pPr algn="l">
              <a:lnSpc>
                <a:spcPct val="110000"/>
              </a:lnSpc>
              <a:spcAft>
                <a:spcPts val="1200"/>
              </a:spcAft>
            </a:pPr>
            <a:r>
              <a:rPr sz="1450" b="1">
                <a:solidFill>
                  <a:srgbClr val="2EB5E5"/>
                </a:solidFill>
                <a:latin typeface="Arial"/>
              </a:rPr>
              <a:t>▪  </a:t>
            </a:r>
            <a:r>
              <a:rPr sz="1450" b="1">
                <a:solidFill>
                  <a:srgbClr val="121C24"/>
                </a:solidFill>
                <a:latin typeface="Arial"/>
              </a:rPr>
              <a:t>Hydropower Potential: </a:t>
            </a:r>
            <a:r>
              <a:rPr sz="1450" b="0">
                <a:solidFill>
                  <a:srgbClr val="121C24"/>
                </a:solidFill>
                <a:latin typeface="Arial"/>
              </a:rPr>
              <a:t>Glacial valleys supply thousands of megawatts of clean renewable energy for mountainous developing economies.</a:t>
            </a:r>
          </a:p>
        </p:txBody>
      </p:sp>
      <p:sp>
        <p:nvSpPr>
          <p:cNvPr id="6" name="Rounded Rectangle 5"/>
          <p:cNvSpPr/>
          <p:nvPr/>
        </p:nvSpPr>
        <p:spPr>
          <a:xfrm>
            <a:off x="731520" y="5074920"/>
            <a:ext cx="6217920" cy="1143000"/>
          </a:xfrm>
          <a:prstGeom prst="roundRect">
            <a:avLst>
              <a:gd name="adj" fmla="val 4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5074920"/>
            <a:ext cx="91440" cy="1143000"/>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202936"/>
            <a:ext cx="5760720" cy="594360"/>
          </a:xfrm>
          <a:prstGeom prst="rect">
            <a:avLst/>
          </a:prstGeom>
          <a:noFill/>
        </p:spPr>
        <p:txBody>
          <a:bodyPr wrap="square" anchor="t" lIns="0" rIns="0" tIns="0" bIns="0">
            <a:noAutofit/>
          </a:bodyPr>
          <a:lstStyle/>
          <a:p>
            <a:pPr algn="l">
              <a:lnSpc>
                <a:spcPct val="105000"/>
              </a:lnSpc>
              <a:spcAft>
                <a:spcPts val="0"/>
              </a:spcAft>
            </a:pPr>
            <a:r>
              <a:rPr sz="1400" b="1" i="0">
                <a:solidFill>
                  <a:srgbClr val="F2D88C"/>
                </a:solidFill>
                <a:latin typeface="Georgia"/>
              </a:rPr>
              <a:t>10 River Basins</a:t>
            </a:r>
          </a:p>
        </p:txBody>
      </p:sp>
      <p:sp>
        <p:nvSpPr>
          <p:cNvPr id="9" name="Rectangle 8"/>
          <p:cNvSpPr/>
          <p:nvPr/>
        </p:nvSpPr>
        <p:spPr>
          <a:xfrm>
            <a:off x="987552" y="5824728"/>
            <a:ext cx="5705856" cy="10972"/>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879592"/>
            <a:ext cx="5705856" cy="411480"/>
          </a:xfrm>
          <a:prstGeom prst="rect">
            <a:avLst/>
          </a:prstGeom>
          <a:noFill/>
        </p:spPr>
        <p:txBody>
          <a:bodyPr wrap="square" anchor="t" lIns="0" rIns="0" tIns="0" bIns="0">
            <a:noAutofit/>
          </a:bodyPr>
          <a:lstStyle/>
          <a:p>
            <a:pPr algn="l">
              <a:lnSpc>
                <a:spcPct val="104000"/>
              </a:lnSpc>
              <a:spcAft>
                <a:spcPts val="0"/>
              </a:spcAft>
            </a:pPr>
            <a:r>
              <a:rPr sz="950" b="0" i="0">
                <a:solidFill>
                  <a:srgbClr val="E4EFF7"/>
                </a:solidFill>
                <a:latin typeface="Arial"/>
              </a:rPr>
              <a:t>Sustaining agriculture, drinking water, and industry across 18 Asian nations</a:t>
            </a:r>
          </a:p>
        </p:txBody>
      </p:sp>
      <p:sp>
        <p:nvSpPr>
          <p:cNvPr id="11" name="Rounded Rectangle 10"/>
          <p:cNvSpPr/>
          <p:nvPr/>
        </p:nvSpPr>
        <p:spPr>
          <a:xfrm>
            <a:off x="7208215" y="1508760"/>
            <a:ext cx="4297679" cy="4754879"/>
          </a:xfrm>
          <a:prstGeom prst="roundRect">
            <a:avLst>
              <a:gd name="adj" fmla="val 3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ivers_glaciers.jpg"/>
          <p:cNvPicPr>
            <a:picLocks noChangeAspect="1"/>
          </p:cNvPicPr>
          <p:nvPr/>
        </p:nvPicPr>
        <p:blipFill>
          <a:blip r:embed="rId2"/>
          <a:stretch>
            <a:fillRect/>
          </a:stretch>
        </p:blipFill>
        <p:spPr>
          <a:xfrm>
            <a:off x="7253935" y="1554480"/>
            <a:ext cx="4206240" cy="4663440"/>
          </a:xfrm>
          <a:prstGeom prst="rect">
            <a:avLst/>
          </a:prstGeom>
        </p:spPr>
      </p:pic>
      <p:sp>
        <p:nvSpPr>
          <p:cNvPr id="13" name="Rectangle 12"/>
          <p:cNvSpPr/>
          <p:nvPr/>
        </p:nvSpPr>
        <p:spPr>
          <a:xfrm>
            <a:off x="7253935" y="5486400"/>
            <a:ext cx="4206240" cy="731520"/>
          </a:xfrm>
          <a:prstGeom prst="rect">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253935" y="5486400"/>
            <a:ext cx="4206240" cy="36576"/>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82535" y="5596128"/>
            <a:ext cx="3749039" cy="256032"/>
          </a:xfrm>
          <a:prstGeom prst="rect">
            <a:avLst/>
          </a:prstGeom>
          <a:noFill/>
        </p:spPr>
        <p:txBody>
          <a:bodyPr wrap="square" anchor="t" lIns="0" rIns="0" tIns="0" bIns="0">
            <a:noAutofit/>
          </a:bodyPr>
          <a:lstStyle/>
          <a:p>
            <a:pPr algn="l">
              <a:lnSpc>
                <a:spcPct val="105000"/>
              </a:lnSpc>
              <a:spcAft>
                <a:spcPts val="0"/>
              </a:spcAft>
            </a:pPr>
            <a:r>
              <a:rPr sz="950" b="1" i="0">
                <a:solidFill>
                  <a:srgbClr val="2EB5E5"/>
                </a:solidFill>
                <a:latin typeface="Arial"/>
              </a:rPr>
              <a:t>HYDROLOGICAL BASINS OF ASIA</a:t>
            </a:r>
          </a:p>
        </p:txBody>
      </p:sp>
      <p:sp>
        <p:nvSpPr>
          <p:cNvPr id="16" name="TextBox 15"/>
          <p:cNvSpPr txBox="1"/>
          <p:nvPr/>
        </p:nvSpPr>
        <p:spPr>
          <a:xfrm>
            <a:off x="7482535" y="5833872"/>
            <a:ext cx="3749039" cy="320040"/>
          </a:xfrm>
          <a:prstGeom prst="rect">
            <a:avLst/>
          </a:prstGeom>
          <a:noFill/>
        </p:spPr>
        <p:txBody>
          <a:bodyPr wrap="square" anchor="t" lIns="0" rIns="0" tIns="0" bIns="0">
            <a:noAutofit/>
          </a:bodyPr>
          <a:lstStyle/>
          <a:p>
            <a:pPr algn="l">
              <a:lnSpc>
                <a:spcPct val="105000"/>
              </a:lnSpc>
              <a:spcAft>
                <a:spcPts val="0"/>
              </a:spcAft>
            </a:pPr>
            <a:r>
              <a:rPr sz="1100" b="0" i="0">
                <a:solidFill>
                  <a:srgbClr val="FFFFFF"/>
                </a:solidFill>
                <a:latin typeface="Georgia"/>
              </a:rPr>
              <a:t>Indus &amp; Ganges High-Altitude Headwaters</a:t>
            </a:r>
          </a:p>
        </p:txBody>
      </p:sp>
      <p:sp>
        <p:nvSpPr>
          <p:cNvPr id="17" name="Rectangle 16"/>
          <p:cNvSpPr/>
          <p:nvPr/>
        </p:nvSpPr>
        <p:spPr>
          <a:xfrm>
            <a:off x="731520" y="6400800"/>
            <a:ext cx="10728655"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73952"/>
            <a:ext cx="7772400" cy="256032"/>
          </a:xfrm>
          <a:prstGeom prst="rect">
            <a:avLst/>
          </a:prstGeom>
          <a:noFill/>
        </p:spPr>
        <p:txBody>
          <a:bodyPr wrap="square" anchor="t" lIns="0" rIns="0" tIns="0" bIns="0">
            <a:noAutofit/>
          </a:bodyPr>
          <a:lstStyle/>
          <a:p>
            <a:pPr algn="l">
              <a:lnSpc>
                <a:spcPct val="105000"/>
              </a:lnSpc>
              <a:spcAft>
                <a:spcPts val="0"/>
              </a:spcAft>
            </a:pPr>
            <a:r>
              <a:rPr sz="850" b="0" i="0">
                <a:solidFill>
                  <a:srgbClr val="5C6E7E"/>
                </a:solidFill>
                <a:latin typeface="Arial"/>
              </a:rPr>
              <a:t>The Roof of the World: Geology, Ecology, and the Planetary Majesty of the Himalayas</a:t>
            </a:r>
          </a:p>
        </p:txBody>
      </p:sp>
      <p:sp>
        <p:nvSpPr>
          <p:cNvPr id="19" name="TextBox 18"/>
          <p:cNvSpPr txBox="1"/>
          <p:nvPr/>
        </p:nvSpPr>
        <p:spPr>
          <a:xfrm>
            <a:off x="9631375" y="6473952"/>
            <a:ext cx="1828800" cy="256032"/>
          </a:xfrm>
          <a:prstGeom prst="rect">
            <a:avLst/>
          </a:prstGeom>
          <a:noFill/>
        </p:spPr>
        <p:txBody>
          <a:bodyPr wrap="square" anchor="t" lIns="0" rIns="0" tIns="0" bIns="0">
            <a:noAutofit/>
          </a:bodyPr>
          <a:lstStyle/>
          <a:p>
            <a:pPr algn="r">
              <a:lnSpc>
                <a:spcPct val="105000"/>
              </a:lnSpc>
              <a:spcAft>
                <a:spcPts val="0"/>
              </a:spcAft>
            </a:pPr>
            <a:r>
              <a:rPr sz="850" b="1" i="0">
                <a:solidFill>
                  <a:srgbClr val="5C6E7E"/>
                </a:solidFill>
                <a:latin typeface="Arial"/>
              </a:rPr>
              <a:t>05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731520" y="438912"/>
            <a:ext cx="10728655" cy="237744"/>
          </a:xfrm>
          <a:prstGeom prst="rect">
            <a:avLst/>
          </a:prstGeom>
          <a:noFill/>
        </p:spPr>
        <p:txBody>
          <a:bodyPr wrap="square" anchor="t" lIns="0" rIns="0" tIns="0" bIns="0">
            <a:noAutofit/>
          </a:bodyPr>
          <a:lstStyle/>
          <a:p>
            <a:pPr algn="l">
              <a:lnSpc>
                <a:spcPct val="105000"/>
              </a:lnSpc>
              <a:spcAft>
                <a:spcPts val="0"/>
              </a:spcAft>
            </a:pPr>
            <a:r>
              <a:rPr sz="1050" b="1" i="0">
                <a:solidFill>
                  <a:srgbClr val="C6922C"/>
                </a:solidFill>
                <a:latin typeface="Arial"/>
              </a:rPr>
              <a:t>MOUNTAIN METRICS</a:t>
            </a:r>
          </a:p>
        </p:txBody>
      </p:sp>
      <p:sp>
        <p:nvSpPr>
          <p:cNvPr id="3" name="TextBox 2"/>
          <p:cNvSpPr txBox="1"/>
          <p:nvPr/>
        </p:nvSpPr>
        <p:spPr>
          <a:xfrm>
            <a:off x="731520" y="676656"/>
            <a:ext cx="10728655" cy="566928"/>
          </a:xfrm>
          <a:prstGeom prst="rect">
            <a:avLst/>
          </a:prstGeom>
          <a:noFill/>
        </p:spPr>
        <p:txBody>
          <a:bodyPr wrap="square" anchor="t" lIns="0" rIns="0" tIns="0" bIns="0">
            <a:noAutofit/>
          </a:bodyPr>
          <a:lstStyle/>
          <a:p>
            <a:pPr algn="l">
              <a:lnSpc>
                <a:spcPct val="105000"/>
              </a:lnSpc>
              <a:spcAft>
                <a:spcPts val="0"/>
              </a:spcAft>
            </a:pPr>
            <a:r>
              <a:rPr sz="2600" b="1" i="0">
                <a:solidFill>
                  <a:srgbClr val="0E1B26"/>
                </a:solidFill>
                <a:latin typeface="Georgia"/>
              </a:rPr>
              <a:t>The Extremes of Altitude: The Himalayan System in Numbers</a:t>
            </a:r>
          </a:p>
        </p:txBody>
      </p:sp>
      <p:sp>
        <p:nvSpPr>
          <p:cNvPr id="4" name="Rectangle 3"/>
          <p:cNvSpPr/>
          <p:nvPr/>
        </p:nvSpPr>
        <p:spPr>
          <a:xfrm>
            <a:off x="731520" y="1316736"/>
            <a:ext cx="10728655" cy="12801"/>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193792" cy="2194560"/>
          </a:xfrm>
          <a:prstGeom prst="roundRect">
            <a:avLst>
              <a:gd name="adj" fmla="val 4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00200"/>
            <a:ext cx="109728" cy="2194560"/>
          </a:xfrm>
          <a:prstGeom prst="rect">
            <a:avLst/>
          </a:prstGeom>
          <a:solidFill>
            <a:srgbClr val="C69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83080"/>
            <a:ext cx="4645152" cy="777240"/>
          </a:xfrm>
          <a:prstGeom prst="rect">
            <a:avLst/>
          </a:prstGeom>
          <a:noFill/>
        </p:spPr>
        <p:txBody>
          <a:bodyPr wrap="square" anchor="t" lIns="0" rIns="0" tIns="0" bIns="0">
            <a:noAutofit/>
          </a:bodyPr>
          <a:lstStyle/>
          <a:p>
            <a:pPr algn="l">
              <a:lnSpc>
                <a:spcPct val="105000"/>
              </a:lnSpc>
              <a:spcAft>
                <a:spcPts val="0"/>
              </a:spcAft>
            </a:pPr>
            <a:r>
              <a:rPr sz="4800" b="1" i="0">
                <a:solidFill>
                  <a:srgbClr val="F2D88C"/>
                </a:solidFill>
                <a:latin typeface="Georgia"/>
              </a:rPr>
              <a:t>14</a:t>
            </a:r>
          </a:p>
        </p:txBody>
      </p:sp>
      <p:sp>
        <p:nvSpPr>
          <p:cNvPr id="8" name="TextBox 7"/>
          <p:cNvSpPr txBox="1"/>
          <p:nvPr/>
        </p:nvSpPr>
        <p:spPr>
          <a:xfrm>
            <a:off x="1097280" y="2560320"/>
            <a:ext cx="4645152" cy="347472"/>
          </a:xfrm>
          <a:prstGeom prst="rect">
            <a:avLst/>
          </a:prstGeom>
          <a:noFill/>
        </p:spPr>
        <p:txBody>
          <a:bodyPr wrap="square" anchor="t" lIns="0" rIns="0" tIns="0" bIns="0">
            <a:noAutofit/>
          </a:bodyPr>
          <a:lstStyle/>
          <a:p>
            <a:pPr algn="l">
              <a:lnSpc>
                <a:spcPct val="105000"/>
              </a:lnSpc>
              <a:spcAft>
                <a:spcPts val="0"/>
              </a:spcAft>
            </a:pPr>
            <a:r>
              <a:rPr sz="1500" b="1" i="0">
                <a:solidFill>
                  <a:srgbClr val="FFFFFF"/>
                </a:solidFill>
                <a:latin typeface="Arial"/>
              </a:rPr>
              <a:t>Eight-Thousander Summits</a:t>
            </a:r>
          </a:p>
        </p:txBody>
      </p:sp>
      <p:sp>
        <p:nvSpPr>
          <p:cNvPr id="9" name="Rectangle 8"/>
          <p:cNvSpPr/>
          <p:nvPr/>
        </p:nvSpPr>
        <p:spPr>
          <a:xfrm>
            <a:off x="1097280" y="2953512"/>
            <a:ext cx="4462272" cy="10972"/>
          </a:xfrm>
          <a:prstGeom prst="rect">
            <a:avLst/>
          </a:prstGeom>
          <a:solidFill>
            <a:srgbClr val="C69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044952"/>
            <a:ext cx="4645152" cy="594360"/>
          </a:xfrm>
          <a:prstGeom prst="rect">
            <a:avLst/>
          </a:prstGeom>
          <a:noFill/>
        </p:spPr>
        <p:txBody>
          <a:bodyPr wrap="square" anchor="t" lIns="0" rIns="0" tIns="0" bIns="0">
            <a:noAutofit/>
          </a:bodyPr>
          <a:lstStyle/>
          <a:p>
            <a:pPr algn="l">
              <a:lnSpc>
                <a:spcPct val="110000"/>
              </a:lnSpc>
              <a:spcAft>
                <a:spcPts val="0"/>
              </a:spcAft>
            </a:pPr>
            <a:r>
              <a:rPr sz="1100" b="0" i="0">
                <a:solidFill>
                  <a:srgbClr val="E4EFF7"/>
                </a:solidFill>
                <a:latin typeface="Arial"/>
              </a:rPr>
              <a:t>All fourteen of Earth's peaks exceeding 8,000 meters are located in this mountain system</a:t>
            </a:r>
          </a:p>
        </p:txBody>
      </p:sp>
      <p:sp>
        <p:nvSpPr>
          <p:cNvPr id="11" name="Rounded Rectangle 10"/>
          <p:cNvSpPr/>
          <p:nvPr/>
        </p:nvSpPr>
        <p:spPr>
          <a:xfrm>
            <a:off x="6266383" y="1600200"/>
            <a:ext cx="5193792" cy="2194560"/>
          </a:xfrm>
          <a:prstGeom prst="roundRect">
            <a:avLst>
              <a:gd name="adj" fmla="val 4000"/>
            </a:avLst>
          </a:prstGeom>
          <a:solidFill>
            <a:srgbClr val="16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6383" y="1600200"/>
            <a:ext cx="109728" cy="2194560"/>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32143" y="1783080"/>
            <a:ext cx="4645152" cy="777240"/>
          </a:xfrm>
          <a:prstGeom prst="rect">
            <a:avLst/>
          </a:prstGeom>
          <a:noFill/>
        </p:spPr>
        <p:txBody>
          <a:bodyPr wrap="square" anchor="t" lIns="0" rIns="0" tIns="0" bIns="0">
            <a:noAutofit/>
          </a:bodyPr>
          <a:lstStyle/>
          <a:p>
            <a:pPr algn="l">
              <a:lnSpc>
                <a:spcPct val="105000"/>
              </a:lnSpc>
              <a:spcAft>
                <a:spcPts val="0"/>
              </a:spcAft>
            </a:pPr>
            <a:r>
              <a:rPr sz="4800" b="1" i="0">
                <a:solidFill>
                  <a:srgbClr val="2EB5E5"/>
                </a:solidFill>
                <a:latin typeface="Georgia"/>
              </a:rPr>
              <a:t>2,400 km</a:t>
            </a:r>
          </a:p>
        </p:txBody>
      </p:sp>
      <p:sp>
        <p:nvSpPr>
          <p:cNvPr id="14" name="TextBox 13"/>
          <p:cNvSpPr txBox="1"/>
          <p:nvPr/>
        </p:nvSpPr>
        <p:spPr>
          <a:xfrm>
            <a:off x="6632143" y="2560320"/>
            <a:ext cx="4645152" cy="347472"/>
          </a:xfrm>
          <a:prstGeom prst="rect">
            <a:avLst/>
          </a:prstGeom>
          <a:noFill/>
        </p:spPr>
        <p:txBody>
          <a:bodyPr wrap="square" anchor="t" lIns="0" rIns="0" tIns="0" bIns="0">
            <a:noAutofit/>
          </a:bodyPr>
          <a:lstStyle/>
          <a:p>
            <a:pPr algn="l">
              <a:lnSpc>
                <a:spcPct val="105000"/>
              </a:lnSpc>
              <a:spcAft>
                <a:spcPts val="0"/>
              </a:spcAft>
            </a:pPr>
            <a:r>
              <a:rPr sz="1500" b="1" i="0">
                <a:solidFill>
                  <a:srgbClr val="FFFFFF"/>
                </a:solidFill>
                <a:latin typeface="Arial"/>
              </a:rPr>
              <a:t>Continuous East-West Arc</a:t>
            </a:r>
          </a:p>
        </p:txBody>
      </p:sp>
      <p:sp>
        <p:nvSpPr>
          <p:cNvPr id="15" name="Rectangle 14"/>
          <p:cNvSpPr/>
          <p:nvPr/>
        </p:nvSpPr>
        <p:spPr>
          <a:xfrm>
            <a:off x="6632143" y="2953512"/>
            <a:ext cx="4462272" cy="10972"/>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2143" y="3044952"/>
            <a:ext cx="4645152" cy="594360"/>
          </a:xfrm>
          <a:prstGeom prst="rect">
            <a:avLst/>
          </a:prstGeom>
          <a:noFill/>
        </p:spPr>
        <p:txBody>
          <a:bodyPr wrap="square" anchor="t" lIns="0" rIns="0" tIns="0" bIns="0">
            <a:noAutofit/>
          </a:bodyPr>
          <a:lstStyle/>
          <a:p>
            <a:pPr algn="l">
              <a:lnSpc>
                <a:spcPct val="110000"/>
              </a:lnSpc>
              <a:spcAft>
                <a:spcPts val="0"/>
              </a:spcAft>
            </a:pPr>
            <a:r>
              <a:rPr sz="1100" b="0" i="0">
                <a:solidFill>
                  <a:srgbClr val="E4EFF7"/>
                </a:solidFill>
                <a:latin typeface="Arial"/>
              </a:rPr>
              <a:t>Stretching from Nanga Parbat in Pakistan to Namcha Barwa in Tibet across five countries</a:t>
            </a:r>
          </a:p>
        </p:txBody>
      </p:sp>
      <p:sp>
        <p:nvSpPr>
          <p:cNvPr id="17" name="Rounded Rectangle 16"/>
          <p:cNvSpPr/>
          <p:nvPr/>
        </p:nvSpPr>
        <p:spPr>
          <a:xfrm>
            <a:off x="731520" y="4050791"/>
            <a:ext cx="5193792" cy="2194560"/>
          </a:xfrm>
          <a:prstGeom prst="roundRect">
            <a:avLst>
              <a:gd name="adj" fmla="val 4000"/>
            </a:avLst>
          </a:prstGeom>
          <a:solidFill>
            <a:srgbClr val="16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050791"/>
            <a:ext cx="109728" cy="2194560"/>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233672"/>
            <a:ext cx="4645152" cy="777240"/>
          </a:xfrm>
          <a:prstGeom prst="rect">
            <a:avLst/>
          </a:prstGeom>
          <a:noFill/>
        </p:spPr>
        <p:txBody>
          <a:bodyPr wrap="square" anchor="t" lIns="0" rIns="0" tIns="0" bIns="0">
            <a:noAutofit/>
          </a:bodyPr>
          <a:lstStyle/>
          <a:p>
            <a:pPr algn="l">
              <a:lnSpc>
                <a:spcPct val="105000"/>
              </a:lnSpc>
              <a:spcAft>
                <a:spcPts val="0"/>
              </a:spcAft>
            </a:pPr>
            <a:r>
              <a:rPr sz="4800" b="1" i="0">
                <a:solidFill>
                  <a:srgbClr val="2EB5E5"/>
                </a:solidFill>
                <a:latin typeface="Georgia"/>
              </a:rPr>
              <a:t>46,000 sq km</a:t>
            </a:r>
          </a:p>
        </p:txBody>
      </p:sp>
      <p:sp>
        <p:nvSpPr>
          <p:cNvPr id="20" name="TextBox 19"/>
          <p:cNvSpPr txBox="1"/>
          <p:nvPr/>
        </p:nvSpPr>
        <p:spPr>
          <a:xfrm>
            <a:off x="1097280" y="5010912"/>
            <a:ext cx="4645152" cy="347472"/>
          </a:xfrm>
          <a:prstGeom prst="rect">
            <a:avLst/>
          </a:prstGeom>
          <a:noFill/>
        </p:spPr>
        <p:txBody>
          <a:bodyPr wrap="square" anchor="t" lIns="0" rIns="0" tIns="0" bIns="0">
            <a:noAutofit/>
          </a:bodyPr>
          <a:lstStyle/>
          <a:p>
            <a:pPr algn="l">
              <a:lnSpc>
                <a:spcPct val="105000"/>
              </a:lnSpc>
              <a:spcAft>
                <a:spcPts val="0"/>
              </a:spcAft>
            </a:pPr>
            <a:r>
              <a:rPr sz="1500" b="1" i="0">
                <a:solidFill>
                  <a:srgbClr val="FFFFFF"/>
                </a:solidFill>
                <a:latin typeface="Arial"/>
              </a:rPr>
              <a:t>Glacial Ice Cover</a:t>
            </a:r>
          </a:p>
        </p:txBody>
      </p:sp>
      <p:sp>
        <p:nvSpPr>
          <p:cNvPr id="21" name="Rectangle 20"/>
          <p:cNvSpPr/>
          <p:nvPr/>
        </p:nvSpPr>
        <p:spPr>
          <a:xfrm>
            <a:off x="1097280" y="5404104"/>
            <a:ext cx="4462272" cy="10972"/>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495544"/>
            <a:ext cx="4645152" cy="594360"/>
          </a:xfrm>
          <a:prstGeom prst="rect">
            <a:avLst/>
          </a:prstGeom>
          <a:noFill/>
        </p:spPr>
        <p:txBody>
          <a:bodyPr wrap="square" anchor="t" lIns="0" rIns="0" tIns="0" bIns="0">
            <a:noAutofit/>
          </a:bodyPr>
          <a:lstStyle/>
          <a:p>
            <a:pPr algn="l">
              <a:lnSpc>
                <a:spcPct val="110000"/>
              </a:lnSpc>
              <a:spcAft>
                <a:spcPts val="0"/>
              </a:spcAft>
            </a:pPr>
            <a:r>
              <a:rPr sz="1100" b="0" i="0">
                <a:solidFill>
                  <a:srgbClr val="E4EFF7"/>
                </a:solidFill>
                <a:latin typeface="Arial"/>
              </a:rPr>
              <a:t>The world's largest store of freshwater ice outside the Arctic and Antarctic polar ice sheets</a:t>
            </a:r>
          </a:p>
        </p:txBody>
      </p:sp>
      <p:sp>
        <p:nvSpPr>
          <p:cNvPr id="23" name="Rounded Rectangle 22"/>
          <p:cNvSpPr/>
          <p:nvPr/>
        </p:nvSpPr>
        <p:spPr>
          <a:xfrm>
            <a:off x="6266383" y="4050791"/>
            <a:ext cx="5193792" cy="2194560"/>
          </a:xfrm>
          <a:prstGeom prst="roundRect">
            <a:avLst>
              <a:gd name="adj" fmla="val 4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6383" y="4050791"/>
            <a:ext cx="109728" cy="2194560"/>
          </a:xfrm>
          <a:prstGeom prst="rect">
            <a:avLst/>
          </a:prstGeom>
          <a:solidFill>
            <a:srgbClr val="E67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32143" y="4233672"/>
            <a:ext cx="4645152" cy="777240"/>
          </a:xfrm>
          <a:prstGeom prst="rect">
            <a:avLst/>
          </a:prstGeom>
          <a:noFill/>
        </p:spPr>
        <p:txBody>
          <a:bodyPr wrap="square" anchor="t" lIns="0" rIns="0" tIns="0" bIns="0">
            <a:noAutofit/>
          </a:bodyPr>
          <a:lstStyle/>
          <a:p>
            <a:pPr algn="l">
              <a:lnSpc>
                <a:spcPct val="105000"/>
              </a:lnSpc>
              <a:spcAft>
                <a:spcPts val="0"/>
              </a:spcAft>
            </a:pPr>
            <a:r>
              <a:rPr sz="4800" b="1" i="0">
                <a:solidFill>
                  <a:srgbClr val="2EB5E5"/>
                </a:solidFill>
                <a:latin typeface="Georgia"/>
              </a:rPr>
              <a:t>5 mm / yr</a:t>
            </a:r>
          </a:p>
        </p:txBody>
      </p:sp>
      <p:sp>
        <p:nvSpPr>
          <p:cNvPr id="26" name="TextBox 25"/>
          <p:cNvSpPr txBox="1"/>
          <p:nvPr/>
        </p:nvSpPr>
        <p:spPr>
          <a:xfrm>
            <a:off x="6632143" y="5010912"/>
            <a:ext cx="4645152" cy="347472"/>
          </a:xfrm>
          <a:prstGeom prst="rect">
            <a:avLst/>
          </a:prstGeom>
          <a:noFill/>
        </p:spPr>
        <p:txBody>
          <a:bodyPr wrap="square" anchor="t" lIns="0" rIns="0" tIns="0" bIns="0">
            <a:noAutofit/>
          </a:bodyPr>
          <a:lstStyle/>
          <a:p>
            <a:pPr algn="l">
              <a:lnSpc>
                <a:spcPct val="105000"/>
              </a:lnSpc>
              <a:spcAft>
                <a:spcPts val="0"/>
              </a:spcAft>
            </a:pPr>
            <a:r>
              <a:rPr sz="1500" b="1" i="0">
                <a:solidFill>
                  <a:srgbClr val="FFFFFF"/>
                </a:solidFill>
                <a:latin typeface="Arial"/>
              </a:rPr>
              <a:t>Active Tectonic Uplift</a:t>
            </a:r>
          </a:p>
        </p:txBody>
      </p:sp>
      <p:sp>
        <p:nvSpPr>
          <p:cNvPr id="27" name="Rectangle 26"/>
          <p:cNvSpPr/>
          <p:nvPr/>
        </p:nvSpPr>
        <p:spPr>
          <a:xfrm>
            <a:off x="6632143" y="5404104"/>
            <a:ext cx="4462272" cy="10972"/>
          </a:xfrm>
          <a:prstGeom prst="rect">
            <a:avLst/>
          </a:prstGeom>
          <a:solidFill>
            <a:srgbClr val="E67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2143" y="5495544"/>
            <a:ext cx="4645152" cy="594360"/>
          </a:xfrm>
          <a:prstGeom prst="rect">
            <a:avLst/>
          </a:prstGeom>
          <a:noFill/>
        </p:spPr>
        <p:txBody>
          <a:bodyPr wrap="square" anchor="t" lIns="0" rIns="0" tIns="0" bIns="0">
            <a:noAutofit/>
          </a:bodyPr>
          <a:lstStyle/>
          <a:p>
            <a:pPr algn="l">
              <a:lnSpc>
                <a:spcPct val="110000"/>
              </a:lnSpc>
              <a:spcAft>
                <a:spcPts val="0"/>
              </a:spcAft>
            </a:pPr>
            <a:r>
              <a:rPr sz="1100" b="0" i="0">
                <a:solidFill>
                  <a:srgbClr val="E4EFF7"/>
                </a:solidFill>
                <a:latin typeface="Arial"/>
              </a:rPr>
              <a:t>Continuous crustal compression pushing the high summits higher against natural erosion</a:t>
            </a:r>
          </a:p>
        </p:txBody>
      </p:sp>
      <p:sp>
        <p:nvSpPr>
          <p:cNvPr id="29" name="Rectangle 28"/>
          <p:cNvSpPr/>
          <p:nvPr/>
        </p:nvSpPr>
        <p:spPr>
          <a:xfrm>
            <a:off x="731520" y="6400800"/>
            <a:ext cx="10728655"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6473952"/>
            <a:ext cx="7772400" cy="256032"/>
          </a:xfrm>
          <a:prstGeom prst="rect">
            <a:avLst/>
          </a:prstGeom>
          <a:noFill/>
        </p:spPr>
        <p:txBody>
          <a:bodyPr wrap="square" anchor="t" lIns="0" rIns="0" tIns="0" bIns="0">
            <a:noAutofit/>
          </a:bodyPr>
          <a:lstStyle/>
          <a:p>
            <a:pPr algn="l">
              <a:lnSpc>
                <a:spcPct val="105000"/>
              </a:lnSpc>
              <a:spcAft>
                <a:spcPts val="0"/>
              </a:spcAft>
            </a:pPr>
            <a:r>
              <a:rPr sz="850" b="0" i="0">
                <a:solidFill>
                  <a:srgbClr val="5C6E7E"/>
                </a:solidFill>
                <a:latin typeface="Arial"/>
              </a:rPr>
              <a:t>The Roof of the World: Geology, Ecology, and the Planetary Majesty of the Himalayas</a:t>
            </a:r>
          </a:p>
        </p:txBody>
      </p:sp>
      <p:sp>
        <p:nvSpPr>
          <p:cNvPr id="31" name="TextBox 30"/>
          <p:cNvSpPr txBox="1"/>
          <p:nvPr/>
        </p:nvSpPr>
        <p:spPr>
          <a:xfrm>
            <a:off x="9631375" y="6473952"/>
            <a:ext cx="1828800" cy="256032"/>
          </a:xfrm>
          <a:prstGeom prst="rect">
            <a:avLst/>
          </a:prstGeom>
          <a:noFill/>
        </p:spPr>
        <p:txBody>
          <a:bodyPr wrap="square" anchor="t" lIns="0" rIns="0" tIns="0" bIns="0">
            <a:noAutofit/>
          </a:bodyPr>
          <a:lstStyle/>
          <a:p>
            <a:pPr algn="r">
              <a:lnSpc>
                <a:spcPct val="105000"/>
              </a:lnSpc>
              <a:spcAft>
                <a:spcPts val="0"/>
              </a:spcAft>
            </a:pPr>
            <a:r>
              <a:rPr sz="850" b="1" i="0">
                <a:solidFill>
                  <a:srgbClr val="5C6E7E"/>
                </a:solidFill>
                <a:latin typeface="Arial"/>
              </a:rPr>
              <a:t>06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731520" y="438912"/>
            <a:ext cx="10728655" cy="237744"/>
          </a:xfrm>
          <a:prstGeom prst="rect">
            <a:avLst/>
          </a:prstGeom>
          <a:noFill/>
        </p:spPr>
        <p:txBody>
          <a:bodyPr wrap="square" anchor="t" lIns="0" rIns="0" tIns="0" bIns="0">
            <a:noAutofit/>
          </a:bodyPr>
          <a:lstStyle/>
          <a:p>
            <a:pPr algn="l">
              <a:lnSpc>
                <a:spcPct val="105000"/>
              </a:lnSpc>
              <a:spcAft>
                <a:spcPts val="0"/>
              </a:spcAft>
            </a:pPr>
            <a:r>
              <a:rPr sz="1050" b="1" i="0">
                <a:solidFill>
                  <a:srgbClr val="C6922C"/>
                </a:solidFill>
                <a:latin typeface="Arial"/>
              </a:rPr>
              <a:t>SUMMIT PHILOSOPHY</a:t>
            </a:r>
          </a:p>
        </p:txBody>
      </p:sp>
      <p:sp>
        <p:nvSpPr>
          <p:cNvPr id="3" name="TextBox 2"/>
          <p:cNvSpPr txBox="1"/>
          <p:nvPr/>
        </p:nvSpPr>
        <p:spPr>
          <a:xfrm>
            <a:off x="731520" y="676656"/>
            <a:ext cx="10728655" cy="566928"/>
          </a:xfrm>
          <a:prstGeom prst="rect">
            <a:avLst/>
          </a:prstGeom>
          <a:noFill/>
        </p:spPr>
        <p:txBody>
          <a:bodyPr wrap="square" anchor="t" lIns="0" rIns="0" tIns="0" bIns="0">
            <a:noAutofit/>
          </a:bodyPr>
          <a:lstStyle/>
          <a:p>
            <a:pPr algn="l">
              <a:lnSpc>
                <a:spcPct val="105000"/>
              </a:lnSpc>
              <a:spcAft>
                <a:spcPts val="0"/>
              </a:spcAft>
            </a:pPr>
            <a:r>
              <a:rPr sz="2600" b="1" i="0">
                <a:solidFill>
                  <a:srgbClr val="0E1B26"/>
                </a:solidFill>
                <a:latin typeface="Georgia"/>
              </a:rPr>
              <a:t>A Historic First Ascent and the Humility of the Heights</a:t>
            </a:r>
          </a:p>
        </p:txBody>
      </p:sp>
      <p:sp>
        <p:nvSpPr>
          <p:cNvPr id="4" name="Rectangle 3"/>
          <p:cNvSpPr/>
          <p:nvPr/>
        </p:nvSpPr>
        <p:spPr>
          <a:xfrm>
            <a:off x="731520" y="1316736"/>
            <a:ext cx="10728655" cy="12801"/>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 y="1517904"/>
            <a:ext cx="3364992" cy="4736592"/>
          </a:xfrm>
          <a:prstGeom prst="roundRect">
            <a:avLst>
              <a:gd name="adj" fmla="val 3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uote_portrait.jpg"/>
          <p:cNvPicPr>
            <a:picLocks noChangeAspect="1"/>
          </p:cNvPicPr>
          <p:nvPr/>
        </p:nvPicPr>
        <p:blipFill>
          <a:blip r:embed="rId2"/>
          <a:stretch>
            <a:fillRect/>
          </a:stretch>
        </p:blipFill>
        <p:spPr>
          <a:xfrm>
            <a:off x="731520" y="1554480"/>
            <a:ext cx="3291840" cy="4663440"/>
          </a:xfrm>
          <a:prstGeom prst="rect">
            <a:avLst/>
          </a:prstGeom>
        </p:spPr>
      </p:pic>
      <p:sp>
        <p:nvSpPr>
          <p:cNvPr id="7" name="Rectangle 6"/>
          <p:cNvSpPr/>
          <p:nvPr/>
        </p:nvSpPr>
        <p:spPr>
          <a:xfrm>
            <a:off x="731520" y="5532120"/>
            <a:ext cx="3291840" cy="685800"/>
          </a:xfrm>
          <a:prstGeom prst="rect">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532120"/>
            <a:ext cx="3291840" cy="27432"/>
          </a:xfrm>
          <a:prstGeom prst="rect">
            <a:avLst/>
          </a:prstGeom>
          <a:solidFill>
            <a:srgbClr val="C69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623559"/>
            <a:ext cx="2926080" cy="228600"/>
          </a:xfrm>
          <a:prstGeom prst="rect">
            <a:avLst/>
          </a:prstGeom>
          <a:noFill/>
        </p:spPr>
        <p:txBody>
          <a:bodyPr wrap="square" anchor="t" lIns="0" rIns="0" tIns="0" bIns="0">
            <a:noAutofit/>
          </a:bodyPr>
          <a:lstStyle/>
          <a:p>
            <a:pPr algn="ctr">
              <a:lnSpc>
                <a:spcPct val="105000"/>
              </a:lnSpc>
              <a:spcAft>
                <a:spcPts val="0"/>
              </a:spcAft>
            </a:pPr>
            <a:r>
              <a:rPr sz="1000" b="1" i="0">
                <a:solidFill>
                  <a:srgbClr val="F2D88C"/>
                </a:solidFill>
                <a:latin typeface="Arial"/>
              </a:rPr>
              <a:t>SIR EDMUND HILLARY</a:t>
            </a:r>
          </a:p>
        </p:txBody>
      </p:sp>
      <p:sp>
        <p:nvSpPr>
          <p:cNvPr id="10" name="TextBox 9"/>
          <p:cNvSpPr txBox="1"/>
          <p:nvPr/>
        </p:nvSpPr>
        <p:spPr>
          <a:xfrm>
            <a:off x="914400" y="5852159"/>
            <a:ext cx="2926080" cy="274320"/>
          </a:xfrm>
          <a:prstGeom prst="rect">
            <a:avLst/>
          </a:prstGeom>
          <a:noFill/>
        </p:spPr>
        <p:txBody>
          <a:bodyPr wrap="square" anchor="t" lIns="0" rIns="0" tIns="0" bIns="0">
            <a:noAutofit/>
          </a:bodyPr>
          <a:lstStyle/>
          <a:p>
            <a:pPr algn="ctr">
              <a:lnSpc>
                <a:spcPct val="105000"/>
              </a:lnSpc>
              <a:spcAft>
                <a:spcPts val="0"/>
              </a:spcAft>
            </a:pPr>
            <a:r>
              <a:rPr sz="950" b="0" i="0">
                <a:solidFill>
                  <a:srgbClr val="E4EFF7"/>
                </a:solidFill>
                <a:latin typeface="Arial"/>
              </a:rPr>
              <a:t>First Ascent, May 29, 1953</a:t>
            </a:r>
          </a:p>
        </p:txBody>
      </p:sp>
      <p:sp>
        <p:nvSpPr>
          <p:cNvPr id="11" name="Rounded Rectangle 10"/>
          <p:cNvSpPr/>
          <p:nvPr/>
        </p:nvSpPr>
        <p:spPr>
          <a:xfrm>
            <a:off x="4327855" y="1554480"/>
            <a:ext cx="7132320" cy="4663440"/>
          </a:xfrm>
          <a:prstGeom prst="roundRect">
            <a:avLst>
              <a:gd name="adj" fmla="val 3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7855" y="1554480"/>
            <a:ext cx="7132320" cy="109728"/>
          </a:xfrm>
          <a:prstGeom prst="rect">
            <a:avLst/>
          </a:prstGeom>
          <a:solidFill>
            <a:srgbClr val="C69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85055" y="1783080"/>
            <a:ext cx="1097280" cy="731520"/>
          </a:xfrm>
          <a:prstGeom prst="rect">
            <a:avLst/>
          </a:prstGeom>
          <a:noFill/>
        </p:spPr>
        <p:txBody>
          <a:bodyPr wrap="square" anchor="t" lIns="0" rIns="0" tIns="0" bIns="0">
            <a:noAutofit/>
          </a:bodyPr>
          <a:lstStyle/>
          <a:p>
            <a:pPr algn="l">
              <a:lnSpc>
                <a:spcPct val="105000"/>
              </a:lnSpc>
              <a:spcAft>
                <a:spcPts val="0"/>
              </a:spcAft>
            </a:pPr>
            <a:r>
              <a:rPr sz="6000" b="1" i="0">
                <a:solidFill>
                  <a:srgbClr val="2EB5E5"/>
                </a:solidFill>
                <a:latin typeface="Georgia"/>
              </a:rPr>
              <a:t>“</a:t>
            </a:r>
          </a:p>
        </p:txBody>
      </p:sp>
      <p:sp>
        <p:nvSpPr>
          <p:cNvPr id="14" name="TextBox 13"/>
          <p:cNvSpPr txBox="1"/>
          <p:nvPr/>
        </p:nvSpPr>
        <p:spPr>
          <a:xfrm>
            <a:off x="4785055" y="2331720"/>
            <a:ext cx="6217920" cy="1371600"/>
          </a:xfrm>
          <a:prstGeom prst="rect">
            <a:avLst/>
          </a:prstGeom>
          <a:noFill/>
        </p:spPr>
        <p:txBody>
          <a:bodyPr wrap="square" anchor="t" lIns="0" rIns="0" tIns="0" bIns="0">
            <a:noAutofit/>
          </a:bodyPr>
          <a:lstStyle/>
          <a:p>
            <a:pPr algn="l">
              <a:lnSpc>
                <a:spcPct val="118000"/>
              </a:lnSpc>
              <a:spcAft>
                <a:spcPts val="0"/>
              </a:spcAft>
            </a:pPr>
            <a:r>
              <a:rPr sz="1900" b="0" i="1">
                <a:solidFill>
                  <a:srgbClr val="0E1B26"/>
                </a:solidFill>
                <a:latin typeface="Georgia"/>
              </a:rPr>
              <a:t>"It is not the mountain we conquer, but ourselves."</a:t>
            </a:r>
          </a:p>
        </p:txBody>
      </p:sp>
      <p:sp>
        <p:nvSpPr>
          <p:cNvPr id="15" name="Rectangle 14"/>
          <p:cNvSpPr/>
          <p:nvPr/>
        </p:nvSpPr>
        <p:spPr>
          <a:xfrm>
            <a:off x="4785055" y="3840480"/>
            <a:ext cx="6217920"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85055" y="3977639"/>
            <a:ext cx="6217920" cy="320040"/>
          </a:xfrm>
          <a:prstGeom prst="rect">
            <a:avLst/>
          </a:prstGeom>
          <a:noFill/>
        </p:spPr>
        <p:txBody>
          <a:bodyPr wrap="square" anchor="t" lIns="0" rIns="0" tIns="0" bIns="0">
            <a:noAutofit/>
          </a:bodyPr>
          <a:lstStyle/>
          <a:p>
            <a:pPr algn="l">
              <a:lnSpc>
                <a:spcPct val="105000"/>
              </a:lnSpc>
              <a:spcAft>
                <a:spcPts val="0"/>
              </a:spcAft>
            </a:pPr>
            <a:r>
              <a:rPr sz="1400" b="1" i="0">
                <a:solidFill>
                  <a:srgbClr val="C6922C"/>
                </a:solidFill>
                <a:latin typeface="Arial"/>
              </a:rPr>
              <a:t>Sir Edmund Hillary</a:t>
            </a:r>
          </a:p>
        </p:txBody>
      </p:sp>
      <p:sp>
        <p:nvSpPr>
          <p:cNvPr id="17" name="TextBox 16"/>
          <p:cNvSpPr txBox="1"/>
          <p:nvPr/>
        </p:nvSpPr>
        <p:spPr>
          <a:xfrm>
            <a:off x="4785055" y="4279392"/>
            <a:ext cx="6217920" cy="274320"/>
          </a:xfrm>
          <a:prstGeom prst="rect">
            <a:avLst/>
          </a:prstGeom>
          <a:noFill/>
        </p:spPr>
        <p:txBody>
          <a:bodyPr wrap="square" anchor="t" lIns="0" rIns="0" tIns="0" bIns="0">
            <a:noAutofit/>
          </a:bodyPr>
          <a:lstStyle/>
          <a:p>
            <a:pPr algn="l">
              <a:lnSpc>
                <a:spcPct val="105000"/>
              </a:lnSpc>
              <a:spcAft>
                <a:spcPts val="0"/>
              </a:spcAft>
            </a:pPr>
            <a:r>
              <a:rPr sz="1050" b="0" i="0">
                <a:solidFill>
                  <a:srgbClr val="5C6E7E"/>
                </a:solidFill>
                <a:latin typeface="Arial"/>
              </a:rPr>
              <a:t>First verified ascent of Mount Everest (with Tenzing Norgay) — May 29, 1953</a:t>
            </a:r>
          </a:p>
        </p:txBody>
      </p:sp>
      <p:sp>
        <p:nvSpPr>
          <p:cNvPr id="18" name="TextBox 17"/>
          <p:cNvSpPr txBox="1"/>
          <p:nvPr/>
        </p:nvSpPr>
        <p:spPr>
          <a:xfrm>
            <a:off x="4785055" y="4663440"/>
            <a:ext cx="6217920" cy="1325880"/>
          </a:xfrm>
          <a:prstGeom prst="rect">
            <a:avLst/>
          </a:prstGeom>
          <a:noFill/>
        </p:spPr>
        <p:txBody>
          <a:bodyPr wrap="square" anchor="t" lIns="0" rIns="0" tIns="0" bIns="0">
            <a:noAutofit/>
          </a:bodyPr>
          <a:lstStyle/>
          <a:p>
            <a:pPr algn="l">
              <a:lnSpc>
                <a:spcPct val="112000"/>
              </a:lnSpc>
              <a:spcAft>
                <a:spcPts val="0"/>
              </a:spcAft>
            </a:pPr>
            <a:r>
              <a:rPr sz="1100" b="0" i="0">
                <a:solidFill>
                  <a:srgbClr val="121C24"/>
                </a:solidFill>
                <a:latin typeface="Arial"/>
              </a:rPr>
              <a:t>When Edmund Hillary and Tenzing Norgay stood atop Everest on May 29, 1953, their triumph redefined human endurance. Yet their legacy established that high-altitude exploration is not about conquering nature, but about confronting human limits with reverence, teamwork, and supreme humility.</a:t>
            </a:r>
          </a:p>
        </p:txBody>
      </p:sp>
      <p:sp>
        <p:nvSpPr>
          <p:cNvPr id="19" name="Rectangle 18"/>
          <p:cNvSpPr/>
          <p:nvPr/>
        </p:nvSpPr>
        <p:spPr>
          <a:xfrm>
            <a:off x="731520" y="6400800"/>
            <a:ext cx="10728655"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473952"/>
            <a:ext cx="7772400" cy="256032"/>
          </a:xfrm>
          <a:prstGeom prst="rect">
            <a:avLst/>
          </a:prstGeom>
          <a:noFill/>
        </p:spPr>
        <p:txBody>
          <a:bodyPr wrap="square" anchor="t" lIns="0" rIns="0" tIns="0" bIns="0">
            <a:noAutofit/>
          </a:bodyPr>
          <a:lstStyle/>
          <a:p>
            <a:pPr algn="l">
              <a:lnSpc>
                <a:spcPct val="105000"/>
              </a:lnSpc>
              <a:spcAft>
                <a:spcPts val="0"/>
              </a:spcAft>
            </a:pPr>
            <a:r>
              <a:rPr sz="850" b="0" i="0">
                <a:solidFill>
                  <a:srgbClr val="5C6E7E"/>
                </a:solidFill>
                <a:latin typeface="Arial"/>
              </a:rPr>
              <a:t>The Roof of the World: Geology, Ecology, and the Planetary Majesty of the Himalayas</a:t>
            </a:r>
          </a:p>
        </p:txBody>
      </p:sp>
      <p:sp>
        <p:nvSpPr>
          <p:cNvPr id="21" name="TextBox 20"/>
          <p:cNvSpPr txBox="1"/>
          <p:nvPr/>
        </p:nvSpPr>
        <p:spPr>
          <a:xfrm>
            <a:off x="9631375" y="6473952"/>
            <a:ext cx="1828800" cy="256032"/>
          </a:xfrm>
          <a:prstGeom prst="rect">
            <a:avLst/>
          </a:prstGeom>
          <a:noFill/>
        </p:spPr>
        <p:txBody>
          <a:bodyPr wrap="square" anchor="t" lIns="0" rIns="0" tIns="0" bIns="0">
            <a:noAutofit/>
          </a:bodyPr>
          <a:lstStyle/>
          <a:p>
            <a:pPr algn="r">
              <a:lnSpc>
                <a:spcPct val="105000"/>
              </a:lnSpc>
              <a:spcAft>
                <a:spcPts val="0"/>
              </a:spcAft>
            </a:pPr>
            <a:r>
              <a:rPr sz="850" b="1" i="0">
                <a:solidFill>
                  <a:srgbClr val="5C6E7E"/>
                </a:solidFill>
                <a:latin typeface="Arial"/>
              </a:rPr>
              <a:t>07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731520" y="438912"/>
            <a:ext cx="10728655" cy="237744"/>
          </a:xfrm>
          <a:prstGeom prst="rect">
            <a:avLst/>
          </a:prstGeom>
          <a:noFill/>
        </p:spPr>
        <p:txBody>
          <a:bodyPr wrap="square" anchor="t" lIns="0" rIns="0" tIns="0" bIns="0">
            <a:noAutofit/>
          </a:bodyPr>
          <a:lstStyle/>
          <a:p>
            <a:pPr algn="l">
              <a:lnSpc>
                <a:spcPct val="105000"/>
              </a:lnSpc>
              <a:spcAft>
                <a:spcPts val="0"/>
              </a:spcAft>
            </a:pPr>
            <a:r>
              <a:rPr sz="1050" b="1" i="0">
                <a:solidFill>
                  <a:srgbClr val="C6922C"/>
                </a:solidFill>
                <a:latin typeface="Arial"/>
              </a:rPr>
              <a:t>EIGHT-THOUSANDERS</a:t>
            </a:r>
          </a:p>
        </p:txBody>
      </p:sp>
      <p:sp>
        <p:nvSpPr>
          <p:cNvPr id="3" name="TextBox 2"/>
          <p:cNvSpPr txBox="1"/>
          <p:nvPr/>
        </p:nvSpPr>
        <p:spPr>
          <a:xfrm>
            <a:off x="731520" y="676656"/>
            <a:ext cx="10728655" cy="566928"/>
          </a:xfrm>
          <a:prstGeom prst="rect">
            <a:avLst/>
          </a:prstGeom>
          <a:noFill/>
        </p:spPr>
        <p:txBody>
          <a:bodyPr wrap="square" anchor="t" lIns="0" rIns="0" tIns="0" bIns="0">
            <a:noAutofit/>
          </a:bodyPr>
          <a:lstStyle/>
          <a:p>
            <a:pPr algn="l">
              <a:lnSpc>
                <a:spcPct val="105000"/>
              </a:lnSpc>
              <a:spcAft>
                <a:spcPts val="0"/>
              </a:spcAft>
            </a:pPr>
            <a:r>
              <a:rPr sz="2600" b="1" i="0">
                <a:solidFill>
                  <a:srgbClr val="0E1B26"/>
                </a:solidFill>
                <a:latin typeface="Georgia"/>
              </a:rPr>
              <a:t>Crown of the Earth: The Six Supreme Summits Compared</a:t>
            </a:r>
          </a:p>
        </p:txBody>
      </p:sp>
      <p:sp>
        <p:nvSpPr>
          <p:cNvPr id="4" name="Rectangle 3"/>
          <p:cNvSpPr/>
          <p:nvPr/>
        </p:nvSpPr>
        <p:spPr>
          <a:xfrm>
            <a:off x="731520" y="1316736"/>
            <a:ext cx="10728655" cy="12801"/>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554480"/>
          <a:ext cx="10728655" cy="4617720"/>
        </p:xfrm>
        <a:graphic>
          <a:graphicData uri="http://schemas.openxmlformats.org/drawingml/2006/table">
            <a:tbl>
              <a:tblPr firstRow="1" bandRow="1">
                <a:tableStyleId>{5C22544A-7EE6-4342-B048-85BDC9FD1C3A}</a:tableStyleId>
              </a:tblPr>
              <a:tblGrid>
                <a:gridCol w="2194560"/>
                <a:gridCol w="1645920"/>
                <a:gridCol w="2377440"/>
                <a:gridCol w="4510735"/>
              </a:tblGrid>
              <a:tr h="659674">
                <a:tc>
                  <a:txBody>
                    <a:bodyPr/>
                    <a:lstStyle/>
                    <a:p>
                      <a:pPr algn="l"/>
                      <a:r>
                        <a:rPr sz="1000" b="1">
                          <a:solidFill>
                            <a:srgbClr val="2EB5E5"/>
                          </a:solidFill>
                          <a:latin typeface="Arial"/>
                        </a:rPr>
                        <a:t>PEAK NAME</a:t>
                      </a:r>
                    </a:p>
                  </a:txBody>
                  <a:tcPr anchor="ctr" marL="109728" marR="109728" marT="73152" marB="73152">
                    <a:solidFill>
                      <a:srgbClr val="0E1B26"/>
                    </a:solidFill>
                  </a:tcPr>
                </a:tc>
                <a:tc>
                  <a:txBody>
                    <a:bodyPr/>
                    <a:lstStyle/>
                    <a:p>
                      <a:pPr algn="l"/>
                      <a:r>
                        <a:rPr sz="1000" b="1">
                          <a:solidFill>
                            <a:srgbClr val="2EB5E5"/>
                          </a:solidFill>
                          <a:latin typeface="Arial"/>
                        </a:rPr>
                        <a:t>ELEVATION</a:t>
                      </a:r>
                    </a:p>
                  </a:txBody>
                  <a:tcPr anchor="ctr" marL="109728" marR="109728" marT="73152" marB="73152">
                    <a:solidFill>
                      <a:srgbClr val="0E1B26"/>
                    </a:solidFill>
                  </a:tcPr>
                </a:tc>
                <a:tc>
                  <a:txBody>
                    <a:bodyPr/>
                    <a:lstStyle/>
                    <a:p>
                      <a:pPr algn="l"/>
                      <a:r>
                        <a:rPr sz="1000" b="1">
                          <a:solidFill>
                            <a:srgbClr val="2EB5E5"/>
                          </a:solidFill>
                          <a:latin typeface="Arial"/>
                        </a:rPr>
                        <a:t>RANGE &amp; LOCATION</a:t>
                      </a:r>
                    </a:p>
                  </a:txBody>
                  <a:tcPr anchor="ctr" marL="109728" marR="109728" marT="73152" marB="73152">
                    <a:solidFill>
                      <a:srgbClr val="0E1B26"/>
                    </a:solidFill>
                  </a:tcPr>
                </a:tc>
                <a:tc>
                  <a:txBody>
                    <a:bodyPr/>
                    <a:lstStyle/>
                    <a:p>
                      <a:pPr algn="l"/>
                      <a:r>
                        <a:rPr sz="1000" b="1">
                          <a:solidFill>
                            <a:srgbClr val="2EB5E5"/>
                          </a:solidFill>
                          <a:latin typeface="Arial"/>
                        </a:rPr>
                        <a:t>FIRST ASCENT &amp; GEOLOGICAL CHARACTER</a:t>
                      </a:r>
                    </a:p>
                  </a:txBody>
                  <a:tcPr anchor="ctr" marL="109728" marR="109728" marT="73152" marB="73152">
                    <a:solidFill>
                      <a:srgbClr val="0E1B26"/>
                    </a:solidFill>
                  </a:tcPr>
                </a:tc>
              </a:tr>
              <a:tr h="659674">
                <a:tc>
                  <a:txBody>
                    <a:bodyPr/>
                    <a:lstStyle/>
                    <a:p>
                      <a:pPr algn="l"/>
                      <a:r>
                        <a:rPr sz="1100" b="1">
                          <a:solidFill>
                            <a:srgbClr val="0E1B26"/>
                          </a:solidFill>
                          <a:latin typeface="Arial"/>
                        </a:rPr>
                        <a:t>Mount Everest</a:t>
                      </a:r>
                    </a:p>
                  </a:txBody>
                  <a:tcPr anchor="ctr" marL="109728" marR="109728" marT="54864" marB="54864">
                    <a:solidFill>
                      <a:srgbClr val="FFFFFF"/>
                    </a:solidFill>
                  </a:tcPr>
                </a:tc>
                <a:tc>
                  <a:txBody>
                    <a:bodyPr/>
                    <a:lstStyle/>
                    <a:p>
                      <a:pPr algn="l"/>
                      <a:r>
                        <a:rPr sz="1100" b="0">
                          <a:solidFill>
                            <a:srgbClr val="121C24"/>
                          </a:solidFill>
                          <a:latin typeface="Arial"/>
                        </a:rPr>
                        <a:t>8,848.86 m</a:t>
                      </a:r>
                    </a:p>
                  </a:txBody>
                  <a:tcPr anchor="ctr" marL="109728" marR="109728" marT="54864" marB="54864">
                    <a:solidFill>
                      <a:srgbClr val="FFFFFF"/>
                    </a:solidFill>
                  </a:tcPr>
                </a:tc>
                <a:tc>
                  <a:txBody>
                    <a:bodyPr/>
                    <a:lstStyle/>
                    <a:p>
                      <a:pPr algn="l"/>
                      <a:r>
                        <a:rPr sz="1100" b="0">
                          <a:solidFill>
                            <a:srgbClr val="121C24"/>
                          </a:solidFill>
                          <a:latin typeface="Arial"/>
                        </a:rPr>
                        <a:t>Mahalangur / Nepal-China</a:t>
                      </a:r>
                    </a:p>
                  </a:txBody>
                  <a:tcPr anchor="ctr" marL="109728" marR="109728" marT="54864" marB="54864">
                    <a:solidFill>
                      <a:srgbClr val="FFFFFF"/>
                    </a:solidFill>
                  </a:tcPr>
                </a:tc>
                <a:tc>
                  <a:txBody>
                    <a:bodyPr/>
                    <a:lstStyle/>
                    <a:p>
                      <a:pPr algn="l"/>
                      <a:r>
                        <a:rPr sz="1100" b="0">
                          <a:solidFill>
                            <a:srgbClr val="121C24"/>
                          </a:solidFill>
                          <a:latin typeface="Arial"/>
                        </a:rPr>
                        <a:t>1953 (Hillary &amp; Norgay) — Earth's supreme pinnacle with ancient marine limestone summit</a:t>
                      </a:r>
                    </a:p>
                  </a:txBody>
                  <a:tcPr anchor="ctr" marL="109728" marR="109728" marT="54864" marB="54864">
                    <a:solidFill>
                      <a:srgbClr val="FFFFFF"/>
                    </a:solidFill>
                  </a:tcPr>
                </a:tc>
              </a:tr>
              <a:tr h="659674">
                <a:tc>
                  <a:txBody>
                    <a:bodyPr/>
                    <a:lstStyle/>
                    <a:p>
                      <a:pPr algn="l"/>
                      <a:r>
                        <a:rPr sz="1100" b="1">
                          <a:solidFill>
                            <a:srgbClr val="0E1B26"/>
                          </a:solidFill>
                          <a:latin typeface="Arial"/>
                        </a:rPr>
                        <a:t>K2 (Godwin-Austen)</a:t>
                      </a:r>
                    </a:p>
                  </a:txBody>
                  <a:tcPr anchor="ctr" marL="109728" marR="109728" marT="54864" marB="54864">
                    <a:solidFill>
                      <a:srgbClr val="EBF2F7"/>
                    </a:solidFill>
                  </a:tcPr>
                </a:tc>
                <a:tc>
                  <a:txBody>
                    <a:bodyPr/>
                    <a:lstStyle/>
                    <a:p>
                      <a:pPr algn="l"/>
                      <a:r>
                        <a:rPr sz="1100" b="0">
                          <a:solidFill>
                            <a:srgbClr val="121C24"/>
                          </a:solidFill>
                          <a:latin typeface="Arial"/>
                        </a:rPr>
                        <a:t>8,611 m</a:t>
                      </a:r>
                    </a:p>
                  </a:txBody>
                  <a:tcPr anchor="ctr" marL="109728" marR="109728" marT="54864" marB="54864">
                    <a:solidFill>
                      <a:srgbClr val="EBF2F7"/>
                    </a:solidFill>
                  </a:tcPr>
                </a:tc>
                <a:tc>
                  <a:txBody>
                    <a:bodyPr/>
                    <a:lstStyle/>
                    <a:p>
                      <a:pPr algn="l"/>
                      <a:r>
                        <a:rPr sz="1100" b="0">
                          <a:solidFill>
                            <a:srgbClr val="121C24"/>
                          </a:solidFill>
                          <a:latin typeface="Arial"/>
                        </a:rPr>
                        <a:t>Karakoram / Pak-China</a:t>
                      </a:r>
                    </a:p>
                  </a:txBody>
                  <a:tcPr anchor="ctr" marL="109728" marR="109728" marT="54864" marB="54864">
                    <a:solidFill>
                      <a:srgbClr val="EBF2F7"/>
                    </a:solidFill>
                  </a:tcPr>
                </a:tc>
                <a:tc>
                  <a:txBody>
                    <a:bodyPr/>
                    <a:lstStyle/>
                    <a:p>
                      <a:pPr algn="l"/>
                      <a:r>
                        <a:rPr sz="1100" b="0">
                          <a:solidFill>
                            <a:srgbClr val="121C24"/>
                          </a:solidFill>
                          <a:latin typeface="Arial"/>
                        </a:rPr>
                        <a:t>1954 (Compagnoni &amp; Lacedelli) — The 'Savage Mountain' known for severe technical steepness</a:t>
                      </a:r>
                    </a:p>
                  </a:txBody>
                  <a:tcPr anchor="ctr" marL="109728" marR="109728" marT="54864" marB="54864">
                    <a:solidFill>
                      <a:srgbClr val="EBF2F7"/>
                    </a:solidFill>
                  </a:tcPr>
                </a:tc>
              </a:tr>
              <a:tr h="659674">
                <a:tc>
                  <a:txBody>
                    <a:bodyPr/>
                    <a:lstStyle/>
                    <a:p>
                      <a:pPr algn="l"/>
                      <a:r>
                        <a:rPr sz="1100" b="1">
                          <a:solidFill>
                            <a:srgbClr val="0E1B26"/>
                          </a:solidFill>
                          <a:latin typeface="Arial"/>
                        </a:rPr>
                        <a:t>Kangchenjunga</a:t>
                      </a:r>
                    </a:p>
                  </a:txBody>
                  <a:tcPr anchor="ctr" marL="109728" marR="109728" marT="54864" marB="54864">
                    <a:solidFill>
                      <a:srgbClr val="FFFFFF"/>
                    </a:solidFill>
                  </a:tcPr>
                </a:tc>
                <a:tc>
                  <a:txBody>
                    <a:bodyPr/>
                    <a:lstStyle/>
                    <a:p>
                      <a:pPr algn="l"/>
                      <a:r>
                        <a:rPr sz="1100" b="0">
                          <a:solidFill>
                            <a:srgbClr val="121C24"/>
                          </a:solidFill>
                          <a:latin typeface="Arial"/>
                        </a:rPr>
                        <a:t>8,586 m</a:t>
                      </a:r>
                    </a:p>
                  </a:txBody>
                  <a:tcPr anchor="ctr" marL="109728" marR="109728" marT="54864" marB="54864">
                    <a:solidFill>
                      <a:srgbClr val="FFFFFF"/>
                    </a:solidFill>
                  </a:tcPr>
                </a:tc>
                <a:tc>
                  <a:txBody>
                    <a:bodyPr/>
                    <a:lstStyle/>
                    <a:p>
                      <a:pPr algn="l"/>
                      <a:r>
                        <a:rPr sz="1100" b="0">
                          <a:solidFill>
                            <a:srgbClr val="121C24"/>
                          </a:solidFill>
                          <a:latin typeface="Arial"/>
                        </a:rPr>
                        <a:t>Kangchenjunga / India-Nepal</a:t>
                      </a:r>
                    </a:p>
                  </a:txBody>
                  <a:tcPr anchor="ctr" marL="109728" marR="109728" marT="54864" marB="54864">
                    <a:solidFill>
                      <a:srgbClr val="FFFFFF"/>
                    </a:solidFill>
                  </a:tcPr>
                </a:tc>
                <a:tc>
                  <a:txBody>
                    <a:bodyPr/>
                    <a:lstStyle/>
                    <a:p>
                      <a:pPr algn="l"/>
                      <a:r>
                        <a:rPr sz="1100" b="0">
                          <a:solidFill>
                            <a:srgbClr val="121C24"/>
                          </a:solidFill>
                          <a:latin typeface="Arial"/>
                        </a:rPr>
                        <a:t>1955 (Band &amp; Brown) — Five sacred treasures of snow; eastern sentinel of the range</a:t>
                      </a:r>
                    </a:p>
                  </a:txBody>
                  <a:tcPr anchor="ctr" marL="109728" marR="109728" marT="54864" marB="54864">
                    <a:solidFill>
                      <a:srgbClr val="FFFFFF"/>
                    </a:solidFill>
                  </a:tcPr>
                </a:tc>
              </a:tr>
              <a:tr h="659674">
                <a:tc>
                  <a:txBody>
                    <a:bodyPr/>
                    <a:lstStyle/>
                    <a:p>
                      <a:pPr algn="l"/>
                      <a:r>
                        <a:rPr sz="1100" b="1">
                          <a:solidFill>
                            <a:srgbClr val="0E1B26"/>
                          </a:solidFill>
                          <a:latin typeface="Arial"/>
                        </a:rPr>
                        <a:t>Lhotse</a:t>
                      </a:r>
                    </a:p>
                  </a:txBody>
                  <a:tcPr anchor="ctr" marL="109728" marR="109728" marT="54864" marB="54864">
                    <a:solidFill>
                      <a:srgbClr val="EBF2F7"/>
                    </a:solidFill>
                  </a:tcPr>
                </a:tc>
                <a:tc>
                  <a:txBody>
                    <a:bodyPr/>
                    <a:lstStyle/>
                    <a:p>
                      <a:pPr algn="l"/>
                      <a:r>
                        <a:rPr sz="1100" b="0">
                          <a:solidFill>
                            <a:srgbClr val="121C24"/>
                          </a:solidFill>
                          <a:latin typeface="Arial"/>
                        </a:rPr>
                        <a:t>8,516 m</a:t>
                      </a:r>
                    </a:p>
                  </a:txBody>
                  <a:tcPr anchor="ctr" marL="109728" marR="109728" marT="54864" marB="54864">
                    <a:solidFill>
                      <a:srgbClr val="EBF2F7"/>
                    </a:solidFill>
                  </a:tcPr>
                </a:tc>
                <a:tc>
                  <a:txBody>
                    <a:bodyPr/>
                    <a:lstStyle/>
                    <a:p>
                      <a:pPr algn="l"/>
                      <a:r>
                        <a:rPr sz="1100" b="0">
                          <a:solidFill>
                            <a:srgbClr val="121C24"/>
                          </a:solidFill>
                          <a:latin typeface="Arial"/>
                        </a:rPr>
                        <a:t>Mahalangur / Nepal-China</a:t>
                      </a:r>
                    </a:p>
                  </a:txBody>
                  <a:tcPr anchor="ctr" marL="109728" marR="109728" marT="54864" marB="54864">
                    <a:solidFill>
                      <a:srgbClr val="EBF2F7"/>
                    </a:solidFill>
                  </a:tcPr>
                </a:tc>
                <a:tc>
                  <a:txBody>
                    <a:bodyPr/>
                    <a:lstStyle/>
                    <a:p>
                      <a:pPr algn="l"/>
                      <a:r>
                        <a:rPr sz="1100" b="0">
                          <a:solidFill>
                            <a:srgbClr val="121C24"/>
                          </a:solidFill>
                          <a:latin typeface="Arial"/>
                        </a:rPr>
                        <a:t>1956 (Luchsinger &amp; Reiss) — Connected to Everest via South Col with massive 3.2 km South Face</a:t>
                      </a:r>
                    </a:p>
                  </a:txBody>
                  <a:tcPr anchor="ctr" marL="109728" marR="109728" marT="54864" marB="54864">
                    <a:solidFill>
                      <a:srgbClr val="EBF2F7"/>
                    </a:solidFill>
                  </a:tcPr>
                </a:tc>
              </a:tr>
              <a:tr h="659674">
                <a:tc>
                  <a:txBody>
                    <a:bodyPr/>
                    <a:lstStyle/>
                    <a:p>
                      <a:pPr algn="l"/>
                      <a:r>
                        <a:rPr sz="1100" b="1">
                          <a:solidFill>
                            <a:srgbClr val="0E1B26"/>
                          </a:solidFill>
                          <a:latin typeface="Arial"/>
                        </a:rPr>
                        <a:t>Makalu</a:t>
                      </a:r>
                    </a:p>
                  </a:txBody>
                  <a:tcPr anchor="ctr" marL="109728" marR="109728" marT="54864" marB="54864">
                    <a:solidFill>
                      <a:srgbClr val="FFFFFF"/>
                    </a:solidFill>
                  </a:tcPr>
                </a:tc>
                <a:tc>
                  <a:txBody>
                    <a:bodyPr/>
                    <a:lstStyle/>
                    <a:p>
                      <a:pPr algn="l"/>
                      <a:r>
                        <a:rPr sz="1100" b="0">
                          <a:solidFill>
                            <a:srgbClr val="121C24"/>
                          </a:solidFill>
                          <a:latin typeface="Arial"/>
                        </a:rPr>
                        <a:t>8,485 m</a:t>
                      </a:r>
                    </a:p>
                  </a:txBody>
                  <a:tcPr anchor="ctr" marL="109728" marR="109728" marT="54864" marB="54864">
                    <a:solidFill>
                      <a:srgbClr val="FFFFFF"/>
                    </a:solidFill>
                  </a:tcPr>
                </a:tc>
                <a:tc>
                  <a:txBody>
                    <a:bodyPr/>
                    <a:lstStyle/>
                    <a:p>
                      <a:pPr algn="l"/>
                      <a:r>
                        <a:rPr sz="1100" b="0">
                          <a:solidFill>
                            <a:srgbClr val="121C24"/>
                          </a:solidFill>
                          <a:latin typeface="Arial"/>
                        </a:rPr>
                        <a:t>Mahalangur / Nepal-China</a:t>
                      </a:r>
                    </a:p>
                  </a:txBody>
                  <a:tcPr anchor="ctr" marL="109728" marR="109728" marT="54864" marB="54864">
                    <a:solidFill>
                      <a:srgbClr val="FFFFFF"/>
                    </a:solidFill>
                  </a:tcPr>
                </a:tc>
                <a:tc>
                  <a:txBody>
                    <a:bodyPr/>
                    <a:lstStyle/>
                    <a:p>
                      <a:pPr algn="l"/>
                      <a:r>
                        <a:rPr sz="1100" b="0">
                          <a:solidFill>
                            <a:srgbClr val="121C24"/>
                          </a:solidFill>
                          <a:latin typeface="Arial"/>
                        </a:rPr>
                        <a:t>1955 (Couzy &amp; Terray) — Distinctive four-sided granite pyramid with knife-edge ridgelines</a:t>
                      </a:r>
                    </a:p>
                  </a:txBody>
                  <a:tcPr anchor="ctr" marL="109728" marR="109728" marT="54864" marB="54864">
                    <a:solidFill>
                      <a:srgbClr val="FFFFFF"/>
                    </a:solidFill>
                  </a:tcPr>
                </a:tc>
              </a:tr>
              <a:tr h="659676">
                <a:tc>
                  <a:txBody>
                    <a:bodyPr/>
                    <a:lstStyle/>
                    <a:p>
                      <a:pPr algn="l"/>
                      <a:r>
                        <a:rPr sz="1100" b="1">
                          <a:solidFill>
                            <a:srgbClr val="0E1B26"/>
                          </a:solidFill>
                          <a:latin typeface="Arial"/>
                        </a:rPr>
                        <a:t>Annapurna I</a:t>
                      </a:r>
                    </a:p>
                  </a:txBody>
                  <a:tcPr anchor="ctr" marL="109728" marR="109728" marT="54864" marB="54864">
                    <a:solidFill>
                      <a:srgbClr val="EBF2F7"/>
                    </a:solidFill>
                  </a:tcPr>
                </a:tc>
                <a:tc>
                  <a:txBody>
                    <a:bodyPr/>
                    <a:lstStyle/>
                    <a:p>
                      <a:pPr algn="l"/>
                      <a:r>
                        <a:rPr sz="1100" b="0">
                          <a:solidFill>
                            <a:srgbClr val="121C24"/>
                          </a:solidFill>
                          <a:latin typeface="Arial"/>
                        </a:rPr>
                        <a:t>8,091 m</a:t>
                      </a:r>
                    </a:p>
                  </a:txBody>
                  <a:tcPr anchor="ctr" marL="109728" marR="109728" marT="54864" marB="54864">
                    <a:solidFill>
                      <a:srgbClr val="EBF2F7"/>
                    </a:solidFill>
                  </a:tcPr>
                </a:tc>
                <a:tc>
                  <a:txBody>
                    <a:bodyPr/>
                    <a:lstStyle/>
                    <a:p>
                      <a:pPr algn="l"/>
                      <a:r>
                        <a:rPr sz="1100" b="0">
                          <a:solidFill>
                            <a:srgbClr val="121C24"/>
                          </a:solidFill>
                          <a:latin typeface="Arial"/>
                        </a:rPr>
                        <a:t>Annapurna / Nepal</a:t>
                      </a:r>
                    </a:p>
                  </a:txBody>
                  <a:tcPr anchor="ctr" marL="109728" marR="109728" marT="54864" marB="54864">
                    <a:solidFill>
                      <a:srgbClr val="EBF2F7"/>
                    </a:solidFill>
                  </a:tcPr>
                </a:tc>
                <a:tc>
                  <a:txBody>
                    <a:bodyPr/>
                    <a:lstStyle/>
                    <a:p>
                      <a:pPr algn="l"/>
                      <a:r>
                        <a:rPr sz="1100" b="0">
                          <a:solidFill>
                            <a:srgbClr val="121C24"/>
                          </a:solidFill>
                          <a:latin typeface="Arial"/>
                        </a:rPr>
                        <a:t>1950 (Herzog &amp; Lachenal) — First 8,000 m peak summited; prone to massive avalanches</a:t>
                      </a:r>
                    </a:p>
                  </a:txBody>
                  <a:tcPr anchor="ctr" marL="109728" marR="109728" marT="54864" marB="54864">
                    <a:solidFill>
                      <a:srgbClr val="EBF2F7"/>
                    </a:solidFill>
                  </a:tcPr>
                </a:tc>
              </a:tr>
            </a:tbl>
          </a:graphicData>
        </a:graphic>
      </p:graphicFrame>
      <p:sp>
        <p:nvSpPr>
          <p:cNvPr id="6" name="Rectangle 5"/>
          <p:cNvSpPr/>
          <p:nvPr/>
        </p:nvSpPr>
        <p:spPr>
          <a:xfrm>
            <a:off x="731520" y="6400800"/>
            <a:ext cx="10728655"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73952"/>
            <a:ext cx="7772400" cy="256032"/>
          </a:xfrm>
          <a:prstGeom prst="rect">
            <a:avLst/>
          </a:prstGeom>
          <a:noFill/>
        </p:spPr>
        <p:txBody>
          <a:bodyPr wrap="square" anchor="t" lIns="0" rIns="0" tIns="0" bIns="0">
            <a:noAutofit/>
          </a:bodyPr>
          <a:lstStyle/>
          <a:p>
            <a:pPr algn="l">
              <a:lnSpc>
                <a:spcPct val="105000"/>
              </a:lnSpc>
              <a:spcAft>
                <a:spcPts val="0"/>
              </a:spcAft>
            </a:pPr>
            <a:r>
              <a:rPr sz="850" b="0" i="0">
                <a:solidFill>
                  <a:srgbClr val="5C6E7E"/>
                </a:solidFill>
                <a:latin typeface="Arial"/>
              </a:rPr>
              <a:t>The Roof of the World: Geology, Ecology, and the Planetary Majesty of the Himalayas</a:t>
            </a:r>
          </a:p>
        </p:txBody>
      </p:sp>
      <p:sp>
        <p:nvSpPr>
          <p:cNvPr id="8" name="TextBox 7"/>
          <p:cNvSpPr txBox="1"/>
          <p:nvPr/>
        </p:nvSpPr>
        <p:spPr>
          <a:xfrm>
            <a:off x="9631375" y="6473952"/>
            <a:ext cx="1828800" cy="256032"/>
          </a:xfrm>
          <a:prstGeom prst="rect">
            <a:avLst/>
          </a:prstGeom>
          <a:noFill/>
        </p:spPr>
        <p:txBody>
          <a:bodyPr wrap="square" anchor="t" lIns="0" rIns="0" tIns="0" bIns="0">
            <a:noAutofit/>
          </a:bodyPr>
          <a:lstStyle/>
          <a:p>
            <a:pPr algn="r">
              <a:lnSpc>
                <a:spcPct val="105000"/>
              </a:lnSpc>
              <a:spcAft>
                <a:spcPts val="0"/>
              </a:spcAft>
            </a:pPr>
            <a:r>
              <a:rPr sz="850" b="1" i="0">
                <a:solidFill>
                  <a:srgbClr val="5C6E7E"/>
                </a:solidFill>
                <a:latin typeface="Arial"/>
              </a:rPr>
              <a:t>08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731520" y="438912"/>
            <a:ext cx="10728655" cy="237744"/>
          </a:xfrm>
          <a:prstGeom prst="rect">
            <a:avLst/>
          </a:prstGeom>
          <a:noFill/>
        </p:spPr>
        <p:txBody>
          <a:bodyPr wrap="square" anchor="t" lIns="0" rIns="0" tIns="0" bIns="0">
            <a:noAutofit/>
          </a:bodyPr>
          <a:lstStyle/>
          <a:p>
            <a:pPr algn="l">
              <a:lnSpc>
                <a:spcPct val="105000"/>
              </a:lnSpc>
              <a:spcAft>
                <a:spcPts val="0"/>
              </a:spcAft>
            </a:pPr>
            <a:r>
              <a:rPr sz="1050" b="1" i="0">
                <a:solidFill>
                  <a:srgbClr val="C6922C"/>
                </a:solidFill>
                <a:latin typeface="Arial"/>
              </a:rPr>
              <a:t>CLIMATE FRONTLINE</a:t>
            </a:r>
          </a:p>
        </p:txBody>
      </p:sp>
      <p:sp>
        <p:nvSpPr>
          <p:cNvPr id="3" name="TextBox 2"/>
          <p:cNvSpPr txBox="1"/>
          <p:nvPr/>
        </p:nvSpPr>
        <p:spPr>
          <a:xfrm>
            <a:off x="731520" y="676656"/>
            <a:ext cx="10728655" cy="566928"/>
          </a:xfrm>
          <a:prstGeom prst="rect">
            <a:avLst/>
          </a:prstGeom>
          <a:noFill/>
        </p:spPr>
        <p:txBody>
          <a:bodyPr wrap="square" anchor="t" lIns="0" rIns="0" tIns="0" bIns="0">
            <a:noAutofit/>
          </a:bodyPr>
          <a:lstStyle/>
          <a:p>
            <a:pPr algn="l">
              <a:lnSpc>
                <a:spcPct val="105000"/>
              </a:lnSpc>
              <a:spcAft>
                <a:spcPts val="0"/>
              </a:spcAft>
            </a:pPr>
            <a:r>
              <a:rPr sz="2600" b="1" i="0">
                <a:solidFill>
                  <a:srgbClr val="0E1B26"/>
                </a:solidFill>
                <a:latin typeface="Georgia"/>
              </a:rPr>
              <a:t>The Third Pole in Crisis: Glacial Retreat and Rising Risks</a:t>
            </a:r>
          </a:p>
        </p:txBody>
      </p:sp>
      <p:sp>
        <p:nvSpPr>
          <p:cNvPr id="4" name="Rectangle 3"/>
          <p:cNvSpPr/>
          <p:nvPr/>
        </p:nvSpPr>
        <p:spPr>
          <a:xfrm>
            <a:off x="731520" y="1316736"/>
            <a:ext cx="10728655" cy="12801"/>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08760"/>
            <a:ext cx="4297679" cy="4754879"/>
          </a:xfrm>
          <a:prstGeom prst="roundRect">
            <a:avLst>
              <a:gd name="adj" fmla="val 3000"/>
            </a:avLst>
          </a:prstGeom>
          <a:solidFill>
            <a:srgbClr val="16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laciers.jpg"/>
          <p:cNvPicPr>
            <a:picLocks noChangeAspect="1"/>
          </p:cNvPicPr>
          <p:nvPr/>
        </p:nvPicPr>
        <p:blipFill>
          <a:blip r:embed="rId2"/>
          <a:stretch>
            <a:fillRect/>
          </a:stretch>
        </p:blipFill>
        <p:spPr>
          <a:xfrm>
            <a:off x="731520" y="1554480"/>
            <a:ext cx="4206240" cy="4663440"/>
          </a:xfrm>
          <a:prstGeom prst="rect">
            <a:avLst/>
          </a:prstGeom>
        </p:spPr>
      </p:pic>
      <p:sp>
        <p:nvSpPr>
          <p:cNvPr id="7" name="Rectangle 6"/>
          <p:cNvSpPr/>
          <p:nvPr/>
        </p:nvSpPr>
        <p:spPr>
          <a:xfrm>
            <a:off x="731520" y="5486400"/>
            <a:ext cx="4206240" cy="731520"/>
          </a:xfrm>
          <a:prstGeom prst="rect">
            <a:avLst/>
          </a:prstGeom>
          <a:solidFill>
            <a:srgbClr val="16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486400"/>
            <a:ext cx="4206240" cy="36576"/>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596128"/>
            <a:ext cx="3749039" cy="256032"/>
          </a:xfrm>
          <a:prstGeom prst="rect">
            <a:avLst/>
          </a:prstGeom>
          <a:noFill/>
        </p:spPr>
        <p:txBody>
          <a:bodyPr wrap="square" anchor="t" lIns="0" rIns="0" tIns="0" bIns="0">
            <a:noAutofit/>
          </a:bodyPr>
          <a:lstStyle/>
          <a:p>
            <a:pPr algn="l">
              <a:lnSpc>
                <a:spcPct val="105000"/>
              </a:lnSpc>
              <a:spcAft>
                <a:spcPts val="0"/>
              </a:spcAft>
            </a:pPr>
            <a:r>
              <a:rPr sz="950" b="1" i="0">
                <a:solidFill>
                  <a:srgbClr val="2EB5E5"/>
                </a:solidFill>
                <a:latin typeface="Arial"/>
              </a:rPr>
              <a:t>GLACIOLOGY &amp; RETREAT</a:t>
            </a:r>
          </a:p>
        </p:txBody>
      </p:sp>
      <p:sp>
        <p:nvSpPr>
          <p:cNvPr id="10" name="TextBox 9"/>
          <p:cNvSpPr txBox="1"/>
          <p:nvPr/>
        </p:nvSpPr>
        <p:spPr>
          <a:xfrm>
            <a:off x="960120" y="5833872"/>
            <a:ext cx="3749039" cy="320040"/>
          </a:xfrm>
          <a:prstGeom prst="rect">
            <a:avLst/>
          </a:prstGeom>
          <a:noFill/>
        </p:spPr>
        <p:txBody>
          <a:bodyPr wrap="square" anchor="t" lIns="0" rIns="0" tIns="0" bIns="0">
            <a:noAutofit/>
          </a:bodyPr>
          <a:lstStyle/>
          <a:p>
            <a:pPr algn="l">
              <a:lnSpc>
                <a:spcPct val="105000"/>
              </a:lnSpc>
              <a:spcAft>
                <a:spcPts val="0"/>
              </a:spcAft>
            </a:pPr>
            <a:r>
              <a:rPr sz="1100" b="0" i="0">
                <a:solidFill>
                  <a:srgbClr val="FFFFFF"/>
                </a:solidFill>
                <a:latin typeface="Georgia"/>
              </a:rPr>
              <a:t>Khumbu Glacier &amp; Supraglacial Lakes</a:t>
            </a:r>
          </a:p>
        </p:txBody>
      </p:sp>
      <p:sp>
        <p:nvSpPr>
          <p:cNvPr id="11" name="TextBox 10"/>
          <p:cNvSpPr txBox="1"/>
          <p:nvPr/>
        </p:nvSpPr>
        <p:spPr>
          <a:xfrm>
            <a:off x="5242255" y="1554480"/>
            <a:ext cx="6217920" cy="3383280"/>
          </a:xfrm>
          <a:prstGeom prst="rect">
            <a:avLst/>
          </a:prstGeom>
          <a:noFill/>
        </p:spPr>
        <p:txBody>
          <a:bodyPr wrap="square" anchor="t" lIns="0" rIns="0" tIns="0" bIns="0">
            <a:noAutofit/>
          </a:bodyPr>
          <a:lstStyle/>
          <a:p>
            <a:pPr algn="l">
              <a:lnSpc>
                <a:spcPct val="110000"/>
              </a:lnSpc>
              <a:spcAft>
                <a:spcPts val="1200"/>
              </a:spcAft>
            </a:pPr>
            <a:r>
              <a:rPr sz="1450" b="1">
                <a:solidFill>
                  <a:srgbClr val="2EB5E5"/>
                </a:solidFill>
                <a:latin typeface="Arial"/>
              </a:rPr>
              <a:t>▪  </a:t>
            </a:r>
            <a:r>
              <a:rPr sz="1450" b="1">
                <a:solidFill>
                  <a:srgbClr val="121C24"/>
                </a:solidFill>
                <a:latin typeface="Arial"/>
              </a:rPr>
              <a:t>Accelerated Ice Volume Loss: </a:t>
            </a:r>
            <a:r>
              <a:rPr sz="1450" b="0">
                <a:solidFill>
                  <a:srgbClr val="121C24"/>
                </a:solidFill>
                <a:latin typeface="Arial"/>
              </a:rPr>
              <a:t>ICIMOD scientific models warn that up to 75% to 80% of Himalayan glacier ice could melt by 2100 under current warming trajectories.</a:t>
            </a:r>
          </a:p>
          <a:p>
            <a:pPr algn="l">
              <a:lnSpc>
                <a:spcPct val="110000"/>
              </a:lnSpc>
              <a:spcAft>
                <a:spcPts val="1200"/>
              </a:spcAft>
            </a:pPr>
            <a:r>
              <a:rPr sz="1450" b="1">
                <a:solidFill>
                  <a:srgbClr val="2EB5E5"/>
                </a:solidFill>
                <a:latin typeface="Arial"/>
              </a:rPr>
              <a:t>▪  </a:t>
            </a:r>
            <a:r>
              <a:rPr sz="1450" b="1">
                <a:solidFill>
                  <a:srgbClr val="121C24"/>
                </a:solidFill>
                <a:latin typeface="Arial"/>
              </a:rPr>
              <a:t>Glacial Lake Outbursts (GLOFs): </a:t>
            </a:r>
            <a:r>
              <a:rPr sz="1450" b="0">
                <a:solidFill>
                  <a:srgbClr val="121C24"/>
                </a:solidFill>
                <a:latin typeface="Arial"/>
              </a:rPr>
              <a:t>Rapidly melting glaciers form thousands of unstable moraine-dammed lakes, creating catastrophic flood hazards for downstream valleys.</a:t>
            </a:r>
          </a:p>
          <a:p>
            <a:pPr algn="l">
              <a:lnSpc>
                <a:spcPct val="110000"/>
              </a:lnSpc>
              <a:spcAft>
                <a:spcPts val="1200"/>
              </a:spcAft>
            </a:pPr>
            <a:r>
              <a:rPr sz="1450" b="1">
                <a:solidFill>
                  <a:srgbClr val="2EB5E5"/>
                </a:solidFill>
                <a:latin typeface="Arial"/>
              </a:rPr>
              <a:t>▪  </a:t>
            </a:r>
            <a:r>
              <a:rPr sz="1450" b="1">
                <a:solidFill>
                  <a:srgbClr val="121C24"/>
                </a:solidFill>
                <a:latin typeface="Arial"/>
              </a:rPr>
              <a:t>Shifting Seasonal Water Cycles: </a:t>
            </a:r>
            <a:r>
              <a:rPr sz="1450" b="0">
                <a:solidFill>
                  <a:srgbClr val="121C24"/>
                </a:solidFill>
                <a:latin typeface="Arial"/>
              </a:rPr>
              <a:t>Initial decades of increased flooding will be followed by severe long-term dry-season droughts across South Asian river basins.</a:t>
            </a:r>
          </a:p>
          <a:p>
            <a:pPr algn="l">
              <a:lnSpc>
                <a:spcPct val="110000"/>
              </a:lnSpc>
              <a:spcAft>
                <a:spcPts val="1200"/>
              </a:spcAft>
            </a:pPr>
            <a:r>
              <a:rPr sz="1450" b="1">
                <a:solidFill>
                  <a:srgbClr val="2EB5E5"/>
                </a:solidFill>
                <a:latin typeface="Arial"/>
              </a:rPr>
              <a:t>▪  </a:t>
            </a:r>
            <a:r>
              <a:rPr sz="1450" b="1">
                <a:solidFill>
                  <a:srgbClr val="121C24"/>
                </a:solidFill>
                <a:latin typeface="Arial"/>
              </a:rPr>
              <a:t>Global Albedo Feedback: </a:t>
            </a:r>
            <a:r>
              <a:rPr sz="1450" b="0">
                <a:solidFill>
                  <a:srgbClr val="121C24"/>
                </a:solidFill>
                <a:latin typeface="Arial"/>
              </a:rPr>
              <a:t>Diminishing high-altitude snowpack reduces solar reflection, accelerating localized warming across the Tibetan Plateau.</a:t>
            </a:r>
          </a:p>
        </p:txBody>
      </p:sp>
      <p:sp>
        <p:nvSpPr>
          <p:cNvPr id="12" name="Rounded Rectangle 11"/>
          <p:cNvSpPr/>
          <p:nvPr/>
        </p:nvSpPr>
        <p:spPr>
          <a:xfrm>
            <a:off x="5242255" y="5074920"/>
            <a:ext cx="6217920" cy="1143000"/>
          </a:xfrm>
          <a:prstGeom prst="roundRect">
            <a:avLst>
              <a:gd name="adj" fmla="val 4000"/>
            </a:avLst>
          </a:prstGeom>
          <a:solidFill>
            <a:srgbClr val="16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42255" y="5074920"/>
            <a:ext cx="91440" cy="1143000"/>
          </a:xfrm>
          <a:prstGeom prst="rect">
            <a:avLst/>
          </a:prstGeom>
          <a:solidFill>
            <a:srgbClr val="E67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98287" y="5202936"/>
            <a:ext cx="5760720" cy="594360"/>
          </a:xfrm>
          <a:prstGeom prst="rect">
            <a:avLst/>
          </a:prstGeom>
          <a:noFill/>
        </p:spPr>
        <p:txBody>
          <a:bodyPr wrap="square" anchor="t" lIns="0" rIns="0" tIns="0" bIns="0">
            <a:noAutofit/>
          </a:bodyPr>
          <a:lstStyle/>
          <a:p>
            <a:pPr algn="l">
              <a:lnSpc>
                <a:spcPct val="105000"/>
              </a:lnSpc>
              <a:spcAft>
                <a:spcPts val="0"/>
              </a:spcAft>
            </a:pPr>
            <a:r>
              <a:rPr sz="1400" b="1" i="0">
                <a:solidFill>
                  <a:srgbClr val="F2D88C"/>
                </a:solidFill>
                <a:latin typeface="Georgia"/>
              </a:rPr>
              <a:t>Up to 80% Loss</a:t>
            </a:r>
          </a:p>
        </p:txBody>
      </p:sp>
      <p:sp>
        <p:nvSpPr>
          <p:cNvPr id="15" name="Rectangle 14"/>
          <p:cNvSpPr/>
          <p:nvPr/>
        </p:nvSpPr>
        <p:spPr>
          <a:xfrm>
            <a:off x="5498287" y="5824728"/>
            <a:ext cx="5705856" cy="10972"/>
          </a:xfrm>
          <a:prstGeom prst="rect">
            <a:avLst/>
          </a:prstGeom>
          <a:solidFill>
            <a:srgbClr val="E67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98287" y="5879592"/>
            <a:ext cx="5705856" cy="411480"/>
          </a:xfrm>
          <a:prstGeom prst="rect">
            <a:avLst/>
          </a:prstGeom>
          <a:noFill/>
        </p:spPr>
        <p:txBody>
          <a:bodyPr wrap="square" anchor="t" lIns="0" rIns="0" tIns="0" bIns="0">
            <a:noAutofit/>
          </a:bodyPr>
          <a:lstStyle/>
          <a:p>
            <a:pPr algn="l">
              <a:lnSpc>
                <a:spcPct val="104000"/>
              </a:lnSpc>
              <a:spcAft>
                <a:spcPts val="0"/>
              </a:spcAft>
            </a:pPr>
            <a:r>
              <a:rPr sz="950" b="0" i="0">
                <a:solidFill>
                  <a:srgbClr val="E4EFF7"/>
                </a:solidFill>
                <a:latin typeface="Arial"/>
              </a:rPr>
              <a:t>Projected glacier volume loss by 2100 without aggressive global climate action</a:t>
            </a:r>
          </a:p>
        </p:txBody>
      </p:sp>
      <p:sp>
        <p:nvSpPr>
          <p:cNvPr id="17" name="Rectangle 16"/>
          <p:cNvSpPr/>
          <p:nvPr/>
        </p:nvSpPr>
        <p:spPr>
          <a:xfrm>
            <a:off x="731520" y="6400800"/>
            <a:ext cx="10728655"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73952"/>
            <a:ext cx="7772400" cy="256032"/>
          </a:xfrm>
          <a:prstGeom prst="rect">
            <a:avLst/>
          </a:prstGeom>
          <a:noFill/>
        </p:spPr>
        <p:txBody>
          <a:bodyPr wrap="square" anchor="t" lIns="0" rIns="0" tIns="0" bIns="0">
            <a:noAutofit/>
          </a:bodyPr>
          <a:lstStyle/>
          <a:p>
            <a:pPr algn="l">
              <a:lnSpc>
                <a:spcPct val="105000"/>
              </a:lnSpc>
              <a:spcAft>
                <a:spcPts val="0"/>
              </a:spcAft>
            </a:pPr>
            <a:r>
              <a:rPr sz="850" b="0" i="0">
                <a:solidFill>
                  <a:srgbClr val="5C6E7E"/>
                </a:solidFill>
                <a:latin typeface="Arial"/>
              </a:rPr>
              <a:t>The Roof of the World: Geology, Ecology, and the Planetary Majesty of the Himalayas</a:t>
            </a:r>
          </a:p>
        </p:txBody>
      </p:sp>
      <p:sp>
        <p:nvSpPr>
          <p:cNvPr id="19" name="TextBox 18"/>
          <p:cNvSpPr txBox="1"/>
          <p:nvPr/>
        </p:nvSpPr>
        <p:spPr>
          <a:xfrm>
            <a:off x="9631375" y="6473952"/>
            <a:ext cx="1828800" cy="256032"/>
          </a:xfrm>
          <a:prstGeom prst="rect">
            <a:avLst/>
          </a:prstGeom>
          <a:noFill/>
        </p:spPr>
        <p:txBody>
          <a:bodyPr wrap="square" anchor="t" lIns="0" rIns="0" tIns="0" bIns="0">
            <a:noAutofit/>
          </a:bodyPr>
          <a:lstStyle/>
          <a:p>
            <a:pPr algn="r">
              <a:lnSpc>
                <a:spcPct val="105000"/>
              </a:lnSpc>
              <a:spcAft>
                <a:spcPts val="0"/>
              </a:spcAft>
            </a:pPr>
            <a:r>
              <a:rPr sz="850" b="1" i="0">
                <a:solidFill>
                  <a:srgbClr val="5C6E7E"/>
                </a:solidFill>
                <a:latin typeface="Arial"/>
              </a:rPr>
              <a:t>09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731520" y="438912"/>
            <a:ext cx="10728655" cy="237744"/>
          </a:xfrm>
          <a:prstGeom prst="rect">
            <a:avLst/>
          </a:prstGeom>
          <a:noFill/>
        </p:spPr>
        <p:txBody>
          <a:bodyPr wrap="square" anchor="t" lIns="0" rIns="0" tIns="0" bIns="0">
            <a:noAutofit/>
          </a:bodyPr>
          <a:lstStyle/>
          <a:p>
            <a:pPr algn="l">
              <a:lnSpc>
                <a:spcPct val="105000"/>
              </a:lnSpc>
              <a:spcAft>
                <a:spcPts val="0"/>
              </a:spcAft>
            </a:pPr>
            <a:r>
              <a:rPr sz="1050" b="1" i="0">
                <a:solidFill>
                  <a:srgbClr val="C6922C"/>
                </a:solidFill>
                <a:latin typeface="Arial"/>
              </a:rPr>
              <a:t>ECOLOGY &amp; ADAPTATION</a:t>
            </a:r>
          </a:p>
        </p:txBody>
      </p:sp>
      <p:sp>
        <p:nvSpPr>
          <p:cNvPr id="3" name="TextBox 2"/>
          <p:cNvSpPr txBox="1"/>
          <p:nvPr/>
        </p:nvSpPr>
        <p:spPr>
          <a:xfrm>
            <a:off x="731520" y="676656"/>
            <a:ext cx="10728655" cy="566928"/>
          </a:xfrm>
          <a:prstGeom prst="rect">
            <a:avLst/>
          </a:prstGeom>
          <a:noFill/>
        </p:spPr>
        <p:txBody>
          <a:bodyPr wrap="square" anchor="t" lIns="0" rIns="0" tIns="0" bIns="0">
            <a:noAutofit/>
          </a:bodyPr>
          <a:lstStyle/>
          <a:p>
            <a:pPr algn="l">
              <a:lnSpc>
                <a:spcPct val="105000"/>
              </a:lnSpc>
              <a:spcAft>
                <a:spcPts val="0"/>
              </a:spcAft>
            </a:pPr>
            <a:r>
              <a:rPr sz="2600" b="1" i="0">
                <a:solidFill>
                  <a:srgbClr val="0E1B26"/>
                </a:solidFill>
                <a:latin typeface="Georgia"/>
              </a:rPr>
              <a:t>Extreme Ecology and the Resilience of High-Altitude Life</a:t>
            </a:r>
          </a:p>
        </p:txBody>
      </p:sp>
      <p:sp>
        <p:nvSpPr>
          <p:cNvPr id="4" name="Rectangle 3"/>
          <p:cNvSpPr/>
          <p:nvPr/>
        </p:nvSpPr>
        <p:spPr>
          <a:xfrm>
            <a:off x="731520" y="1316736"/>
            <a:ext cx="10728655" cy="12801"/>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193792" cy="2331720"/>
          </a:xfrm>
          <a:prstGeom prst="roundRect">
            <a:avLst>
              <a:gd name="adj" fmla="val 3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5193792" cy="91440"/>
          </a:xfrm>
          <a:prstGeom prst="rect">
            <a:avLst/>
          </a:prstGeom>
          <a:solidFill>
            <a:srgbClr val="E67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783080"/>
            <a:ext cx="1554480" cy="274320"/>
          </a:xfrm>
          <a:prstGeom prst="roundRect">
            <a:avLst>
              <a:gd name="adj" fmla="val 20000"/>
            </a:avLst>
          </a:prstGeom>
          <a:solidFill>
            <a:srgbClr val="EBF2F7"/>
          </a:solidFill>
          <a:ln w="9525">
            <a:solidFill>
              <a:srgbClr val="E673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19656"/>
            <a:ext cx="1554480" cy="228600"/>
          </a:xfrm>
          <a:prstGeom prst="rect">
            <a:avLst/>
          </a:prstGeom>
          <a:noFill/>
        </p:spPr>
        <p:txBody>
          <a:bodyPr wrap="square" anchor="t" lIns="0" rIns="0" tIns="0" bIns="0">
            <a:noAutofit/>
          </a:bodyPr>
          <a:lstStyle/>
          <a:p>
            <a:pPr algn="ctr">
              <a:lnSpc>
                <a:spcPct val="105000"/>
              </a:lnSpc>
              <a:spcAft>
                <a:spcPts val="0"/>
              </a:spcAft>
            </a:pPr>
            <a:r>
              <a:rPr sz="850" b="1" i="0">
                <a:solidFill>
                  <a:srgbClr val="E67328"/>
                </a:solidFill>
                <a:latin typeface="Arial"/>
              </a:rPr>
              <a:t>ECOLOGICAL JEWEL</a:t>
            </a:r>
          </a:p>
        </p:txBody>
      </p:sp>
      <p:sp>
        <p:nvSpPr>
          <p:cNvPr id="9" name="TextBox 8"/>
          <p:cNvSpPr txBox="1"/>
          <p:nvPr/>
        </p:nvSpPr>
        <p:spPr>
          <a:xfrm>
            <a:off x="1005840" y="2148840"/>
            <a:ext cx="4645152" cy="365760"/>
          </a:xfrm>
          <a:prstGeom prst="rect">
            <a:avLst/>
          </a:prstGeom>
          <a:noFill/>
        </p:spPr>
        <p:txBody>
          <a:bodyPr wrap="square" anchor="t" lIns="0" rIns="0" tIns="0" bIns="0">
            <a:noAutofit/>
          </a:bodyPr>
          <a:lstStyle/>
          <a:p>
            <a:pPr algn="l">
              <a:lnSpc>
                <a:spcPct val="105000"/>
              </a:lnSpc>
              <a:spcAft>
                <a:spcPts val="0"/>
              </a:spcAft>
            </a:pPr>
            <a:r>
              <a:rPr sz="1500" b="1" i="0">
                <a:solidFill>
                  <a:srgbClr val="0E1B26"/>
                </a:solidFill>
                <a:latin typeface="Georgia"/>
              </a:rPr>
              <a:t>Alpine Biodiversity Hotspot</a:t>
            </a:r>
          </a:p>
        </p:txBody>
      </p:sp>
      <p:sp>
        <p:nvSpPr>
          <p:cNvPr id="10" name="TextBox 9"/>
          <p:cNvSpPr txBox="1"/>
          <p:nvPr/>
        </p:nvSpPr>
        <p:spPr>
          <a:xfrm>
            <a:off x="1005840" y="2514600"/>
            <a:ext cx="4645152" cy="1234440"/>
          </a:xfrm>
          <a:prstGeom prst="rect">
            <a:avLst/>
          </a:prstGeom>
          <a:noFill/>
        </p:spPr>
        <p:txBody>
          <a:bodyPr wrap="square" anchor="t" lIns="0" rIns="0" tIns="0" bIns="0">
            <a:noAutofit/>
          </a:bodyPr>
          <a:lstStyle/>
          <a:p>
            <a:pPr algn="l">
              <a:lnSpc>
                <a:spcPct val="115000"/>
              </a:lnSpc>
              <a:spcAft>
                <a:spcPts val="0"/>
              </a:spcAft>
            </a:pPr>
            <a:r>
              <a:rPr sz="1100" b="0" i="0">
                <a:solidFill>
                  <a:srgbClr val="121C24"/>
                </a:solidFill>
                <a:latin typeface="Arial"/>
              </a:rPr>
              <a:t>Spanning five distinct bioclimatic zones, the range shelters endangered apex predators including the elusive Snow Leopard, Red Panda, and over 10,000 endemic alpine plant species.</a:t>
            </a:r>
          </a:p>
        </p:txBody>
      </p:sp>
      <p:sp>
        <p:nvSpPr>
          <p:cNvPr id="11" name="Rounded Rectangle 10"/>
          <p:cNvSpPr/>
          <p:nvPr/>
        </p:nvSpPr>
        <p:spPr>
          <a:xfrm>
            <a:off x="6266383" y="1554480"/>
            <a:ext cx="5193792" cy="2331720"/>
          </a:xfrm>
          <a:prstGeom prst="roundRect">
            <a:avLst>
              <a:gd name="adj" fmla="val 3000"/>
            </a:avLst>
          </a:prstGeom>
          <a:solidFill>
            <a:srgbClr val="FFFFFF"/>
          </a:solidFill>
          <a:ln w="12700">
            <a:solidFill>
              <a:srgbClr val="D0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6383" y="1554480"/>
            <a:ext cx="5193792" cy="91440"/>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40703" y="1783080"/>
            <a:ext cx="1691640" cy="274320"/>
          </a:xfrm>
          <a:prstGeom prst="roundRect">
            <a:avLst>
              <a:gd name="adj" fmla="val 20000"/>
            </a:avLst>
          </a:prstGeom>
          <a:solidFill>
            <a:srgbClr val="EBF2F7"/>
          </a:solidFill>
          <a:ln w="9525">
            <a:solidFill>
              <a:srgbClr val="2EB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0703" y="1819656"/>
            <a:ext cx="1691640" cy="228600"/>
          </a:xfrm>
          <a:prstGeom prst="rect">
            <a:avLst/>
          </a:prstGeom>
          <a:noFill/>
        </p:spPr>
        <p:txBody>
          <a:bodyPr wrap="square" anchor="t" lIns="0" rIns="0" tIns="0" bIns="0">
            <a:noAutofit/>
          </a:bodyPr>
          <a:lstStyle/>
          <a:p>
            <a:pPr algn="ctr">
              <a:lnSpc>
                <a:spcPct val="105000"/>
              </a:lnSpc>
              <a:spcAft>
                <a:spcPts val="0"/>
              </a:spcAft>
            </a:pPr>
            <a:r>
              <a:rPr sz="850" b="1" i="0">
                <a:solidFill>
                  <a:srgbClr val="2EB5E5"/>
                </a:solidFill>
                <a:latin typeface="Arial"/>
              </a:rPr>
              <a:t>GENETIC WONDER</a:t>
            </a:r>
          </a:p>
        </p:txBody>
      </p:sp>
      <p:sp>
        <p:nvSpPr>
          <p:cNvPr id="15" name="TextBox 14"/>
          <p:cNvSpPr txBox="1"/>
          <p:nvPr/>
        </p:nvSpPr>
        <p:spPr>
          <a:xfrm>
            <a:off x="6540703" y="2148840"/>
            <a:ext cx="4645152" cy="365760"/>
          </a:xfrm>
          <a:prstGeom prst="rect">
            <a:avLst/>
          </a:prstGeom>
          <a:noFill/>
        </p:spPr>
        <p:txBody>
          <a:bodyPr wrap="square" anchor="t" lIns="0" rIns="0" tIns="0" bIns="0">
            <a:noAutofit/>
          </a:bodyPr>
          <a:lstStyle/>
          <a:p>
            <a:pPr algn="l">
              <a:lnSpc>
                <a:spcPct val="105000"/>
              </a:lnSpc>
              <a:spcAft>
                <a:spcPts val="0"/>
              </a:spcAft>
            </a:pPr>
            <a:r>
              <a:rPr sz="1500" b="1" i="0">
                <a:solidFill>
                  <a:srgbClr val="0E1B26"/>
                </a:solidFill>
                <a:latin typeface="Georgia"/>
              </a:rPr>
              <a:t>Human Genetic Adaptation</a:t>
            </a:r>
          </a:p>
        </p:txBody>
      </p:sp>
      <p:sp>
        <p:nvSpPr>
          <p:cNvPr id="16" name="TextBox 15"/>
          <p:cNvSpPr txBox="1"/>
          <p:nvPr/>
        </p:nvSpPr>
        <p:spPr>
          <a:xfrm>
            <a:off x="6540703" y="2514600"/>
            <a:ext cx="4645152" cy="1234440"/>
          </a:xfrm>
          <a:prstGeom prst="rect">
            <a:avLst/>
          </a:prstGeom>
          <a:noFill/>
        </p:spPr>
        <p:txBody>
          <a:bodyPr wrap="square" anchor="t" lIns="0" rIns="0" tIns="0" bIns="0">
            <a:noAutofit/>
          </a:bodyPr>
          <a:lstStyle/>
          <a:p>
            <a:pPr algn="l">
              <a:lnSpc>
                <a:spcPct val="115000"/>
              </a:lnSpc>
              <a:spcAft>
                <a:spcPts val="0"/>
              </a:spcAft>
            </a:pPr>
            <a:r>
              <a:rPr sz="1100" b="0" i="0">
                <a:solidFill>
                  <a:srgbClr val="121C24"/>
                </a:solidFill>
                <a:latin typeface="Arial"/>
              </a:rPr>
              <a:t>Centuries of high-altitude life have selected the unique EPAS1 gene variant in Sherpa and Tibetan populations, enabling optimal cellular oxygenation without dangerous blood thickening.</a:t>
            </a:r>
          </a:p>
        </p:txBody>
      </p:sp>
      <p:sp>
        <p:nvSpPr>
          <p:cNvPr id="17" name="Rounded Rectangle 16"/>
          <p:cNvSpPr/>
          <p:nvPr/>
        </p:nvSpPr>
        <p:spPr>
          <a:xfrm>
            <a:off x="731520" y="4069080"/>
            <a:ext cx="10728655" cy="2148840"/>
          </a:xfrm>
          <a:prstGeom prst="roundRect">
            <a:avLst>
              <a:gd name="adj" fmla="val 3000"/>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069080"/>
            <a:ext cx="109728" cy="2148840"/>
          </a:xfrm>
          <a:prstGeom prst="rect">
            <a:avLst/>
          </a:prstGeom>
          <a:solidFill>
            <a:srgbClr val="C69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97280" y="4297680"/>
            <a:ext cx="1737360" cy="292608"/>
          </a:xfrm>
          <a:prstGeom prst="roundRect">
            <a:avLst>
              <a:gd name="adj" fmla="val 20000"/>
            </a:avLst>
          </a:prstGeom>
          <a:solidFill>
            <a:srgbClr val="162838"/>
          </a:solidFill>
          <a:ln w="9525">
            <a:solidFill>
              <a:srgbClr val="C692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343400"/>
            <a:ext cx="1737360" cy="228600"/>
          </a:xfrm>
          <a:prstGeom prst="rect">
            <a:avLst/>
          </a:prstGeom>
          <a:noFill/>
        </p:spPr>
        <p:txBody>
          <a:bodyPr wrap="square" anchor="t" lIns="0" rIns="0" tIns="0" bIns="0">
            <a:noAutofit/>
          </a:bodyPr>
          <a:lstStyle/>
          <a:p>
            <a:pPr algn="ctr">
              <a:lnSpc>
                <a:spcPct val="105000"/>
              </a:lnSpc>
              <a:spcAft>
                <a:spcPts val="0"/>
              </a:spcAft>
            </a:pPr>
            <a:r>
              <a:rPr sz="850" b="1" i="0">
                <a:solidFill>
                  <a:srgbClr val="F2D88C"/>
                </a:solidFill>
                <a:latin typeface="Arial"/>
              </a:rPr>
              <a:t>PLANETARY DUTY</a:t>
            </a:r>
          </a:p>
        </p:txBody>
      </p:sp>
      <p:sp>
        <p:nvSpPr>
          <p:cNvPr id="21" name="TextBox 20"/>
          <p:cNvSpPr txBox="1"/>
          <p:nvPr/>
        </p:nvSpPr>
        <p:spPr>
          <a:xfrm>
            <a:off x="1097280" y="4690872"/>
            <a:ext cx="9997135" cy="384048"/>
          </a:xfrm>
          <a:prstGeom prst="rect">
            <a:avLst/>
          </a:prstGeom>
          <a:noFill/>
        </p:spPr>
        <p:txBody>
          <a:bodyPr wrap="square" anchor="t" lIns="0" rIns="0" tIns="0" bIns="0">
            <a:noAutofit/>
          </a:bodyPr>
          <a:lstStyle/>
          <a:p>
            <a:pPr algn="l">
              <a:lnSpc>
                <a:spcPct val="105000"/>
              </a:lnSpc>
              <a:spcAft>
                <a:spcPts val="0"/>
              </a:spcAft>
            </a:pPr>
            <a:r>
              <a:rPr sz="1600" b="1" i="0">
                <a:solidFill>
                  <a:srgbClr val="FFFFFF"/>
                </a:solidFill>
                <a:latin typeface="Georgia"/>
              </a:rPr>
              <a:t>Planetary Guardianship</a:t>
            </a:r>
          </a:p>
        </p:txBody>
      </p:sp>
      <p:sp>
        <p:nvSpPr>
          <p:cNvPr id="22" name="TextBox 21"/>
          <p:cNvSpPr txBox="1"/>
          <p:nvPr/>
        </p:nvSpPr>
        <p:spPr>
          <a:xfrm>
            <a:off x="1097280" y="5074920"/>
            <a:ext cx="9997135" cy="274320"/>
          </a:xfrm>
          <a:prstGeom prst="rect">
            <a:avLst/>
          </a:prstGeom>
          <a:noFill/>
        </p:spPr>
        <p:txBody>
          <a:bodyPr wrap="square" anchor="t" lIns="0" rIns="0" tIns="0" bIns="0">
            <a:noAutofit/>
          </a:bodyPr>
          <a:lstStyle/>
          <a:p>
            <a:pPr algn="l">
              <a:lnSpc>
                <a:spcPct val="105000"/>
              </a:lnSpc>
              <a:spcAft>
                <a:spcPts val="0"/>
              </a:spcAft>
            </a:pPr>
            <a:r>
              <a:rPr sz="1200" b="1" i="0">
                <a:solidFill>
                  <a:srgbClr val="2EB5E5"/>
                </a:solidFill>
                <a:latin typeface="Arial"/>
              </a:rPr>
              <a:t>A Global Ecological Imperative</a:t>
            </a:r>
          </a:p>
        </p:txBody>
      </p:sp>
      <p:sp>
        <p:nvSpPr>
          <p:cNvPr id="23" name="TextBox 22"/>
          <p:cNvSpPr txBox="1"/>
          <p:nvPr/>
        </p:nvSpPr>
        <p:spPr>
          <a:xfrm>
            <a:off x="1097280" y="5394960"/>
            <a:ext cx="9997135" cy="685800"/>
          </a:xfrm>
          <a:prstGeom prst="rect">
            <a:avLst/>
          </a:prstGeom>
          <a:noFill/>
        </p:spPr>
        <p:txBody>
          <a:bodyPr wrap="square" anchor="t" lIns="0" rIns="0" tIns="0" bIns="0">
            <a:noAutofit/>
          </a:bodyPr>
          <a:lstStyle/>
          <a:p>
            <a:pPr algn="l">
              <a:lnSpc>
                <a:spcPct val="115000"/>
              </a:lnSpc>
              <a:spcAft>
                <a:spcPts val="0"/>
              </a:spcAft>
            </a:pPr>
            <a:r>
              <a:rPr sz="1150" b="0" i="0">
                <a:solidFill>
                  <a:srgbClr val="E4EFF7"/>
                </a:solidFill>
                <a:latin typeface="Arial"/>
              </a:rPr>
              <a:t>Protecting the Himalayan ecosystem requires cross-border scientific cooperation, sustainable tourism governance, and aggressive global carbon reduction to safeguard water for nearly two billion people.</a:t>
            </a:r>
          </a:p>
        </p:txBody>
      </p:sp>
      <p:sp>
        <p:nvSpPr>
          <p:cNvPr id="24" name="Rectangle 23"/>
          <p:cNvSpPr/>
          <p:nvPr/>
        </p:nvSpPr>
        <p:spPr>
          <a:xfrm>
            <a:off x="731520" y="6400800"/>
            <a:ext cx="10728655" cy="10972"/>
          </a:xfrm>
          <a:prstGeom prst="rect">
            <a:avLst/>
          </a:prstGeom>
          <a:solidFill>
            <a:srgbClr val="D0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6473952"/>
            <a:ext cx="7772400" cy="256032"/>
          </a:xfrm>
          <a:prstGeom prst="rect">
            <a:avLst/>
          </a:prstGeom>
          <a:noFill/>
        </p:spPr>
        <p:txBody>
          <a:bodyPr wrap="square" anchor="t" lIns="0" rIns="0" tIns="0" bIns="0">
            <a:noAutofit/>
          </a:bodyPr>
          <a:lstStyle/>
          <a:p>
            <a:pPr algn="l">
              <a:lnSpc>
                <a:spcPct val="105000"/>
              </a:lnSpc>
              <a:spcAft>
                <a:spcPts val="0"/>
              </a:spcAft>
            </a:pPr>
            <a:r>
              <a:rPr sz="850" b="0" i="0">
                <a:solidFill>
                  <a:srgbClr val="5C6E7E"/>
                </a:solidFill>
                <a:latin typeface="Arial"/>
              </a:rPr>
              <a:t>The Roof of the World: Geology, Ecology, and the Planetary Majesty of the Himalayas</a:t>
            </a:r>
          </a:p>
        </p:txBody>
      </p:sp>
      <p:sp>
        <p:nvSpPr>
          <p:cNvPr id="26" name="TextBox 25"/>
          <p:cNvSpPr txBox="1"/>
          <p:nvPr/>
        </p:nvSpPr>
        <p:spPr>
          <a:xfrm>
            <a:off x="9631375" y="6473952"/>
            <a:ext cx="1828800" cy="256032"/>
          </a:xfrm>
          <a:prstGeom prst="rect">
            <a:avLst/>
          </a:prstGeom>
          <a:noFill/>
        </p:spPr>
        <p:txBody>
          <a:bodyPr wrap="square" anchor="t" lIns="0" rIns="0" tIns="0" bIns="0">
            <a:noAutofit/>
          </a:bodyPr>
          <a:lstStyle/>
          <a:p>
            <a:pPr algn="r">
              <a:lnSpc>
                <a:spcPct val="105000"/>
              </a:lnSpc>
              <a:spcAft>
                <a:spcPts val="0"/>
              </a:spcAft>
            </a:pPr>
            <a:r>
              <a:rPr sz="850" b="1" i="0">
                <a:solidFill>
                  <a:srgbClr val="5C6E7E"/>
                </a:solidFill>
                <a:latin typeface="Arial"/>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62838"/>
        </a:solidFill>
        <a:effectLst/>
      </p:bgPr>
    </p:bg>
    <p:spTree>
      <p:nvGrpSpPr>
        <p:cNvPr id="1" name=""/>
        <p:cNvGrpSpPr/>
        <p:nvPr/>
      </p:nvGrpSpPr>
      <p:grpSpPr/>
      <p:pic>
        <p:nvPicPr>
          <p:cNvPr id="2" name="Picture 1" descr="closing.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6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05840"/>
            <a:ext cx="10362895" cy="4846320"/>
          </a:xfrm>
          <a:prstGeom prst="roundRect">
            <a:avLst>
              <a:gd name="adj" fmla="val 3000"/>
            </a:avLst>
          </a:prstGeom>
          <a:solidFill>
            <a:srgbClr val="0E1B26"/>
          </a:solidFill>
          <a:ln w="19050">
            <a:solidFill>
              <a:srgbClr val="C692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05840"/>
            <a:ext cx="10362895" cy="109728"/>
          </a:xfrm>
          <a:prstGeom prst="rect">
            <a:avLst/>
          </a:prstGeom>
          <a:solidFill>
            <a:srgbClr val="C69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63040" y="1508760"/>
            <a:ext cx="2377440" cy="329184"/>
          </a:xfrm>
          <a:prstGeom prst="roundRect">
            <a:avLst>
              <a:gd name="adj" fmla="val 20000"/>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1545336"/>
            <a:ext cx="2377440" cy="329184"/>
          </a:xfrm>
          <a:prstGeom prst="rect">
            <a:avLst/>
          </a:prstGeom>
          <a:noFill/>
        </p:spPr>
        <p:txBody>
          <a:bodyPr wrap="square" anchor="t" lIns="0" rIns="0" tIns="0" bIns="0">
            <a:noAutofit/>
          </a:bodyPr>
          <a:lstStyle/>
          <a:p>
            <a:pPr algn="ctr">
              <a:lnSpc>
                <a:spcPct val="105000"/>
              </a:lnSpc>
              <a:spcAft>
                <a:spcPts val="0"/>
              </a:spcAft>
            </a:pPr>
            <a:r>
              <a:rPr sz="950" b="1" i="0">
                <a:solidFill>
                  <a:srgbClr val="0E1B26"/>
                </a:solidFill>
                <a:latin typeface="Arial"/>
              </a:rPr>
              <a:t>THE TIMELESS SENTINEL</a:t>
            </a:r>
          </a:p>
        </p:txBody>
      </p:sp>
      <p:sp>
        <p:nvSpPr>
          <p:cNvPr id="8" name="TextBox 7"/>
          <p:cNvSpPr txBox="1"/>
          <p:nvPr/>
        </p:nvSpPr>
        <p:spPr>
          <a:xfrm>
            <a:off x="1463040" y="2057400"/>
            <a:ext cx="9265615" cy="1051560"/>
          </a:xfrm>
          <a:prstGeom prst="rect">
            <a:avLst/>
          </a:prstGeom>
          <a:noFill/>
        </p:spPr>
        <p:txBody>
          <a:bodyPr wrap="square" anchor="t" lIns="0" rIns="0" tIns="0" bIns="0">
            <a:noAutofit/>
          </a:bodyPr>
          <a:lstStyle/>
          <a:p>
            <a:pPr algn="l">
              <a:lnSpc>
                <a:spcPct val="105000"/>
              </a:lnSpc>
              <a:spcAft>
                <a:spcPts val="0"/>
              </a:spcAft>
            </a:pPr>
            <a:r>
              <a:rPr sz="4800" b="1" i="0">
                <a:solidFill>
                  <a:srgbClr val="FFFFFF"/>
                </a:solidFill>
                <a:latin typeface="Georgia"/>
              </a:rPr>
              <a:t>The Eternal Spine of Asia</a:t>
            </a:r>
          </a:p>
        </p:txBody>
      </p:sp>
      <p:sp>
        <p:nvSpPr>
          <p:cNvPr id="9" name="TextBox 8"/>
          <p:cNvSpPr txBox="1"/>
          <p:nvPr/>
        </p:nvSpPr>
        <p:spPr>
          <a:xfrm>
            <a:off x="1463040" y="3200400"/>
            <a:ext cx="9265615" cy="777240"/>
          </a:xfrm>
          <a:prstGeom prst="rect">
            <a:avLst/>
          </a:prstGeom>
          <a:noFill/>
        </p:spPr>
        <p:txBody>
          <a:bodyPr wrap="square" anchor="t" lIns="0" rIns="0" tIns="0" bIns="0">
            <a:noAutofit/>
          </a:bodyPr>
          <a:lstStyle/>
          <a:p>
            <a:pPr algn="l">
              <a:lnSpc>
                <a:spcPct val="115000"/>
              </a:lnSpc>
              <a:spcAft>
                <a:spcPts val="0"/>
              </a:spcAft>
            </a:pPr>
            <a:r>
              <a:rPr sz="1850" b="0" i="0">
                <a:solidFill>
                  <a:srgbClr val="F2D88C"/>
                </a:solidFill>
                <a:latin typeface="Arial"/>
              </a:rPr>
              <a:t>A Monument of Earth's Past, the Lifeline of Its Present, and the Crucible of Its Future</a:t>
            </a:r>
          </a:p>
        </p:txBody>
      </p:sp>
      <p:sp>
        <p:nvSpPr>
          <p:cNvPr id="10" name="Rounded Rectangle 9"/>
          <p:cNvSpPr/>
          <p:nvPr/>
        </p:nvSpPr>
        <p:spPr>
          <a:xfrm>
            <a:off x="1463040" y="4160520"/>
            <a:ext cx="9265615" cy="1280160"/>
          </a:xfrm>
          <a:prstGeom prst="roundRect">
            <a:avLst>
              <a:gd name="adj" fmla="val 4000"/>
            </a:avLst>
          </a:prstGeom>
          <a:solidFill>
            <a:srgbClr val="162838"/>
          </a:solidFill>
          <a:ln w="9525">
            <a:solidFill>
              <a:srgbClr val="2EB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63040" y="4160520"/>
            <a:ext cx="91440" cy="1280160"/>
          </a:xfrm>
          <a:prstGeom prst="rect">
            <a:avLst/>
          </a:prstGeom>
          <a:solidFill>
            <a:srgbClr val="2EB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4297680"/>
            <a:ext cx="8716975" cy="365760"/>
          </a:xfrm>
          <a:prstGeom prst="rect">
            <a:avLst/>
          </a:prstGeom>
          <a:noFill/>
        </p:spPr>
        <p:txBody>
          <a:bodyPr wrap="square" anchor="t" lIns="0" rIns="0" tIns="0" bIns="0">
            <a:noAutofit/>
          </a:bodyPr>
          <a:lstStyle/>
          <a:p>
            <a:pPr algn="l">
              <a:lnSpc>
                <a:spcPct val="105000"/>
              </a:lnSpc>
              <a:spcAft>
                <a:spcPts val="0"/>
              </a:spcAft>
            </a:pPr>
            <a:r>
              <a:rPr sz="1500" b="1" i="0">
                <a:solidFill>
                  <a:srgbClr val="2EB5E5"/>
                </a:solidFill>
                <a:latin typeface="Georgia"/>
              </a:rPr>
              <a:t>The Living Giant</a:t>
            </a:r>
          </a:p>
        </p:txBody>
      </p:sp>
      <p:sp>
        <p:nvSpPr>
          <p:cNvPr id="13" name="TextBox 12"/>
          <p:cNvSpPr txBox="1"/>
          <p:nvPr/>
        </p:nvSpPr>
        <p:spPr>
          <a:xfrm>
            <a:off x="1737360" y="4709160"/>
            <a:ext cx="8716975" cy="594360"/>
          </a:xfrm>
          <a:prstGeom prst="rect">
            <a:avLst/>
          </a:prstGeom>
          <a:noFill/>
        </p:spPr>
        <p:txBody>
          <a:bodyPr wrap="square" anchor="t" lIns="0" rIns="0" tIns="0" bIns="0">
            <a:noAutofit/>
          </a:bodyPr>
          <a:lstStyle/>
          <a:p>
            <a:pPr algn="l">
              <a:lnSpc>
                <a:spcPct val="112000"/>
              </a:lnSpc>
              <a:spcAft>
                <a:spcPts val="0"/>
              </a:spcAft>
            </a:pPr>
            <a:r>
              <a:rPr sz="1150" b="0" i="0">
                <a:solidFill>
                  <a:srgbClr val="E4EFF7"/>
                </a:solidFill>
                <a:latin typeface="Arial"/>
              </a:rPr>
              <a:t>Standing 8,848 meters above the sea, the Himalayas remind humanity of the geological forces that shaped our world and the fragile climate that sustains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Roof of the World: Geology, Ecology, and the Planetary Majesty of the Himalayas</dc:title>
  <dc:subject>Geology, Ecology, and Planetary Majesty of the Himalayas</dc:subject>
  <dc:creator>PPTmaker Earth Science Studio</dc:creator>
  <cp:keywords>Himalayas, Mount Everest, Glaciers, Plate Tectonics, Third Pole, Geology, Asia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